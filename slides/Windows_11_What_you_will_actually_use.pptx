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students already use Windows, so skip "click Start to open Start." Tonight focuses on three things: what the textbook has out of date, the security and file habits that actually prevent lost work, and shortcuts that save time every week. Timing: about 35 to 45 minutes with demos. Have a Windows 11 PC on screen share throughout; almost every slide ends in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McGraw-Hill slides predate several Windows 11 updates. SimNet simulations may still show older screens, so tell students both names are the same feature. Extra changes to mention if asked: pinned apps on Start are icons, not tiles (tiles were Windows 10); Focus Assist became Do not disturb plus Focus sessions; slide 22 in the textbook deck is titled Windows 10 by mistake. In current builds, All apps is shown by scrolling down the Start menu rather than a button in the top right. DEMO: search Start for WordPad to show it is gone, then open Notepad.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practical point is that most students have Home, and Home still encrypts the drive on most modern hardware if they sign in with a Microsoft account. Worth mentioning: Windows 10 reached end of support in October 2025, so students still on Windows 10 no longer get free security updates. DEMO: Settings › System › About, show edition, version (for example 24H2 or 25H2), and device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assume a 4-digit PIN is weaker than a long password. Microsoft designed Windows Hello PINs to be tied to the device hardware, so the PIN is never sent to a server and is useless elsewhere. Face, fingerprint, and PIN together are called Windows Hello. DEMO: Settings › Accounts › Sign-in options; show PIN (Windows Hello) and the option to require sign-in after 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covers each separately; the confusing part is choosing. Emphasize Win + L as the habit to build. Mention that Restart, not Shut down, is what finishes most updates, and that closing a laptop lid usually means Sleep. DEMO: Win + L, sign back in with PIN; then show Start › Power menu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 first key, tap the second. Win means the Windows logo key. Point out the pattern: Win plus a letter opens a place in Windows. Correction to the chapter: Win + A is Quick Settings, and notifications moved to Win + N. DEMO: go around the grid quickly; ask students to try each one along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get the biggest reaction. Win + V: the first time, Windows asks to turn clipboard history on; pinned items survive restarts. Win + Shift + S: the screenshot goes to the clipboard, and a notification opens it in Snipping Tool for saving or marking up; great for sending an error message to the instructor. Win + period: accented letters are under the Symbols tab, useful for Spanish names. Ctrl + Shift + Esc: select the frozen app, End task. DEMO each one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 is the feature students most often use accidentally and then cannot undo. Keyboard version: Win + left or right arrow snaps to half the screen; Win + Z opens the layout picker. To un-snap, drag the title bar away from the edge. Practical use for this class: SimNet or the textbook on one side, the app on the other. DEMO: hover Maximize on Edge, pick the left half, choose File Explorer for the right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mentions the New desktop button in Task View; the payoff is organization. Apps stay on the desktop where they were opened, so the Class desktop can hold Teams, Canvas, and Word while Personal holds everything else. Closing a desktop (Ctrl + Win + F4) moves its windows to the neighboring desktop rather than closing them. You can rename a desktop by clicking its name in Task View. DEMO: Win + Tab, New desktop, rename it Class, open apps, then switch with Ctrl + Win + arrows.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still calls this the Action Center, which was the Windows 10 name. In Windows 11, clicking the network, volume, or battery icons opens Quick Settings; clicking the date and time opens notifications. At the bottom of Settings › System › Notifications, under Additional settings, turn off Windows tips and suggestions, which the chapter recommends. DEMO: Win + A, edit with the pencil, add Accessibility; Win + N, turn on Do not disturb.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Win + E. The address bar tip is the most useful for troubleshooting: clicking the blank area turns the breadcrumb into a typed path such as C:\Users\name\OneDrive\Documents, which explains where a file really is. Tabs arrived in a 2022 update, so older screenshots will not show them. DEMO: Win + E, open Documents, click the address bar to show the path, Ctrl + T for a second tab, drag a file between tabs.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defines extensions but Windows hides them by default, which is exactly how disguised attachments trick people. Once extensions are visible, a file ending in .exe that claims to be a PDF is obvious. Also mention: renaming a file changes only the name, not the format; changing .docx to .pdf does not convert it. DEMO: in File Explorer, View › Show › File name extensions, then rename a copy of a .txt to .pdf and show it will not open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the classic student complaints: a file vanished from the laptop (it is online only), or a file will not open on the bus (no internet). If the address bar path includes OneDrive, the folder is being synced. Before a trip or test, right-click a folder and choose Always keep on this device. Recycle Bin note: files deleted from OneDrive folders can also be recovered from the OneDrive website. DEMO: open Documents in File Explorer, point to the Status column, and set a file to Always keep on this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Jump Lists are the chapter item students find most useful once they see it, and most never discover it on their own. File Explorer's Jump List shows pinned and frequent folders. DEMO: right-click Word on the taskbar, pin a recent document; right-click File Explorer and pin a class folder; then pin Calculator to the taskbar from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Store apps are free, but some charge; Store purchases go through the Microsoft account, so no card details are typed into a website. Third-party download sites often bundle adware; that is the practical warning. Note the chapter lists Apps &amp; features, which is now Installed apps. DEMO: open Microsoft Store, search for an app, show the price and ratings without installing; then Settings › Apps › Installed apps, sort by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chapter's settings, ordered by how often students need them. Windows Update: Advanced options › Active hours is the fix for surprise restarts during an online test. Pausing updates skips security fixes, so resume soon. Refresh rate options depend on the monitor (60 Hz, 120 Hz, 144 Hz...). Taskbar alignment Left is the most requested change from Windows 10 users. DEMO: open Settings with Win + I and use the search box at top left to jump to each one, which is faster than browsing.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productivity tools, not only disability features. Live captions work on this class's recorded lectures and on any video without captions; the first use downloads a language pack. Voice typing needs an internet connection and a microphone. Press Win + Esc to close Magnifier. If Sticky Keys turns on by accident (five Shift presses), press Shift five times again or turn it off in Settings. DEMO: Win + Ctrl + L while playing a short video, then Win + H in Notepad.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having students actually do the five items while you are still on the call, then take questions. Encourage them to screenshot an error with Win + Shift + S when they ask for help instead of describing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A5FC2"/>
          </a:solidFill>
          <a:ln/>
        </p:spPr>
      </p:sp>
      <p:sp>
        <p:nvSpPr>
          <p:cNvPr id="3" name="Text 1"/>
          <p:cNvSpPr/>
          <p:nvPr/>
        </p:nvSpPr>
        <p:spPr>
          <a:xfrm>
            <a:off x="812800" y="131956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B54B"/>
                </a:solidFill>
                <a:latin typeface="Atkinson Hyperlegible" pitchFamily="34" charset="0"/>
                <a:ea typeface="Atkinson Hyperlegible" pitchFamily="34" charset="-122"/>
                <a:cs typeface="Atkinson Hyperlegible" pitchFamily="34" charset="-120"/>
              </a:rPr>
              <a:t>CGS 1060C · OPERATING SYSTEMS</a:t>
            </a:r>
            <a:endParaRPr lang="en-US" sz="1400" dirty="0"/>
          </a:p>
        </p:txBody>
      </p:sp>
      <p:sp>
        <p:nvSpPr>
          <p:cNvPr id="4" name="Text 2"/>
          <p:cNvSpPr/>
          <p:nvPr/>
        </p:nvSpPr>
        <p:spPr>
          <a:xfrm>
            <a:off x="812800" y="1873250"/>
            <a:ext cx="7194550" cy="24257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3F5F8"/>
                </a:solidFill>
                <a:latin typeface="Atkinson Hyperlegible" pitchFamily="34" charset="0"/>
                <a:ea typeface="Atkinson Hyperlegible" pitchFamily="34" charset="-122"/>
                <a:cs typeface="Atkinson Hyperlegible" pitchFamily="34" charset="-120"/>
              </a:rPr>
              <a:t>Windows 11: the parts worth knowing</a:t>
            </a:r>
            <a:endParaRPr lang="en-US" sz="6000" dirty="0"/>
          </a:p>
        </p:txBody>
      </p:sp>
      <p:sp>
        <p:nvSpPr>
          <p:cNvPr id="5" name="Text 3"/>
          <p:cNvSpPr/>
          <p:nvPr/>
        </p:nvSpPr>
        <p:spPr>
          <a:xfrm>
            <a:off x="812800" y="4578350"/>
            <a:ext cx="6540500" cy="98549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3CEDC"/>
                </a:solidFill>
                <a:latin typeface="Atkinson Hyperlegible" pitchFamily="34" charset="0"/>
                <a:ea typeface="Atkinson Hyperlegible" pitchFamily="34" charset="-122"/>
                <a:cs typeface="Atkinson Hyperlegible" pitchFamily="34" charset="-120"/>
              </a:rPr>
              <a:t>The essentials from the chapter, the features that changed since it was written, and the shortcuts almost nobody finds on their own.</a:t>
            </a:r>
            <a:endParaRPr lang="en-US" sz="1800" dirty="0"/>
          </a:p>
        </p:txBody>
      </p:sp>
      <p:sp>
        <p:nvSpPr>
          <p:cNvPr id="6" name="Shape 4"/>
          <p:cNvSpPr/>
          <p:nvPr/>
        </p:nvSpPr>
        <p:spPr>
          <a:xfrm>
            <a:off x="8445500" y="1587500"/>
            <a:ext cx="690910" cy="459730"/>
          </a:xfrm>
          <a:prstGeom prst="roundRect">
            <a:avLst>
              <a:gd name="adj" fmla="val 16575"/>
            </a:avLst>
          </a:prstGeom>
          <a:solidFill>
            <a:srgbClr val="E9EEF5"/>
          </a:solidFill>
          <a:ln/>
        </p:spPr>
      </p:sp>
      <p:sp>
        <p:nvSpPr>
          <p:cNvPr id="7" name="Shape 5"/>
          <p:cNvSpPr/>
          <p:nvPr/>
        </p:nvSpPr>
        <p:spPr>
          <a:xfrm>
            <a:off x="8445500" y="1593850"/>
            <a:ext cx="690910" cy="0"/>
          </a:xfrm>
          <a:prstGeom prst="line">
            <a:avLst/>
          </a:prstGeom>
          <a:noFill/>
          <a:ln w="12700">
            <a:solidFill>
              <a:srgbClr val="8FA3BF"/>
            </a:solidFill>
            <a:prstDash val="solid"/>
          </a:ln>
        </p:spPr>
      </p:sp>
      <p:sp>
        <p:nvSpPr>
          <p:cNvPr id="8" name="Shape 6"/>
          <p:cNvSpPr/>
          <p:nvPr/>
        </p:nvSpPr>
        <p:spPr>
          <a:xfrm>
            <a:off x="9130060" y="1587500"/>
            <a:ext cx="0" cy="459730"/>
          </a:xfrm>
          <a:prstGeom prst="line">
            <a:avLst/>
          </a:prstGeom>
          <a:noFill/>
          <a:ln w="12700">
            <a:solidFill>
              <a:srgbClr val="8FA3BF"/>
            </a:solidFill>
            <a:prstDash val="solid"/>
          </a:ln>
        </p:spPr>
      </p:sp>
      <p:sp>
        <p:nvSpPr>
          <p:cNvPr id="9" name="Shape 7"/>
          <p:cNvSpPr/>
          <p:nvPr/>
        </p:nvSpPr>
        <p:spPr>
          <a:xfrm>
            <a:off x="8445500" y="2021830"/>
            <a:ext cx="690910" cy="0"/>
          </a:xfrm>
          <a:prstGeom prst="line">
            <a:avLst/>
          </a:prstGeom>
          <a:noFill/>
          <a:ln w="50800">
            <a:solidFill>
              <a:srgbClr val="8FA3BF"/>
            </a:solidFill>
            <a:prstDash val="solid"/>
          </a:ln>
        </p:spPr>
      </p:sp>
      <p:sp>
        <p:nvSpPr>
          <p:cNvPr id="10" name="Shape 8"/>
          <p:cNvSpPr/>
          <p:nvPr/>
        </p:nvSpPr>
        <p:spPr>
          <a:xfrm>
            <a:off x="8451850" y="1587500"/>
            <a:ext cx="0" cy="459730"/>
          </a:xfrm>
          <a:prstGeom prst="line">
            <a:avLst/>
          </a:prstGeom>
          <a:noFill/>
          <a:ln w="12700">
            <a:solidFill>
              <a:srgbClr val="8FA3BF"/>
            </a:solidFill>
            <a:prstDash val="solid"/>
          </a:ln>
        </p:spPr>
      </p:sp>
      <p:sp>
        <p:nvSpPr>
          <p:cNvPr id="11" name="Text 9"/>
          <p:cNvSpPr/>
          <p:nvPr/>
        </p:nvSpPr>
        <p:spPr>
          <a:xfrm>
            <a:off x="8585200" y="1638300"/>
            <a:ext cx="462310" cy="345430"/>
          </a:xfrm>
          <a:prstGeom prst="rect">
            <a:avLst/>
          </a:prstGeom>
          <a:noFill/>
          <a:ln/>
        </p:spPr>
        <p:txBody>
          <a:bodyPr wrap="none" lIns="0" tIns="0" rIns="0" bIns="0" rtlCol="0" anchor="t">
            <a:normAutofit/>
          </a:bodyPr>
          <a:lstStyle/>
          <a:p>
            <a:pPr algn="l" indent="0" marL="0">
              <a:lnSpc>
                <a:spcPts val="2520"/>
              </a:lnSpc>
              <a:buNone/>
            </a:pPr>
            <a:r>
              <a:rPr lang="en-US" sz="1800" b="1" dirty="0">
                <a:solidFill>
                  <a:srgbClr val="16202C"/>
                </a:solidFill>
                <a:latin typeface="JetBrains Mono" pitchFamily="34" charset="0"/>
                <a:ea typeface="JetBrains Mono" pitchFamily="34" charset="-122"/>
                <a:cs typeface="JetBrains Mono" pitchFamily="34" charset="-120"/>
              </a:rPr>
              <a:t>Win</a:t>
            </a:r>
            <a:endParaRPr lang="en-US" sz="1800" dirty="0"/>
          </a:p>
        </p:txBody>
      </p:sp>
      <p:sp>
        <p:nvSpPr>
          <p:cNvPr id="12" name="Text 10"/>
          <p:cNvSpPr/>
          <p:nvPr/>
        </p:nvSpPr>
        <p:spPr>
          <a:xfrm>
            <a:off x="9199910" y="169292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3BF"/>
                </a:solidFill>
                <a:latin typeface="Atkinson Hyperlegible" pitchFamily="34" charset="0"/>
                <a:ea typeface="Atkinson Hyperlegible" pitchFamily="34" charset="-122"/>
                <a:cs typeface="Atkinson Hyperlegible" pitchFamily="34" charset="-120"/>
              </a:rPr>
              <a:t>+</a:t>
            </a:r>
            <a:endParaRPr lang="en-US" sz="1400" dirty="0"/>
          </a:p>
        </p:txBody>
      </p:sp>
      <p:sp>
        <p:nvSpPr>
          <p:cNvPr id="13" name="Shape 11"/>
          <p:cNvSpPr/>
          <p:nvPr/>
        </p:nvSpPr>
        <p:spPr>
          <a:xfrm>
            <a:off x="9370467" y="1587500"/>
            <a:ext cx="416570" cy="459730"/>
          </a:xfrm>
          <a:prstGeom prst="roundRect">
            <a:avLst>
              <a:gd name="adj" fmla="val 18292"/>
            </a:avLst>
          </a:prstGeom>
          <a:solidFill>
            <a:srgbClr val="E9EEF5"/>
          </a:solidFill>
          <a:ln/>
        </p:spPr>
      </p:sp>
      <p:sp>
        <p:nvSpPr>
          <p:cNvPr id="14" name="Shape 12"/>
          <p:cNvSpPr/>
          <p:nvPr/>
        </p:nvSpPr>
        <p:spPr>
          <a:xfrm>
            <a:off x="9370467" y="1593850"/>
            <a:ext cx="416570" cy="0"/>
          </a:xfrm>
          <a:prstGeom prst="line">
            <a:avLst/>
          </a:prstGeom>
          <a:noFill/>
          <a:ln w="12700">
            <a:solidFill>
              <a:srgbClr val="8FA3BF"/>
            </a:solidFill>
            <a:prstDash val="solid"/>
          </a:ln>
        </p:spPr>
      </p:sp>
      <p:sp>
        <p:nvSpPr>
          <p:cNvPr id="15" name="Shape 13"/>
          <p:cNvSpPr/>
          <p:nvPr/>
        </p:nvSpPr>
        <p:spPr>
          <a:xfrm>
            <a:off x="9780687" y="1587500"/>
            <a:ext cx="0" cy="459730"/>
          </a:xfrm>
          <a:prstGeom prst="line">
            <a:avLst/>
          </a:prstGeom>
          <a:noFill/>
          <a:ln w="12700">
            <a:solidFill>
              <a:srgbClr val="8FA3BF"/>
            </a:solidFill>
            <a:prstDash val="solid"/>
          </a:ln>
        </p:spPr>
      </p:sp>
      <p:sp>
        <p:nvSpPr>
          <p:cNvPr id="16" name="Shape 14"/>
          <p:cNvSpPr/>
          <p:nvPr/>
        </p:nvSpPr>
        <p:spPr>
          <a:xfrm>
            <a:off x="9370467" y="2021830"/>
            <a:ext cx="416570" cy="0"/>
          </a:xfrm>
          <a:prstGeom prst="line">
            <a:avLst/>
          </a:prstGeom>
          <a:noFill/>
          <a:ln w="50800">
            <a:solidFill>
              <a:srgbClr val="8FA3BF"/>
            </a:solidFill>
            <a:prstDash val="solid"/>
          </a:ln>
        </p:spPr>
      </p:sp>
      <p:sp>
        <p:nvSpPr>
          <p:cNvPr id="17" name="Shape 15"/>
          <p:cNvSpPr/>
          <p:nvPr/>
        </p:nvSpPr>
        <p:spPr>
          <a:xfrm>
            <a:off x="9376817" y="1587500"/>
            <a:ext cx="0" cy="459730"/>
          </a:xfrm>
          <a:prstGeom prst="line">
            <a:avLst/>
          </a:prstGeom>
          <a:noFill/>
          <a:ln w="12700">
            <a:solidFill>
              <a:srgbClr val="8FA3BF"/>
            </a:solidFill>
            <a:prstDash val="solid"/>
          </a:ln>
        </p:spPr>
      </p:sp>
      <p:sp>
        <p:nvSpPr>
          <p:cNvPr id="18" name="Text 16"/>
          <p:cNvSpPr/>
          <p:nvPr/>
        </p:nvSpPr>
        <p:spPr>
          <a:xfrm>
            <a:off x="9510167" y="1638300"/>
            <a:ext cx="187970" cy="345430"/>
          </a:xfrm>
          <a:prstGeom prst="rect">
            <a:avLst/>
          </a:prstGeom>
          <a:noFill/>
          <a:ln/>
        </p:spPr>
        <p:txBody>
          <a:bodyPr wrap="none" lIns="0" tIns="0" rIns="0" bIns="0" rtlCol="0" anchor="t">
            <a:normAutofit/>
          </a:bodyPr>
          <a:lstStyle/>
          <a:p>
            <a:pPr algn="l" indent="0" marL="0">
              <a:lnSpc>
                <a:spcPts val="2520"/>
              </a:lnSpc>
              <a:buNone/>
            </a:pPr>
            <a:r>
              <a:rPr lang="en-US" sz="1800" b="1" dirty="0">
                <a:solidFill>
                  <a:srgbClr val="16202C"/>
                </a:solidFill>
                <a:latin typeface="JetBrains Mono" pitchFamily="34" charset="0"/>
                <a:ea typeface="JetBrains Mono" pitchFamily="34" charset="-122"/>
                <a:cs typeface="JetBrains Mono" pitchFamily="34" charset="-120"/>
              </a:rPr>
              <a:t>V</a:t>
            </a:r>
            <a:endParaRPr lang="en-US" sz="1800" dirty="0"/>
          </a:p>
        </p:txBody>
      </p:sp>
      <p:sp>
        <p:nvSpPr>
          <p:cNvPr id="19" name="Shape 17"/>
          <p:cNvSpPr/>
          <p:nvPr/>
        </p:nvSpPr>
        <p:spPr>
          <a:xfrm>
            <a:off x="8826500" y="2730500"/>
            <a:ext cx="690910" cy="459730"/>
          </a:xfrm>
          <a:prstGeom prst="roundRect">
            <a:avLst>
              <a:gd name="adj" fmla="val 16575"/>
            </a:avLst>
          </a:prstGeom>
          <a:solidFill>
            <a:srgbClr val="E9EEF5"/>
          </a:solidFill>
          <a:ln/>
        </p:spPr>
      </p:sp>
      <p:sp>
        <p:nvSpPr>
          <p:cNvPr id="20" name="Shape 18"/>
          <p:cNvSpPr/>
          <p:nvPr/>
        </p:nvSpPr>
        <p:spPr>
          <a:xfrm>
            <a:off x="8826500" y="2736850"/>
            <a:ext cx="690910" cy="0"/>
          </a:xfrm>
          <a:prstGeom prst="line">
            <a:avLst/>
          </a:prstGeom>
          <a:noFill/>
          <a:ln w="12700">
            <a:solidFill>
              <a:srgbClr val="8FA3BF"/>
            </a:solidFill>
            <a:prstDash val="solid"/>
          </a:ln>
        </p:spPr>
      </p:sp>
      <p:sp>
        <p:nvSpPr>
          <p:cNvPr id="21" name="Shape 19"/>
          <p:cNvSpPr/>
          <p:nvPr/>
        </p:nvSpPr>
        <p:spPr>
          <a:xfrm>
            <a:off x="9511060" y="2730500"/>
            <a:ext cx="0" cy="459730"/>
          </a:xfrm>
          <a:prstGeom prst="line">
            <a:avLst/>
          </a:prstGeom>
          <a:noFill/>
          <a:ln w="12700">
            <a:solidFill>
              <a:srgbClr val="8FA3BF"/>
            </a:solidFill>
            <a:prstDash val="solid"/>
          </a:ln>
        </p:spPr>
      </p:sp>
      <p:sp>
        <p:nvSpPr>
          <p:cNvPr id="22" name="Shape 20"/>
          <p:cNvSpPr/>
          <p:nvPr/>
        </p:nvSpPr>
        <p:spPr>
          <a:xfrm>
            <a:off x="8826500" y="3164830"/>
            <a:ext cx="690910" cy="0"/>
          </a:xfrm>
          <a:prstGeom prst="line">
            <a:avLst/>
          </a:prstGeom>
          <a:noFill/>
          <a:ln w="50800">
            <a:solidFill>
              <a:srgbClr val="8FA3BF"/>
            </a:solidFill>
            <a:prstDash val="solid"/>
          </a:ln>
        </p:spPr>
      </p:sp>
      <p:sp>
        <p:nvSpPr>
          <p:cNvPr id="23" name="Shape 21"/>
          <p:cNvSpPr/>
          <p:nvPr/>
        </p:nvSpPr>
        <p:spPr>
          <a:xfrm>
            <a:off x="8832850" y="2730500"/>
            <a:ext cx="0" cy="459730"/>
          </a:xfrm>
          <a:prstGeom prst="line">
            <a:avLst/>
          </a:prstGeom>
          <a:noFill/>
          <a:ln w="12700">
            <a:solidFill>
              <a:srgbClr val="8FA3BF"/>
            </a:solidFill>
            <a:prstDash val="solid"/>
          </a:ln>
        </p:spPr>
      </p:sp>
      <p:sp>
        <p:nvSpPr>
          <p:cNvPr id="24" name="Text 22"/>
          <p:cNvSpPr/>
          <p:nvPr/>
        </p:nvSpPr>
        <p:spPr>
          <a:xfrm>
            <a:off x="8966200" y="2781300"/>
            <a:ext cx="462310" cy="345430"/>
          </a:xfrm>
          <a:prstGeom prst="rect">
            <a:avLst/>
          </a:prstGeom>
          <a:noFill/>
          <a:ln/>
        </p:spPr>
        <p:txBody>
          <a:bodyPr wrap="none" lIns="0" tIns="0" rIns="0" bIns="0" rtlCol="0" anchor="t">
            <a:normAutofit/>
          </a:bodyPr>
          <a:lstStyle/>
          <a:p>
            <a:pPr algn="l" indent="0" marL="0">
              <a:lnSpc>
                <a:spcPts val="2520"/>
              </a:lnSpc>
              <a:buNone/>
            </a:pPr>
            <a:r>
              <a:rPr lang="en-US" sz="1800" b="1" dirty="0">
                <a:solidFill>
                  <a:srgbClr val="16202C"/>
                </a:solidFill>
                <a:latin typeface="JetBrains Mono" pitchFamily="34" charset="0"/>
                <a:ea typeface="JetBrains Mono" pitchFamily="34" charset="-122"/>
                <a:cs typeface="JetBrains Mono" pitchFamily="34" charset="-120"/>
              </a:rPr>
              <a:t>Win</a:t>
            </a:r>
            <a:endParaRPr lang="en-US" sz="1800" dirty="0"/>
          </a:p>
        </p:txBody>
      </p:sp>
      <p:sp>
        <p:nvSpPr>
          <p:cNvPr id="25" name="Text 23"/>
          <p:cNvSpPr/>
          <p:nvPr/>
        </p:nvSpPr>
        <p:spPr>
          <a:xfrm>
            <a:off x="9580910" y="283592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3BF"/>
                </a:solidFill>
                <a:latin typeface="Atkinson Hyperlegible" pitchFamily="34" charset="0"/>
                <a:ea typeface="Atkinson Hyperlegible" pitchFamily="34" charset="-122"/>
                <a:cs typeface="Atkinson Hyperlegible" pitchFamily="34" charset="-120"/>
              </a:rPr>
              <a:t>+</a:t>
            </a:r>
            <a:endParaRPr lang="en-US" sz="1400" dirty="0"/>
          </a:p>
        </p:txBody>
      </p:sp>
      <p:sp>
        <p:nvSpPr>
          <p:cNvPr id="26" name="Shape 24"/>
          <p:cNvSpPr/>
          <p:nvPr/>
        </p:nvSpPr>
        <p:spPr>
          <a:xfrm>
            <a:off x="9751467" y="2730500"/>
            <a:ext cx="416570" cy="459730"/>
          </a:xfrm>
          <a:prstGeom prst="roundRect">
            <a:avLst>
              <a:gd name="adj" fmla="val 18292"/>
            </a:avLst>
          </a:prstGeom>
          <a:solidFill>
            <a:srgbClr val="E9EEF5"/>
          </a:solidFill>
          <a:ln/>
        </p:spPr>
      </p:sp>
      <p:sp>
        <p:nvSpPr>
          <p:cNvPr id="27" name="Shape 25"/>
          <p:cNvSpPr/>
          <p:nvPr/>
        </p:nvSpPr>
        <p:spPr>
          <a:xfrm>
            <a:off x="9751467" y="2736850"/>
            <a:ext cx="416570" cy="0"/>
          </a:xfrm>
          <a:prstGeom prst="line">
            <a:avLst/>
          </a:prstGeom>
          <a:noFill/>
          <a:ln w="12700">
            <a:solidFill>
              <a:srgbClr val="8FA3BF"/>
            </a:solidFill>
            <a:prstDash val="solid"/>
          </a:ln>
        </p:spPr>
      </p:sp>
      <p:sp>
        <p:nvSpPr>
          <p:cNvPr id="28" name="Shape 26"/>
          <p:cNvSpPr/>
          <p:nvPr/>
        </p:nvSpPr>
        <p:spPr>
          <a:xfrm>
            <a:off x="10161687" y="2730500"/>
            <a:ext cx="0" cy="459730"/>
          </a:xfrm>
          <a:prstGeom prst="line">
            <a:avLst/>
          </a:prstGeom>
          <a:noFill/>
          <a:ln w="12700">
            <a:solidFill>
              <a:srgbClr val="8FA3BF"/>
            </a:solidFill>
            <a:prstDash val="solid"/>
          </a:ln>
        </p:spPr>
      </p:sp>
      <p:sp>
        <p:nvSpPr>
          <p:cNvPr id="29" name="Shape 27"/>
          <p:cNvSpPr/>
          <p:nvPr/>
        </p:nvSpPr>
        <p:spPr>
          <a:xfrm>
            <a:off x="9751467" y="3164830"/>
            <a:ext cx="416570" cy="0"/>
          </a:xfrm>
          <a:prstGeom prst="line">
            <a:avLst/>
          </a:prstGeom>
          <a:noFill/>
          <a:ln w="50800">
            <a:solidFill>
              <a:srgbClr val="8FA3BF"/>
            </a:solidFill>
            <a:prstDash val="solid"/>
          </a:ln>
        </p:spPr>
      </p:sp>
      <p:sp>
        <p:nvSpPr>
          <p:cNvPr id="30" name="Shape 28"/>
          <p:cNvSpPr/>
          <p:nvPr/>
        </p:nvSpPr>
        <p:spPr>
          <a:xfrm>
            <a:off x="9757817" y="2730500"/>
            <a:ext cx="0" cy="459730"/>
          </a:xfrm>
          <a:prstGeom prst="line">
            <a:avLst/>
          </a:prstGeom>
          <a:noFill/>
          <a:ln w="12700">
            <a:solidFill>
              <a:srgbClr val="8FA3BF"/>
            </a:solidFill>
            <a:prstDash val="solid"/>
          </a:ln>
        </p:spPr>
      </p:sp>
      <p:sp>
        <p:nvSpPr>
          <p:cNvPr id="31" name="Text 29"/>
          <p:cNvSpPr/>
          <p:nvPr/>
        </p:nvSpPr>
        <p:spPr>
          <a:xfrm>
            <a:off x="9891167" y="2781300"/>
            <a:ext cx="187970" cy="345430"/>
          </a:xfrm>
          <a:prstGeom prst="rect">
            <a:avLst/>
          </a:prstGeom>
          <a:noFill/>
          <a:ln/>
        </p:spPr>
        <p:txBody>
          <a:bodyPr wrap="none" lIns="0" tIns="0" rIns="0" bIns="0" rtlCol="0" anchor="t">
            <a:normAutofit/>
          </a:bodyPr>
          <a:lstStyle/>
          <a:p>
            <a:pPr algn="l" indent="0" marL="0">
              <a:lnSpc>
                <a:spcPts val="2520"/>
              </a:lnSpc>
              <a:buNone/>
            </a:pPr>
            <a:r>
              <a:rPr lang="en-US" sz="1800" b="1" dirty="0">
                <a:solidFill>
                  <a:srgbClr val="16202C"/>
                </a:solidFill>
                <a:latin typeface="JetBrains Mono" pitchFamily="34" charset="0"/>
                <a:ea typeface="JetBrains Mono" pitchFamily="34" charset="-122"/>
                <a:cs typeface="JetBrains Mono" pitchFamily="34" charset="-120"/>
              </a:rPr>
              <a:t>Z</a:t>
            </a:r>
            <a:endParaRPr lang="en-US" sz="1800" dirty="0"/>
          </a:p>
        </p:txBody>
      </p:sp>
      <p:sp>
        <p:nvSpPr>
          <p:cNvPr id="32" name="Shape 30"/>
          <p:cNvSpPr/>
          <p:nvPr/>
        </p:nvSpPr>
        <p:spPr>
          <a:xfrm>
            <a:off x="8445500" y="3873500"/>
            <a:ext cx="690910" cy="459730"/>
          </a:xfrm>
          <a:prstGeom prst="roundRect">
            <a:avLst>
              <a:gd name="adj" fmla="val 16575"/>
            </a:avLst>
          </a:prstGeom>
          <a:solidFill>
            <a:srgbClr val="E9EEF5"/>
          </a:solidFill>
          <a:ln/>
        </p:spPr>
      </p:sp>
      <p:sp>
        <p:nvSpPr>
          <p:cNvPr id="33" name="Shape 31"/>
          <p:cNvSpPr/>
          <p:nvPr/>
        </p:nvSpPr>
        <p:spPr>
          <a:xfrm>
            <a:off x="8445500" y="3879850"/>
            <a:ext cx="690910" cy="0"/>
          </a:xfrm>
          <a:prstGeom prst="line">
            <a:avLst/>
          </a:prstGeom>
          <a:noFill/>
          <a:ln w="12700">
            <a:solidFill>
              <a:srgbClr val="8FA3BF"/>
            </a:solidFill>
            <a:prstDash val="solid"/>
          </a:ln>
        </p:spPr>
      </p:sp>
      <p:sp>
        <p:nvSpPr>
          <p:cNvPr id="34" name="Shape 32"/>
          <p:cNvSpPr/>
          <p:nvPr/>
        </p:nvSpPr>
        <p:spPr>
          <a:xfrm>
            <a:off x="9130060" y="3873500"/>
            <a:ext cx="0" cy="459730"/>
          </a:xfrm>
          <a:prstGeom prst="line">
            <a:avLst/>
          </a:prstGeom>
          <a:noFill/>
          <a:ln w="12700">
            <a:solidFill>
              <a:srgbClr val="8FA3BF"/>
            </a:solidFill>
            <a:prstDash val="solid"/>
          </a:ln>
        </p:spPr>
      </p:sp>
      <p:sp>
        <p:nvSpPr>
          <p:cNvPr id="35" name="Shape 33"/>
          <p:cNvSpPr/>
          <p:nvPr/>
        </p:nvSpPr>
        <p:spPr>
          <a:xfrm>
            <a:off x="8445500" y="4307830"/>
            <a:ext cx="690910" cy="0"/>
          </a:xfrm>
          <a:prstGeom prst="line">
            <a:avLst/>
          </a:prstGeom>
          <a:noFill/>
          <a:ln w="50800">
            <a:solidFill>
              <a:srgbClr val="8FA3BF"/>
            </a:solidFill>
            <a:prstDash val="solid"/>
          </a:ln>
        </p:spPr>
      </p:sp>
      <p:sp>
        <p:nvSpPr>
          <p:cNvPr id="36" name="Shape 34"/>
          <p:cNvSpPr/>
          <p:nvPr/>
        </p:nvSpPr>
        <p:spPr>
          <a:xfrm>
            <a:off x="8451850" y="3873500"/>
            <a:ext cx="0" cy="459730"/>
          </a:xfrm>
          <a:prstGeom prst="line">
            <a:avLst/>
          </a:prstGeom>
          <a:noFill/>
          <a:ln w="12700">
            <a:solidFill>
              <a:srgbClr val="8FA3BF"/>
            </a:solidFill>
            <a:prstDash val="solid"/>
          </a:ln>
        </p:spPr>
      </p:sp>
      <p:sp>
        <p:nvSpPr>
          <p:cNvPr id="37" name="Text 35"/>
          <p:cNvSpPr/>
          <p:nvPr/>
        </p:nvSpPr>
        <p:spPr>
          <a:xfrm>
            <a:off x="8585200" y="3924300"/>
            <a:ext cx="462310" cy="345430"/>
          </a:xfrm>
          <a:prstGeom prst="rect">
            <a:avLst/>
          </a:prstGeom>
          <a:noFill/>
          <a:ln/>
        </p:spPr>
        <p:txBody>
          <a:bodyPr wrap="none" lIns="0" tIns="0" rIns="0" bIns="0" rtlCol="0" anchor="t">
            <a:normAutofit/>
          </a:bodyPr>
          <a:lstStyle/>
          <a:p>
            <a:pPr algn="l" indent="0" marL="0">
              <a:lnSpc>
                <a:spcPts val="2520"/>
              </a:lnSpc>
              <a:buNone/>
            </a:pPr>
            <a:r>
              <a:rPr lang="en-US" sz="1800" b="1" dirty="0">
                <a:solidFill>
                  <a:srgbClr val="16202C"/>
                </a:solidFill>
                <a:latin typeface="JetBrains Mono" pitchFamily="34" charset="0"/>
                <a:ea typeface="JetBrains Mono" pitchFamily="34" charset="-122"/>
                <a:cs typeface="JetBrains Mono" pitchFamily="34" charset="-120"/>
              </a:rPr>
              <a:t>Win</a:t>
            </a:r>
            <a:endParaRPr lang="en-US" sz="1800" dirty="0"/>
          </a:p>
        </p:txBody>
      </p:sp>
      <p:sp>
        <p:nvSpPr>
          <p:cNvPr id="38" name="Text 36"/>
          <p:cNvSpPr/>
          <p:nvPr/>
        </p:nvSpPr>
        <p:spPr>
          <a:xfrm>
            <a:off x="9199910" y="397892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3BF"/>
                </a:solidFill>
                <a:latin typeface="Atkinson Hyperlegible" pitchFamily="34" charset="0"/>
                <a:ea typeface="Atkinson Hyperlegible" pitchFamily="34" charset="-122"/>
                <a:cs typeface="Atkinson Hyperlegible" pitchFamily="34" charset="-120"/>
              </a:rPr>
              <a:t>+</a:t>
            </a:r>
            <a:endParaRPr lang="en-US" sz="1400" dirty="0"/>
          </a:p>
        </p:txBody>
      </p:sp>
      <p:sp>
        <p:nvSpPr>
          <p:cNvPr id="39" name="Shape 37"/>
          <p:cNvSpPr/>
          <p:nvPr/>
        </p:nvSpPr>
        <p:spPr>
          <a:xfrm>
            <a:off x="9370467" y="3873500"/>
            <a:ext cx="416570" cy="459730"/>
          </a:xfrm>
          <a:prstGeom prst="roundRect">
            <a:avLst>
              <a:gd name="adj" fmla="val 18292"/>
            </a:avLst>
          </a:prstGeom>
          <a:solidFill>
            <a:srgbClr val="E9EEF5"/>
          </a:solidFill>
          <a:ln/>
        </p:spPr>
      </p:sp>
      <p:sp>
        <p:nvSpPr>
          <p:cNvPr id="40" name="Shape 38"/>
          <p:cNvSpPr/>
          <p:nvPr/>
        </p:nvSpPr>
        <p:spPr>
          <a:xfrm>
            <a:off x="9370467" y="3879850"/>
            <a:ext cx="416570" cy="0"/>
          </a:xfrm>
          <a:prstGeom prst="line">
            <a:avLst/>
          </a:prstGeom>
          <a:noFill/>
          <a:ln w="12700">
            <a:solidFill>
              <a:srgbClr val="8FA3BF"/>
            </a:solidFill>
            <a:prstDash val="solid"/>
          </a:ln>
        </p:spPr>
      </p:sp>
      <p:sp>
        <p:nvSpPr>
          <p:cNvPr id="41" name="Shape 39"/>
          <p:cNvSpPr/>
          <p:nvPr/>
        </p:nvSpPr>
        <p:spPr>
          <a:xfrm>
            <a:off x="9780687" y="3873500"/>
            <a:ext cx="0" cy="459730"/>
          </a:xfrm>
          <a:prstGeom prst="line">
            <a:avLst/>
          </a:prstGeom>
          <a:noFill/>
          <a:ln w="12700">
            <a:solidFill>
              <a:srgbClr val="8FA3BF"/>
            </a:solidFill>
            <a:prstDash val="solid"/>
          </a:ln>
        </p:spPr>
      </p:sp>
      <p:sp>
        <p:nvSpPr>
          <p:cNvPr id="42" name="Shape 40"/>
          <p:cNvSpPr/>
          <p:nvPr/>
        </p:nvSpPr>
        <p:spPr>
          <a:xfrm>
            <a:off x="9370467" y="4307830"/>
            <a:ext cx="416570" cy="0"/>
          </a:xfrm>
          <a:prstGeom prst="line">
            <a:avLst/>
          </a:prstGeom>
          <a:noFill/>
          <a:ln w="50800">
            <a:solidFill>
              <a:srgbClr val="8FA3BF"/>
            </a:solidFill>
            <a:prstDash val="solid"/>
          </a:ln>
        </p:spPr>
      </p:sp>
      <p:sp>
        <p:nvSpPr>
          <p:cNvPr id="43" name="Shape 41"/>
          <p:cNvSpPr/>
          <p:nvPr/>
        </p:nvSpPr>
        <p:spPr>
          <a:xfrm>
            <a:off x="9376817" y="3873500"/>
            <a:ext cx="0" cy="459730"/>
          </a:xfrm>
          <a:prstGeom prst="line">
            <a:avLst/>
          </a:prstGeom>
          <a:noFill/>
          <a:ln w="12700">
            <a:solidFill>
              <a:srgbClr val="8FA3BF"/>
            </a:solidFill>
            <a:prstDash val="solid"/>
          </a:ln>
        </p:spPr>
      </p:sp>
      <p:sp>
        <p:nvSpPr>
          <p:cNvPr id="44" name="Text 42"/>
          <p:cNvSpPr/>
          <p:nvPr/>
        </p:nvSpPr>
        <p:spPr>
          <a:xfrm>
            <a:off x="9510167" y="3924300"/>
            <a:ext cx="187970" cy="345430"/>
          </a:xfrm>
          <a:prstGeom prst="rect">
            <a:avLst/>
          </a:prstGeom>
          <a:noFill/>
          <a:ln/>
        </p:spPr>
        <p:txBody>
          <a:bodyPr wrap="none" lIns="0" tIns="0" rIns="0" bIns="0" rtlCol="0" anchor="t">
            <a:normAutofit/>
          </a:bodyPr>
          <a:lstStyle/>
          <a:p>
            <a:pPr algn="l" indent="0" marL="0">
              <a:lnSpc>
                <a:spcPts val="2520"/>
              </a:lnSpc>
              <a:buNone/>
            </a:pPr>
            <a:r>
              <a:rPr lang="en-US" sz="1800" b="1" dirty="0">
                <a:solidFill>
                  <a:srgbClr val="16202C"/>
                </a:solidFill>
                <a:latin typeface="JetBrains Mono" pitchFamily="34" charset="0"/>
                <a:ea typeface="JetBrains Mono" pitchFamily="34" charset="-122"/>
                <a:cs typeface="JetBrains Mono" pitchFamily="34" charset="-120"/>
              </a:rPr>
              <a: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FC2"/>
                </a:solidFill>
                <a:latin typeface="Atkinson Hyperlegible" pitchFamily="34" charset="0"/>
                <a:ea typeface="Atkinson Hyperlegible" pitchFamily="34" charset="-122"/>
                <a:cs typeface="Atkinson Hyperlegible" pitchFamily="34" charset="-120"/>
              </a:rPr>
              <a:t>READ THIS FIRST</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What's changed since the textbook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10011"/>
          <a:ext cx="10566400" cy="2885232"/>
        </p:xfrm>
        <a:graphic>
          <a:graphicData uri="http://schemas.openxmlformats.org/drawingml/2006/table">
            <a:tbl>
              <a:tblPr/>
              <a:tblGrid>
                <a:gridCol w="3803904"/>
                <a:gridCol w="6762496"/>
              </a:tblGrid>
              <a:tr h="439390">
                <a:tc>
                  <a:txBody>
                    <a:bodyPr/>
                    <a:lstStyle/>
                    <a:p>
                      <a:pPr indent="0" marL="0">
                        <a:lnSpc>
                          <a:spcPts val="1960"/>
                        </a:lnSpc>
                        <a:buNone/>
                      </a:pPr>
                      <a:r>
                        <a:rPr lang="en-US" sz="1400" b="1" dirty="0">
                          <a:solidFill>
                            <a:srgbClr val="16202C"/>
                          </a:solidFill>
                          <a:latin typeface="Atkinson Hyperlegible" pitchFamily="34" charset="0"/>
                          <a:ea typeface="Atkinson Hyperlegible" pitchFamily="34" charset="-122"/>
                          <a:cs typeface="Atkinson Hyperlegible" pitchFamily="34" charset="-120"/>
                        </a:rPr>
                        <a:t>The chapter says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c>
                  <a:txBody>
                    <a:bodyPr/>
                    <a:lstStyle/>
                    <a:p>
                      <a:pPr indent="0" marL="0">
                        <a:lnSpc>
                          <a:spcPts val="1960"/>
                        </a:lnSpc>
                        <a:buNone/>
                      </a:pPr>
                      <a:r>
                        <a:rPr lang="en-US" sz="1400" b="1" dirty="0">
                          <a:solidFill>
                            <a:srgbClr val="16202C"/>
                          </a:solidFill>
                          <a:latin typeface="Atkinson Hyperlegible" pitchFamily="34" charset="0"/>
                          <a:ea typeface="Atkinson Hyperlegible" pitchFamily="34" charset="-122"/>
                          <a:cs typeface="Atkinson Hyperlegible" pitchFamily="34" charset="-120"/>
                        </a:rPr>
                        <a:t>Windows 11 today</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r>
              <a:tr h="68828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Create documents in WordPad</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WordPad was removed in version 24H2. Use Notepad for plain text and Word for formatted documents.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Win + A opens the Action Center</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Win + A opens Quick Settings. Win + N opens notifications and the calendar.</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Ease of Access Center</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Settings › Accessibility</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Settings › Apps › Apps &amp; features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Settings › Apps › Installed apps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Alt + F4 turns the device off</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Alt + F4 closes the current app. On an empty desktop, it opens a Shut Down dialog.</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Home or Pro: what your PC runs</a:t>
            </a:r>
            <a:endParaRPr lang="en-US" sz="3600" dirty="0"/>
          </a:p>
        </p:txBody>
      </p:sp>
      <p:sp>
        <p:nvSpPr>
          <p:cNvPr id="3" name="Shape 1"/>
          <p:cNvSpPr/>
          <p:nvPr/>
        </p:nvSpPr>
        <p:spPr>
          <a:xfrm>
            <a:off x="815975" y="1623665"/>
            <a:ext cx="5175250" cy="1619250"/>
          </a:xfrm>
          <a:prstGeom prst="roundRect">
            <a:avLst>
              <a:gd name="adj" fmla="val 6078"/>
            </a:avLst>
          </a:prstGeom>
          <a:solidFill>
            <a:srgbClr val="FCFDFE"/>
          </a:solidFill>
          <a:ln w="6350">
            <a:solidFill>
              <a:srgbClr val="D6DCE4"/>
            </a:solidFill>
            <a:prstDash val="solid"/>
          </a:ln>
        </p:spPr>
      </p:sp>
      <p:sp>
        <p:nvSpPr>
          <p:cNvPr id="4" name="Text 2"/>
          <p:cNvSpPr/>
          <p:nvPr/>
        </p:nvSpPr>
        <p:spPr>
          <a:xfrm>
            <a:off x="1022350" y="183004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Windows 11 Home</a:t>
            </a:r>
            <a:endParaRPr lang="en-US" sz="2000" dirty="0"/>
          </a:p>
        </p:txBody>
      </p:sp>
      <p:sp>
        <p:nvSpPr>
          <p:cNvPr id="5" name="Text 3"/>
          <p:cNvSpPr/>
          <p:nvPr/>
        </p:nvSpPr>
        <p:spPr>
          <a:xfrm>
            <a:off x="1022350" y="2236440"/>
            <a:ext cx="490537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For personal devices. Includes Windows Hello sign-in, Microsoft Defender, and device encryption on most modern hardware.</a:t>
            </a:r>
            <a:endParaRPr lang="en-US" sz="1500" dirty="0"/>
          </a:p>
        </p:txBody>
      </p:sp>
      <p:sp>
        <p:nvSpPr>
          <p:cNvPr id="6" name="Shape 4"/>
          <p:cNvSpPr/>
          <p:nvPr/>
        </p:nvSpPr>
        <p:spPr>
          <a:xfrm>
            <a:off x="6200775" y="1623665"/>
            <a:ext cx="5175250" cy="1619250"/>
          </a:xfrm>
          <a:prstGeom prst="roundRect">
            <a:avLst>
              <a:gd name="adj" fmla="val 6078"/>
            </a:avLst>
          </a:prstGeom>
          <a:solidFill>
            <a:srgbClr val="FCFDFE"/>
          </a:solidFill>
          <a:ln w="6350">
            <a:solidFill>
              <a:srgbClr val="D6DCE4"/>
            </a:solidFill>
            <a:prstDash val="solid"/>
          </a:ln>
        </p:spPr>
      </p:sp>
      <p:sp>
        <p:nvSpPr>
          <p:cNvPr id="7" name="Text 5"/>
          <p:cNvSpPr/>
          <p:nvPr/>
        </p:nvSpPr>
        <p:spPr>
          <a:xfrm>
            <a:off x="6407150" y="183004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Windows 11 Pro</a:t>
            </a:r>
            <a:endParaRPr lang="en-US" sz="2000" dirty="0"/>
          </a:p>
        </p:txBody>
      </p:sp>
      <p:sp>
        <p:nvSpPr>
          <p:cNvPr id="8" name="Text 6"/>
          <p:cNvSpPr/>
          <p:nvPr/>
        </p:nvSpPr>
        <p:spPr>
          <a:xfrm>
            <a:off x="6407150" y="2236440"/>
            <a:ext cx="490537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For business and school. Adds BitLocker management, Remote Desktop hosting, Group Policy, and joining an organization's network.</a:t>
            </a:r>
            <a:endParaRPr lang="en-US" sz="1500" dirty="0"/>
          </a:p>
        </p:txBody>
      </p:sp>
      <p:sp>
        <p:nvSpPr>
          <p:cNvPr id="9" name="Text 7"/>
          <p:cNvSpPr/>
          <p:nvPr/>
        </p:nvSpPr>
        <p:spPr>
          <a:xfrm>
            <a:off x="812800" y="355089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B6B"/>
                </a:solidFill>
                <a:latin typeface="Atkinson Hyperlegible" pitchFamily="34" charset="0"/>
                <a:ea typeface="Atkinson Hyperlegible" pitchFamily="34" charset="-122"/>
                <a:cs typeface="Atkinson Hyperlegible" pitchFamily="34" charset="-120"/>
              </a:rPr>
              <a:t>Check yours: </a:t>
            </a:r>
            <a:r>
              <a:rPr lang="en-US" sz="1600" b="1" dirty="0">
                <a:solidFill>
                  <a:srgbClr val="4E5B6B"/>
                </a:solidFill>
                <a:latin typeface="Atkinson Hyperlegible" pitchFamily="34" charset="0"/>
                <a:ea typeface="Atkinson Hyperlegible" pitchFamily="34" charset="-122"/>
                <a:cs typeface="Atkinson Hyperlegible" pitchFamily="34" charset="-120"/>
              </a:rPr>
              <a:t>Settings › System › About</a:t>
            </a:r>
            <a:r>
              <a:rPr lang="en-US" sz="1600" dirty="0">
                <a:solidFill>
                  <a:srgbClr val="4E5B6B"/>
                </a:solidFill>
                <a:latin typeface="Atkinson Hyperlegible" pitchFamily="34" charset="0"/>
                <a:ea typeface="Atkinson Hyperlegible" pitchFamily="34" charset="-122"/>
                <a:cs typeface="Atkinson Hyperlegible" pitchFamily="34" charset="-120"/>
              </a:rPr>
              <a:t>, under Windows specifications.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F"/>
                </a:solidFill>
                <a:latin typeface="Atkinson Hyperlegible" pitchFamily="34" charset="0"/>
                <a:ea typeface="Atkinson Hyperlegible" pitchFamily="34" charset="-122"/>
                <a:cs typeface="Atkinson Hyperlegible" pitchFamily="34" charset="-120"/>
              </a:rPr>
              <a:t>SURPRISING BUT TRUE</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A PIN is safer than a password</a:t>
            </a:r>
            <a:endParaRPr lang="en-US" sz="3600" dirty="0"/>
          </a:p>
        </p:txBody>
      </p:sp>
      <p:sp>
        <p:nvSpPr>
          <p:cNvPr id="4" name="Shape 2"/>
          <p:cNvSpPr/>
          <p:nvPr/>
        </p:nvSpPr>
        <p:spPr>
          <a:xfrm>
            <a:off x="815975" y="1913186"/>
            <a:ext cx="5124450" cy="2792611"/>
          </a:xfrm>
          <a:prstGeom prst="roundRect">
            <a:avLst>
              <a:gd name="adj" fmla="val 3524"/>
            </a:avLst>
          </a:prstGeom>
          <a:solidFill>
            <a:srgbClr val="FCFDFE"/>
          </a:solidFill>
          <a:ln w="6350">
            <a:solidFill>
              <a:srgbClr val="D6DCE4"/>
            </a:solidFill>
            <a:prstDash val="solid"/>
          </a:ln>
        </p:spPr>
      </p:sp>
      <p:sp>
        <p:nvSpPr>
          <p:cNvPr id="5" name="Text 3"/>
          <p:cNvSpPr/>
          <p:nvPr/>
        </p:nvSpPr>
        <p:spPr>
          <a:xfrm>
            <a:off x="1022350" y="2458591"/>
            <a:ext cx="4853051" cy="98549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02C"/>
                </a:solidFill>
                <a:latin typeface="Atkinson Hyperlegible" pitchFamily="34" charset="0"/>
                <a:ea typeface="Atkinson Hyperlegible" pitchFamily="34" charset="-122"/>
                <a:cs typeface="Atkinson Hyperlegible" pitchFamily="34" charset="-120"/>
              </a:rPr>
              <a:t>A PIN only works on this one device.</a:t>
            </a:r>
            <a:r>
              <a:rPr lang="en-US" sz="1800" dirty="0">
                <a:solidFill>
                  <a:srgbClr val="16202C"/>
                </a:solidFill>
                <a:latin typeface="Atkinson Hyperlegible" pitchFamily="34" charset="0"/>
                <a:ea typeface="Atkinson Hyperlegible" pitchFamily="34" charset="-122"/>
                <a:cs typeface="Atkinson Hyperlegible" pitchFamily="34" charset="-120"/>
              </a:rPr>
              <a:t> Someone who learns it still needs your physical PC.</a:t>
            </a:r>
            <a:endParaRPr lang="en-US" sz="1800" dirty="0"/>
          </a:p>
        </p:txBody>
      </p:sp>
      <p:sp>
        <p:nvSpPr>
          <p:cNvPr id="6" name="Text 4"/>
          <p:cNvSpPr/>
          <p:nvPr/>
        </p:nvSpPr>
        <p:spPr>
          <a:xfrm>
            <a:off x="1022350" y="3520281"/>
            <a:ext cx="4853051"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E5B6B"/>
                </a:solidFill>
                <a:latin typeface="Atkinson Hyperlegible" pitchFamily="34" charset="0"/>
                <a:ea typeface="Atkinson Hyperlegible" pitchFamily="34" charset="-122"/>
                <a:cs typeface="Atkinson Hyperlegible" pitchFamily="34" charset="-120"/>
              </a:rPr>
              <a:t>A stolen password works from any computer in the world, and often unlocks your email too.</a:t>
            </a:r>
            <a:endParaRPr lang="en-US" sz="1800" dirty="0"/>
          </a:p>
        </p:txBody>
      </p:sp>
      <p:sp>
        <p:nvSpPr>
          <p:cNvPr id="7" name="Shape 5"/>
          <p:cNvSpPr/>
          <p:nvPr/>
        </p:nvSpPr>
        <p:spPr>
          <a:xfrm>
            <a:off x="6251575" y="1913186"/>
            <a:ext cx="2482850" cy="1316930"/>
          </a:xfrm>
          <a:prstGeom prst="roundRect">
            <a:avLst>
              <a:gd name="adj" fmla="val 7474"/>
            </a:avLst>
          </a:prstGeom>
          <a:solidFill>
            <a:srgbClr val="FCFDFE"/>
          </a:solidFill>
          <a:ln w="6350">
            <a:solidFill>
              <a:srgbClr val="D6DCE4"/>
            </a:solidFill>
            <a:prstDash val="solid"/>
          </a:ln>
        </p:spPr>
      </p:sp>
      <p:sp>
        <p:nvSpPr>
          <p:cNvPr id="8" name="Text 6"/>
          <p:cNvSpPr/>
          <p:nvPr/>
        </p:nvSpPr>
        <p:spPr>
          <a:xfrm>
            <a:off x="6457950" y="2119561"/>
            <a:ext cx="21322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PIN</a:t>
            </a:r>
            <a:endParaRPr lang="en-US" sz="2000" dirty="0"/>
          </a:p>
        </p:txBody>
      </p:sp>
      <p:sp>
        <p:nvSpPr>
          <p:cNvPr id="9" name="Text 7"/>
          <p:cNvSpPr/>
          <p:nvPr/>
        </p:nvSpPr>
        <p:spPr>
          <a:xfrm>
            <a:off x="6457950" y="2525961"/>
            <a:ext cx="213220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Chosen at setup. Stored on the device.</a:t>
            </a:r>
            <a:endParaRPr lang="en-US" sz="1400" dirty="0"/>
          </a:p>
        </p:txBody>
      </p:sp>
      <p:sp>
        <p:nvSpPr>
          <p:cNvPr id="10" name="Shape 8"/>
          <p:cNvSpPr/>
          <p:nvPr/>
        </p:nvSpPr>
        <p:spPr>
          <a:xfrm>
            <a:off x="8893175" y="1913186"/>
            <a:ext cx="2482850" cy="1316930"/>
          </a:xfrm>
          <a:prstGeom prst="roundRect">
            <a:avLst>
              <a:gd name="adj" fmla="val 7474"/>
            </a:avLst>
          </a:prstGeom>
          <a:solidFill>
            <a:srgbClr val="FCFDFE"/>
          </a:solidFill>
          <a:ln w="6350">
            <a:solidFill>
              <a:srgbClr val="D6DCE4"/>
            </a:solidFill>
            <a:prstDash val="solid"/>
          </a:ln>
        </p:spPr>
      </p:sp>
      <p:sp>
        <p:nvSpPr>
          <p:cNvPr id="11" name="Text 9"/>
          <p:cNvSpPr/>
          <p:nvPr/>
        </p:nvSpPr>
        <p:spPr>
          <a:xfrm>
            <a:off x="9099550" y="2119561"/>
            <a:ext cx="21322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Password</a:t>
            </a:r>
            <a:endParaRPr lang="en-US" sz="2000" dirty="0"/>
          </a:p>
        </p:txBody>
      </p:sp>
      <p:sp>
        <p:nvSpPr>
          <p:cNvPr id="12" name="Text 10"/>
          <p:cNvSpPr/>
          <p:nvPr/>
        </p:nvSpPr>
        <p:spPr>
          <a:xfrm>
            <a:off x="9099550" y="2525961"/>
            <a:ext cx="213220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Your Microsoft account password.</a:t>
            </a:r>
            <a:endParaRPr lang="en-US" sz="1400" dirty="0"/>
          </a:p>
        </p:txBody>
      </p:sp>
      <p:sp>
        <p:nvSpPr>
          <p:cNvPr id="13" name="Shape 11"/>
          <p:cNvSpPr/>
          <p:nvPr/>
        </p:nvSpPr>
        <p:spPr>
          <a:xfrm>
            <a:off x="6251575" y="3388866"/>
            <a:ext cx="2482850" cy="1316930"/>
          </a:xfrm>
          <a:prstGeom prst="roundRect">
            <a:avLst>
              <a:gd name="adj" fmla="val 7474"/>
            </a:avLst>
          </a:prstGeom>
          <a:solidFill>
            <a:srgbClr val="FCFDFE"/>
          </a:solidFill>
          <a:ln w="6350">
            <a:solidFill>
              <a:srgbClr val="D6DCE4"/>
            </a:solidFill>
            <a:prstDash val="solid"/>
          </a:ln>
        </p:spPr>
      </p:sp>
      <p:sp>
        <p:nvSpPr>
          <p:cNvPr id="14" name="Text 12"/>
          <p:cNvSpPr/>
          <p:nvPr/>
        </p:nvSpPr>
        <p:spPr>
          <a:xfrm>
            <a:off x="6457950" y="3595241"/>
            <a:ext cx="21322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Face</a:t>
            </a:r>
            <a:endParaRPr lang="en-US" sz="2000" dirty="0"/>
          </a:p>
        </p:txBody>
      </p:sp>
      <p:sp>
        <p:nvSpPr>
          <p:cNvPr id="15" name="Text 13"/>
          <p:cNvSpPr/>
          <p:nvPr/>
        </p:nvSpPr>
        <p:spPr>
          <a:xfrm>
            <a:off x="6457950" y="4001641"/>
            <a:ext cx="213220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Needs a compatible webcam.</a:t>
            </a:r>
            <a:endParaRPr lang="en-US" sz="1400" dirty="0"/>
          </a:p>
        </p:txBody>
      </p:sp>
      <p:sp>
        <p:nvSpPr>
          <p:cNvPr id="16" name="Shape 14"/>
          <p:cNvSpPr/>
          <p:nvPr/>
        </p:nvSpPr>
        <p:spPr>
          <a:xfrm>
            <a:off x="8893175" y="3388866"/>
            <a:ext cx="2482850" cy="1316930"/>
          </a:xfrm>
          <a:prstGeom prst="roundRect">
            <a:avLst>
              <a:gd name="adj" fmla="val 7474"/>
            </a:avLst>
          </a:prstGeom>
          <a:solidFill>
            <a:srgbClr val="FCFDFE"/>
          </a:solidFill>
          <a:ln w="6350">
            <a:solidFill>
              <a:srgbClr val="D6DCE4"/>
            </a:solidFill>
            <a:prstDash val="solid"/>
          </a:ln>
        </p:spPr>
      </p:sp>
      <p:sp>
        <p:nvSpPr>
          <p:cNvPr id="17" name="Text 15"/>
          <p:cNvSpPr/>
          <p:nvPr/>
        </p:nvSpPr>
        <p:spPr>
          <a:xfrm>
            <a:off x="9099550" y="3595241"/>
            <a:ext cx="21322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Fingerprint</a:t>
            </a:r>
            <a:endParaRPr lang="en-US" sz="2000" dirty="0"/>
          </a:p>
        </p:txBody>
      </p:sp>
      <p:sp>
        <p:nvSpPr>
          <p:cNvPr id="18" name="Text 16"/>
          <p:cNvSpPr/>
          <p:nvPr/>
        </p:nvSpPr>
        <p:spPr>
          <a:xfrm>
            <a:off x="9099550" y="4001641"/>
            <a:ext cx="213220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Built-in or USB reader.</a:t>
            </a:r>
            <a:endParaRPr lang="en-US" sz="1400" dirty="0"/>
          </a:p>
        </p:txBody>
      </p:sp>
      <p:sp>
        <p:nvSpPr>
          <p:cNvPr id="19" name="Text 17"/>
          <p:cNvSpPr/>
          <p:nvPr/>
        </p:nvSpPr>
        <p:spPr>
          <a:xfrm>
            <a:off x="812800" y="501377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B6B"/>
                </a:solidFill>
                <a:latin typeface="Atkinson Hyperlegible" pitchFamily="34" charset="0"/>
                <a:ea typeface="Atkinson Hyperlegible" pitchFamily="34" charset="-122"/>
                <a:cs typeface="Atkinson Hyperlegible" pitchFamily="34" charset="-120"/>
              </a:rPr>
              <a:t>Set up or change them: </a:t>
            </a:r>
            <a:r>
              <a:rPr lang="en-US" sz="1600" b="1" dirty="0">
                <a:solidFill>
                  <a:srgbClr val="4E5B6B"/>
                </a:solidFill>
                <a:latin typeface="Atkinson Hyperlegible" pitchFamily="34" charset="0"/>
                <a:ea typeface="Atkinson Hyperlegible" pitchFamily="34" charset="-122"/>
                <a:cs typeface="Atkinson Hyperlegible" pitchFamily="34" charset="-120"/>
              </a:rPr>
              <a:t>Settings › Accounts › Sign-in options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Walking away: lock, sign out, sleep, or shut down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2123380"/>
          <a:ext cx="10566400" cy="2819400"/>
        </p:xfrm>
        <a:graphic>
          <a:graphicData uri="http://schemas.openxmlformats.org/drawingml/2006/table">
            <a:tbl>
              <a:tblPr/>
              <a:tblGrid>
                <a:gridCol w="1690624"/>
                <a:gridCol w="3169920"/>
                <a:gridCol w="2535936"/>
                <a:gridCol w="3169920"/>
              </a:tblGrid>
              <a:tr h="457200">
                <a:tc>
                  <a:txBody>
                    <a:bodyPr/>
                    <a:lstStyle/>
                    <a:p>
                      <a:pPr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Action</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c>
                  <a:txBody>
                    <a:bodyPr/>
                    <a:lstStyle/>
                    <a:p>
                      <a:pPr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How</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c>
                  <a:txBody>
                    <a:bodyPr/>
                    <a:lstStyle/>
                    <a:p>
                      <a:pPr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Your open work</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c>
                  <a:txBody>
                    <a:bodyPr/>
                    <a:lstStyle/>
                    <a:p>
                      <a:pPr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Use it when</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Lock</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Win + L</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Stays open</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Stepping away for a minute</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Sign out</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Start › your name › Sign out</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Apps close</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Someone else will use this PC</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7239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Sleep</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Start › Power › Sleep</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Kept in memory on low power</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Coming back later today</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7239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Shut down</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Start › Power › Shut down</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Everything closes</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Done for the day or installing updates</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bl>
          </a:graphicData>
        </a:graphic>
      </p:graphicFrame>
      <p:sp>
        <p:nvSpPr>
          <p:cNvPr id="4" name="Text 1"/>
          <p:cNvSpPr/>
          <p:nvPr/>
        </p:nvSpPr>
        <p:spPr>
          <a:xfrm>
            <a:off x="812800" y="52602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B6B"/>
                </a:solidFill>
                <a:latin typeface="Atkinson Hyperlegible" pitchFamily="34" charset="0"/>
                <a:ea typeface="Atkinson Hyperlegible" pitchFamily="34" charset="-122"/>
                <a:cs typeface="Atkinson Hyperlegible" pitchFamily="34" charset="-120"/>
              </a:rPr>
              <a:t>On a shared or campus computer, sign out. Locking still leaves your accounts open.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Nine shortcuts from the chapter</a:t>
            </a:r>
            <a:endParaRPr lang="en-US" sz="3600" dirty="0"/>
          </a:p>
        </p:txBody>
      </p:sp>
      <p:sp>
        <p:nvSpPr>
          <p:cNvPr id="3" name="Shape 1"/>
          <p:cNvSpPr/>
          <p:nvPr/>
        </p:nvSpPr>
        <p:spPr>
          <a:xfrm>
            <a:off x="815975" y="1623665"/>
            <a:ext cx="3414167" cy="1131540"/>
          </a:xfrm>
          <a:prstGeom prst="roundRect">
            <a:avLst>
              <a:gd name="adj" fmla="val 8698"/>
            </a:avLst>
          </a:prstGeom>
          <a:solidFill>
            <a:srgbClr val="FCFDFE"/>
          </a:solidFill>
          <a:ln w="6350">
            <a:solidFill>
              <a:srgbClr val="D6DCE4"/>
            </a:solidFill>
            <a:prstDash val="solid"/>
          </a:ln>
        </p:spPr>
      </p:sp>
      <p:sp>
        <p:nvSpPr>
          <p:cNvPr id="4" name="Shape 2"/>
          <p:cNvSpPr/>
          <p:nvPr/>
        </p:nvSpPr>
        <p:spPr>
          <a:xfrm>
            <a:off x="1022350" y="1830040"/>
            <a:ext cx="548680" cy="350490"/>
          </a:xfrm>
          <a:prstGeom prst="roundRect">
            <a:avLst>
              <a:gd name="adj" fmla="val 18117"/>
            </a:avLst>
          </a:prstGeom>
          <a:solidFill>
            <a:srgbClr val="F3F5F8"/>
          </a:solidFill>
          <a:ln/>
        </p:spPr>
      </p:sp>
      <p:sp>
        <p:nvSpPr>
          <p:cNvPr id="5" name="Shape 3"/>
          <p:cNvSpPr/>
          <p:nvPr/>
        </p:nvSpPr>
        <p:spPr>
          <a:xfrm>
            <a:off x="1022350" y="1836390"/>
            <a:ext cx="548680" cy="0"/>
          </a:xfrm>
          <a:prstGeom prst="line">
            <a:avLst/>
          </a:prstGeom>
          <a:noFill/>
          <a:ln w="12700">
            <a:solidFill>
              <a:srgbClr val="AEB8C5"/>
            </a:solidFill>
            <a:prstDash val="solid"/>
          </a:ln>
        </p:spPr>
      </p:sp>
      <p:sp>
        <p:nvSpPr>
          <p:cNvPr id="6" name="Shape 4"/>
          <p:cNvSpPr/>
          <p:nvPr/>
        </p:nvSpPr>
        <p:spPr>
          <a:xfrm>
            <a:off x="1564680" y="1830040"/>
            <a:ext cx="0" cy="350490"/>
          </a:xfrm>
          <a:prstGeom prst="line">
            <a:avLst/>
          </a:prstGeom>
          <a:noFill/>
          <a:ln w="12700">
            <a:solidFill>
              <a:srgbClr val="AEB8C5"/>
            </a:solidFill>
            <a:prstDash val="solid"/>
          </a:ln>
        </p:spPr>
      </p:sp>
      <p:sp>
        <p:nvSpPr>
          <p:cNvPr id="7" name="Shape 5"/>
          <p:cNvSpPr/>
          <p:nvPr/>
        </p:nvSpPr>
        <p:spPr>
          <a:xfrm>
            <a:off x="1022350" y="2161480"/>
            <a:ext cx="548680" cy="0"/>
          </a:xfrm>
          <a:prstGeom prst="line">
            <a:avLst/>
          </a:prstGeom>
          <a:noFill/>
          <a:ln w="38100">
            <a:solidFill>
              <a:srgbClr val="AEB8C5"/>
            </a:solidFill>
            <a:prstDash val="solid"/>
          </a:ln>
        </p:spPr>
      </p:sp>
      <p:sp>
        <p:nvSpPr>
          <p:cNvPr id="8" name="Shape 6"/>
          <p:cNvSpPr/>
          <p:nvPr/>
        </p:nvSpPr>
        <p:spPr>
          <a:xfrm>
            <a:off x="1028700" y="1830040"/>
            <a:ext cx="0" cy="350490"/>
          </a:xfrm>
          <a:prstGeom prst="line">
            <a:avLst/>
          </a:prstGeom>
          <a:noFill/>
          <a:ln w="12700">
            <a:solidFill>
              <a:srgbClr val="AEB8C5"/>
            </a:solidFill>
            <a:prstDash val="solid"/>
          </a:ln>
        </p:spPr>
      </p:sp>
      <p:sp>
        <p:nvSpPr>
          <p:cNvPr id="9" name="Text 7"/>
          <p:cNvSpPr/>
          <p:nvPr/>
        </p:nvSpPr>
        <p:spPr>
          <a:xfrm>
            <a:off x="1136650" y="186814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10" name="Text 8"/>
          <p:cNvSpPr/>
          <p:nvPr/>
        </p:nvSpPr>
        <p:spPr>
          <a:xfrm>
            <a:off x="1634530" y="188084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1" name="Shape 9"/>
          <p:cNvSpPr/>
          <p:nvPr/>
        </p:nvSpPr>
        <p:spPr>
          <a:xfrm>
            <a:off x="1805087" y="1830040"/>
            <a:ext cx="335310" cy="350490"/>
          </a:xfrm>
          <a:prstGeom prst="roundRect">
            <a:avLst>
              <a:gd name="adj" fmla="val 18938"/>
            </a:avLst>
          </a:prstGeom>
          <a:solidFill>
            <a:srgbClr val="F3F5F8"/>
          </a:solidFill>
          <a:ln/>
        </p:spPr>
      </p:sp>
      <p:sp>
        <p:nvSpPr>
          <p:cNvPr id="12" name="Shape 10"/>
          <p:cNvSpPr/>
          <p:nvPr/>
        </p:nvSpPr>
        <p:spPr>
          <a:xfrm>
            <a:off x="1805087" y="1836390"/>
            <a:ext cx="335310" cy="0"/>
          </a:xfrm>
          <a:prstGeom prst="line">
            <a:avLst/>
          </a:prstGeom>
          <a:noFill/>
          <a:ln w="12700">
            <a:solidFill>
              <a:srgbClr val="AEB8C5"/>
            </a:solidFill>
            <a:prstDash val="solid"/>
          </a:ln>
        </p:spPr>
      </p:sp>
      <p:sp>
        <p:nvSpPr>
          <p:cNvPr id="13" name="Shape 11"/>
          <p:cNvSpPr/>
          <p:nvPr/>
        </p:nvSpPr>
        <p:spPr>
          <a:xfrm>
            <a:off x="2134046" y="1830040"/>
            <a:ext cx="0" cy="350490"/>
          </a:xfrm>
          <a:prstGeom prst="line">
            <a:avLst/>
          </a:prstGeom>
          <a:noFill/>
          <a:ln w="12700">
            <a:solidFill>
              <a:srgbClr val="AEB8C5"/>
            </a:solidFill>
            <a:prstDash val="solid"/>
          </a:ln>
        </p:spPr>
      </p:sp>
      <p:sp>
        <p:nvSpPr>
          <p:cNvPr id="14" name="Shape 12"/>
          <p:cNvSpPr/>
          <p:nvPr/>
        </p:nvSpPr>
        <p:spPr>
          <a:xfrm>
            <a:off x="1805087" y="2161480"/>
            <a:ext cx="335310" cy="0"/>
          </a:xfrm>
          <a:prstGeom prst="line">
            <a:avLst/>
          </a:prstGeom>
          <a:noFill/>
          <a:ln w="38100">
            <a:solidFill>
              <a:srgbClr val="AEB8C5"/>
            </a:solidFill>
            <a:prstDash val="solid"/>
          </a:ln>
        </p:spPr>
      </p:sp>
      <p:sp>
        <p:nvSpPr>
          <p:cNvPr id="15" name="Shape 13"/>
          <p:cNvSpPr/>
          <p:nvPr/>
        </p:nvSpPr>
        <p:spPr>
          <a:xfrm>
            <a:off x="1811437" y="1830040"/>
            <a:ext cx="0" cy="350490"/>
          </a:xfrm>
          <a:prstGeom prst="line">
            <a:avLst/>
          </a:prstGeom>
          <a:noFill/>
          <a:ln w="12700">
            <a:solidFill>
              <a:srgbClr val="AEB8C5"/>
            </a:solidFill>
            <a:prstDash val="solid"/>
          </a:ln>
        </p:spPr>
      </p:sp>
      <p:sp>
        <p:nvSpPr>
          <p:cNvPr id="16" name="Text 14"/>
          <p:cNvSpPr/>
          <p:nvPr/>
        </p:nvSpPr>
        <p:spPr>
          <a:xfrm>
            <a:off x="1919387" y="186814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L</a:t>
            </a:r>
            <a:endParaRPr lang="en-US" sz="1400" dirty="0"/>
          </a:p>
        </p:txBody>
      </p:sp>
      <p:sp>
        <p:nvSpPr>
          <p:cNvPr id="17" name="Text 15"/>
          <p:cNvSpPr/>
          <p:nvPr/>
        </p:nvSpPr>
        <p:spPr>
          <a:xfrm>
            <a:off x="1022350" y="2282130"/>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Lock the PC</a:t>
            </a:r>
            <a:endParaRPr lang="en-US" sz="1500" dirty="0"/>
          </a:p>
        </p:txBody>
      </p:sp>
      <p:sp>
        <p:nvSpPr>
          <p:cNvPr id="18" name="Shape 16"/>
          <p:cNvSpPr/>
          <p:nvPr/>
        </p:nvSpPr>
        <p:spPr>
          <a:xfrm>
            <a:off x="4388892" y="1623665"/>
            <a:ext cx="3414167" cy="1131540"/>
          </a:xfrm>
          <a:prstGeom prst="roundRect">
            <a:avLst>
              <a:gd name="adj" fmla="val 8698"/>
            </a:avLst>
          </a:prstGeom>
          <a:solidFill>
            <a:srgbClr val="FCFDFE"/>
          </a:solidFill>
          <a:ln w="6350">
            <a:solidFill>
              <a:srgbClr val="D6DCE4"/>
            </a:solidFill>
            <a:prstDash val="solid"/>
          </a:ln>
        </p:spPr>
      </p:sp>
      <p:sp>
        <p:nvSpPr>
          <p:cNvPr id="19" name="Shape 17"/>
          <p:cNvSpPr/>
          <p:nvPr/>
        </p:nvSpPr>
        <p:spPr>
          <a:xfrm>
            <a:off x="4595267" y="1830040"/>
            <a:ext cx="548680" cy="350490"/>
          </a:xfrm>
          <a:prstGeom prst="roundRect">
            <a:avLst>
              <a:gd name="adj" fmla="val 18117"/>
            </a:avLst>
          </a:prstGeom>
          <a:solidFill>
            <a:srgbClr val="F3F5F8"/>
          </a:solidFill>
          <a:ln/>
        </p:spPr>
      </p:sp>
      <p:sp>
        <p:nvSpPr>
          <p:cNvPr id="20" name="Shape 18"/>
          <p:cNvSpPr/>
          <p:nvPr/>
        </p:nvSpPr>
        <p:spPr>
          <a:xfrm>
            <a:off x="4595267" y="1836390"/>
            <a:ext cx="548680" cy="0"/>
          </a:xfrm>
          <a:prstGeom prst="line">
            <a:avLst/>
          </a:prstGeom>
          <a:noFill/>
          <a:ln w="12700">
            <a:solidFill>
              <a:srgbClr val="AEB8C5"/>
            </a:solidFill>
            <a:prstDash val="solid"/>
          </a:ln>
        </p:spPr>
      </p:sp>
      <p:sp>
        <p:nvSpPr>
          <p:cNvPr id="21" name="Shape 19"/>
          <p:cNvSpPr/>
          <p:nvPr/>
        </p:nvSpPr>
        <p:spPr>
          <a:xfrm>
            <a:off x="5137596" y="1830040"/>
            <a:ext cx="0" cy="350490"/>
          </a:xfrm>
          <a:prstGeom prst="line">
            <a:avLst/>
          </a:prstGeom>
          <a:noFill/>
          <a:ln w="12700">
            <a:solidFill>
              <a:srgbClr val="AEB8C5"/>
            </a:solidFill>
            <a:prstDash val="solid"/>
          </a:ln>
        </p:spPr>
      </p:sp>
      <p:sp>
        <p:nvSpPr>
          <p:cNvPr id="22" name="Shape 20"/>
          <p:cNvSpPr/>
          <p:nvPr/>
        </p:nvSpPr>
        <p:spPr>
          <a:xfrm>
            <a:off x="4595267" y="2161480"/>
            <a:ext cx="548680" cy="0"/>
          </a:xfrm>
          <a:prstGeom prst="line">
            <a:avLst/>
          </a:prstGeom>
          <a:noFill/>
          <a:ln w="38100">
            <a:solidFill>
              <a:srgbClr val="AEB8C5"/>
            </a:solidFill>
            <a:prstDash val="solid"/>
          </a:ln>
        </p:spPr>
      </p:sp>
      <p:sp>
        <p:nvSpPr>
          <p:cNvPr id="23" name="Shape 21"/>
          <p:cNvSpPr/>
          <p:nvPr/>
        </p:nvSpPr>
        <p:spPr>
          <a:xfrm>
            <a:off x="4601617" y="1830040"/>
            <a:ext cx="0" cy="350490"/>
          </a:xfrm>
          <a:prstGeom prst="line">
            <a:avLst/>
          </a:prstGeom>
          <a:noFill/>
          <a:ln w="12700">
            <a:solidFill>
              <a:srgbClr val="AEB8C5"/>
            </a:solidFill>
            <a:prstDash val="solid"/>
          </a:ln>
        </p:spPr>
      </p:sp>
      <p:sp>
        <p:nvSpPr>
          <p:cNvPr id="24" name="Text 22"/>
          <p:cNvSpPr/>
          <p:nvPr/>
        </p:nvSpPr>
        <p:spPr>
          <a:xfrm>
            <a:off x="4709567" y="186814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25" name="Text 23"/>
          <p:cNvSpPr/>
          <p:nvPr/>
        </p:nvSpPr>
        <p:spPr>
          <a:xfrm>
            <a:off x="5207446" y="188084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26" name="Shape 24"/>
          <p:cNvSpPr/>
          <p:nvPr/>
        </p:nvSpPr>
        <p:spPr>
          <a:xfrm>
            <a:off x="5378004" y="1830040"/>
            <a:ext cx="335310" cy="350490"/>
          </a:xfrm>
          <a:prstGeom prst="roundRect">
            <a:avLst>
              <a:gd name="adj" fmla="val 18938"/>
            </a:avLst>
          </a:prstGeom>
          <a:solidFill>
            <a:srgbClr val="F3F5F8"/>
          </a:solidFill>
          <a:ln/>
        </p:spPr>
      </p:sp>
      <p:sp>
        <p:nvSpPr>
          <p:cNvPr id="27" name="Shape 25"/>
          <p:cNvSpPr/>
          <p:nvPr/>
        </p:nvSpPr>
        <p:spPr>
          <a:xfrm>
            <a:off x="5378004" y="1836390"/>
            <a:ext cx="335310" cy="0"/>
          </a:xfrm>
          <a:prstGeom prst="line">
            <a:avLst/>
          </a:prstGeom>
          <a:noFill/>
          <a:ln w="12700">
            <a:solidFill>
              <a:srgbClr val="AEB8C5"/>
            </a:solidFill>
            <a:prstDash val="solid"/>
          </a:ln>
        </p:spPr>
      </p:sp>
      <p:sp>
        <p:nvSpPr>
          <p:cNvPr id="28" name="Shape 26"/>
          <p:cNvSpPr/>
          <p:nvPr/>
        </p:nvSpPr>
        <p:spPr>
          <a:xfrm>
            <a:off x="5706963" y="1830040"/>
            <a:ext cx="0" cy="350490"/>
          </a:xfrm>
          <a:prstGeom prst="line">
            <a:avLst/>
          </a:prstGeom>
          <a:noFill/>
          <a:ln w="12700">
            <a:solidFill>
              <a:srgbClr val="AEB8C5"/>
            </a:solidFill>
            <a:prstDash val="solid"/>
          </a:ln>
        </p:spPr>
      </p:sp>
      <p:sp>
        <p:nvSpPr>
          <p:cNvPr id="29" name="Shape 27"/>
          <p:cNvSpPr/>
          <p:nvPr/>
        </p:nvSpPr>
        <p:spPr>
          <a:xfrm>
            <a:off x="5378004" y="2161480"/>
            <a:ext cx="335310" cy="0"/>
          </a:xfrm>
          <a:prstGeom prst="line">
            <a:avLst/>
          </a:prstGeom>
          <a:noFill/>
          <a:ln w="38100">
            <a:solidFill>
              <a:srgbClr val="AEB8C5"/>
            </a:solidFill>
            <a:prstDash val="solid"/>
          </a:ln>
        </p:spPr>
      </p:sp>
      <p:sp>
        <p:nvSpPr>
          <p:cNvPr id="30" name="Shape 28"/>
          <p:cNvSpPr/>
          <p:nvPr/>
        </p:nvSpPr>
        <p:spPr>
          <a:xfrm>
            <a:off x="5384354" y="1830040"/>
            <a:ext cx="0" cy="350490"/>
          </a:xfrm>
          <a:prstGeom prst="line">
            <a:avLst/>
          </a:prstGeom>
          <a:noFill/>
          <a:ln w="12700">
            <a:solidFill>
              <a:srgbClr val="AEB8C5"/>
            </a:solidFill>
            <a:prstDash val="solid"/>
          </a:ln>
        </p:spPr>
      </p:sp>
      <p:sp>
        <p:nvSpPr>
          <p:cNvPr id="31" name="Text 29"/>
          <p:cNvSpPr/>
          <p:nvPr/>
        </p:nvSpPr>
        <p:spPr>
          <a:xfrm>
            <a:off x="5492304" y="186814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E</a:t>
            </a:r>
            <a:endParaRPr lang="en-US" sz="1400" dirty="0"/>
          </a:p>
        </p:txBody>
      </p:sp>
      <p:sp>
        <p:nvSpPr>
          <p:cNvPr id="32" name="Text 30"/>
          <p:cNvSpPr/>
          <p:nvPr/>
        </p:nvSpPr>
        <p:spPr>
          <a:xfrm>
            <a:off x="4595267" y="2282130"/>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Open File Explorer</a:t>
            </a:r>
            <a:endParaRPr lang="en-US" sz="1500" dirty="0"/>
          </a:p>
        </p:txBody>
      </p:sp>
      <p:sp>
        <p:nvSpPr>
          <p:cNvPr id="33" name="Shape 31"/>
          <p:cNvSpPr/>
          <p:nvPr/>
        </p:nvSpPr>
        <p:spPr>
          <a:xfrm>
            <a:off x="7961809" y="1623665"/>
            <a:ext cx="3414216" cy="1131540"/>
          </a:xfrm>
          <a:prstGeom prst="roundRect">
            <a:avLst>
              <a:gd name="adj" fmla="val 8698"/>
            </a:avLst>
          </a:prstGeom>
          <a:solidFill>
            <a:srgbClr val="FCFDFE"/>
          </a:solidFill>
          <a:ln w="6350">
            <a:solidFill>
              <a:srgbClr val="D6DCE4"/>
            </a:solidFill>
            <a:prstDash val="solid"/>
          </a:ln>
        </p:spPr>
      </p:sp>
      <p:sp>
        <p:nvSpPr>
          <p:cNvPr id="34" name="Shape 32"/>
          <p:cNvSpPr/>
          <p:nvPr/>
        </p:nvSpPr>
        <p:spPr>
          <a:xfrm>
            <a:off x="8168184" y="1830040"/>
            <a:ext cx="548680" cy="350490"/>
          </a:xfrm>
          <a:prstGeom prst="roundRect">
            <a:avLst>
              <a:gd name="adj" fmla="val 18117"/>
            </a:avLst>
          </a:prstGeom>
          <a:solidFill>
            <a:srgbClr val="F3F5F8"/>
          </a:solidFill>
          <a:ln/>
        </p:spPr>
      </p:sp>
      <p:sp>
        <p:nvSpPr>
          <p:cNvPr id="35" name="Shape 33"/>
          <p:cNvSpPr/>
          <p:nvPr/>
        </p:nvSpPr>
        <p:spPr>
          <a:xfrm>
            <a:off x="8168184" y="1836390"/>
            <a:ext cx="548680" cy="0"/>
          </a:xfrm>
          <a:prstGeom prst="line">
            <a:avLst/>
          </a:prstGeom>
          <a:noFill/>
          <a:ln w="12700">
            <a:solidFill>
              <a:srgbClr val="AEB8C5"/>
            </a:solidFill>
            <a:prstDash val="solid"/>
          </a:ln>
        </p:spPr>
      </p:sp>
      <p:sp>
        <p:nvSpPr>
          <p:cNvPr id="36" name="Shape 34"/>
          <p:cNvSpPr/>
          <p:nvPr/>
        </p:nvSpPr>
        <p:spPr>
          <a:xfrm>
            <a:off x="8710513" y="1830040"/>
            <a:ext cx="0" cy="350490"/>
          </a:xfrm>
          <a:prstGeom prst="line">
            <a:avLst/>
          </a:prstGeom>
          <a:noFill/>
          <a:ln w="12700">
            <a:solidFill>
              <a:srgbClr val="AEB8C5"/>
            </a:solidFill>
            <a:prstDash val="solid"/>
          </a:ln>
        </p:spPr>
      </p:sp>
      <p:sp>
        <p:nvSpPr>
          <p:cNvPr id="37" name="Shape 35"/>
          <p:cNvSpPr/>
          <p:nvPr/>
        </p:nvSpPr>
        <p:spPr>
          <a:xfrm>
            <a:off x="8168184" y="2161480"/>
            <a:ext cx="548680" cy="0"/>
          </a:xfrm>
          <a:prstGeom prst="line">
            <a:avLst/>
          </a:prstGeom>
          <a:noFill/>
          <a:ln w="38100">
            <a:solidFill>
              <a:srgbClr val="AEB8C5"/>
            </a:solidFill>
            <a:prstDash val="solid"/>
          </a:ln>
        </p:spPr>
      </p:sp>
      <p:sp>
        <p:nvSpPr>
          <p:cNvPr id="38" name="Shape 36"/>
          <p:cNvSpPr/>
          <p:nvPr/>
        </p:nvSpPr>
        <p:spPr>
          <a:xfrm>
            <a:off x="8174534" y="1830040"/>
            <a:ext cx="0" cy="350490"/>
          </a:xfrm>
          <a:prstGeom prst="line">
            <a:avLst/>
          </a:prstGeom>
          <a:noFill/>
          <a:ln w="12700">
            <a:solidFill>
              <a:srgbClr val="AEB8C5"/>
            </a:solidFill>
            <a:prstDash val="solid"/>
          </a:ln>
        </p:spPr>
      </p:sp>
      <p:sp>
        <p:nvSpPr>
          <p:cNvPr id="39" name="Text 37"/>
          <p:cNvSpPr/>
          <p:nvPr/>
        </p:nvSpPr>
        <p:spPr>
          <a:xfrm>
            <a:off x="8282484" y="186814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40" name="Text 38"/>
          <p:cNvSpPr/>
          <p:nvPr/>
        </p:nvSpPr>
        <p:spPr>
          <a:xfrm>
            <a:off x="8780363" y="188084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41" name="Shape 39"/>
          <p:cNvSpPr/>
          <p:nvPr/>
        </p:nvSpPr>
        <p:spPr>
          <a:xfrm>
            <a:off x="8950920" y="1830040"/>
            <a:ext cx="335310" cy="350490"/>
          </a:xfrm>
          <a:prstGeom prst="roundRect">
            <a:avLst>
              <a:gd name="adj" fmla="val 18938"/>
            </a:avLst>
          </a:prstGeom>
          <a:solidFill>
            <a:srgbClr val="F3F5F8"/>
          </a:solidFill>
          <a:ln/>
        </p:spPr>
      </p:sp>
      <p:sp>
        <p:nvSpPr>
          <p:cNvPr id="42" name="Shape 40"/>
          <p:cNvSpPr/>
          <p:nvPr/>
        </p:nvSpPr>
        <p:spPr>
          <a:xfrm>
            <a:off x="8950920" y="1836390"/>
            <a:ext cx="335310" cy="0"/>
          </a:xfrm>
          <a:prstGeom prst="line">
            <a:avLst/>
          </a:prstGeom>
          <a:noFill/>
          <a:ln w="12700">
            <a:solidFill>
              <a:srgbClr val="AEB8C5"/>
            </a:solidFill>
            <a:prstDash val="solid"/>
          </a:ln>
        </p:spPr>
      </p:sp>
      <p:sp>
        <p:nvSpPr>
          <p:cNvPr id="43" name="Shape 41"/>
          <p:cNvSpPr/>
          <p:nvPr/>
        </p:nvSpPr>
        <p:spPr>
          <a:xfrm>
            <a:off x="9279880" y="1830040"/>
            <a:ext cx="0" cy="350490"/>
          </a:xfrm>
          <a:prstGeom prst="line">
            <a:avLst/>
          </a:prstGeom>
          <a:noFill/>
          <a:ln w="12700">
            <a:solidFill>
              <a:srgbClr val="AEB8C5"/>
            </a:solidFill>
            <a:prstDash val="solid"/>
          </a:ln>
        </p:spPr>
      </p:sp>
      <p:sp>
        <p:nvSpPr>
          <p:cNvPr id="44" name="Shape 42"/>
          <p:cNvSpPr/>
          <p:nvPr/>
        </p:nvSpPr>
        <p:spPr>
          <a:xfrm>
            <a:off x="8950920" y="2161480"/>
            <a:ext cx="335310" cy="0"/>
          </a:xfrm>
          <a:prstGeom prst="line">
            <a:avLst/>
          </a:prstGeom>
          <a:noFill/>
          <a:ln w="38100">
            <a:solidFill>
              <a:srgbClr val="AEB8C5"/>
            </a:solidFill>
            <a:prstDash val="solid"/>
          </a:ln>
        </p:spPr>
      </p:sp>
      <p:sp>
        <p:nvSpPr>
          <p:cNvPr id="45" name="Shape 43"/>
          <p:cNvSpPr/>
          <p:nvPr/>
        </p:nvSpPr>
        <p:spPr>
          <a:xfrm>
            <a:off x="8957270" y="1830040"/>
            <a:ext cx="0" cy="350490"/>
          </a:xfrm>
          <a:prstGeom prst="line">
            <a:avLst/>
          </a:prstGeom>
          <a:noFill/>
          <a:ln w="12700">
            <a:solidFill>
              <a:srgbClr val="AEB8C5"/>
            </a:solidFill>
            <a:prstDash val="solid"/>
          </a:ln>
        </p:spPr>
      </p:sp>
      <p:sp>
        <p:nvSpPr>
          <p:cNvPr id="46" name="Text 44"/>
          <p:cNvSpPr/>
          <p:nvPr/>
        </p:nvSpPr>
        <p:spPr>
          <a:xfrm>
            <a:off x="9065220" y="186814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I</a:t>
            </a:r>
            <a:endParaRPr lang="en-US" sz="1400" dirty="0"/>
          </a:p>
        </p:txBody>
      </p:sp>
      <p:sp>
        <p:nvSpPr>
          <p:cNvPr id="47" name="Text 45"/>
          <p:cNvSpPr/>
          <p:nvPr/>
        </p:nvSpPr>
        <p:spPr>
          <a:xfrm>
            <a:off x="8168184" y="2282130"/>
            <a:ext cx="30915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Open Settings</a:t>
            </a:r>
            <a:endParaRPr lang="en-US" sz="1500" dirty="0"/>
          </a:p>
        </p:txBody>
      </p:sp>
      <p:sp>
        <p:nvSpPr>
          <p:cNvPr id="48" name="Shape 46"/>
          <p:cNvSpPr/>
          <p:nvPr/>
        </p:nvSpPr>
        <p:spPr>
          <a:xfrm>
            <a:off x="815975" y="2913955"/>
            <a:ext cx="3414167" cy="1131540"/>
          </a:xfrm>
          <a:prstGeom prst="roundRect">
            <a:avLst>
              <a:gd name="adj" fmla="val 8698"/>
            </a:avLst>
          </a:prstGeom>
          <a:solidFill>
            <a:srgbClr val="FCFDFE"/>
          </a:solidFill>
          <a:ln w="6350">
            <a:solidFill>
              <a:srgbClr val="D6DCE4"/>
            </a:solidFill>
            <a:prstDash val="solid"/>
          </a:ln>
        </p:spPr>
      </p:sp>
      <p:sp>
        <p:nvSpPr>
          <p:cNvPr id="49" name="Shape 47"/>
          <p:cNvSpPr/>
          <p:nvPr/>
        </p:nvSpPr>
        <p:spPr>
          <a:xfrm>
            <a:off x="1022350" y="3120330"/>
            <a:ext cx="548680" cy="350490"/>
          </a:xfrm>
          <a:prstGeom prst="roundRect">
            <a:avLst>
              <a:gd name="adj" fmla="val 18117"/>
            </a:avLst>
          </a:prstGeom>
          <a:solidFill>
            <a:srgbClr val="F3F5F8"/>
          </a:solidFill>
          <a:ln/>
        </p:spPr>
      </p:sp>
      <p:sp>
        <p:nvSpPr>
          <p:cNvPr id="50" name="Shape 48"/>
          <p:cNvSpPr/>
          <p:nvPr/>
        </p:nvSpPr>
        <p:spPr>
          <a:xfrm>
            <a:off x="1022350" y="3126680"/>
            <a:ext cx="548680" cy="0"/>
          </a:xfrm>
          <a:prstGeom prst="line">
            <a:avLst/>
          </a:prstGeom>
          <a:noFill/>
          <a:ln w="12700">
            <a:solidFill>
              <a:srgbClr val="AEB8C5"/>
            </a:solidFill>
            <a:prstDash val="solid"/>
          </a:ln>
        </p:spPr>
      </p:sp>
      <p:sp>
        <p:nvSpPr>
          <p:cNvPr id="51" name="Shape 49"/>
          <p:cNvSpPr/>
          <p:nvPr/>
        </p:nvSpPr>
        <p:spPr>
          <a:xfrm>
            <a:off x="1564680" y="3120330"/>
            <a:ext cx="0" cy="350490"/>
          </a:xfrm>
          <a:prstGeom prst="line">
            <a:avLst/>
          </a:prstGeom>
          <a:noFill/>
          <a:ln w="12700">
            <a:solidFill>
              <a:srgbClr val="AEB8C5"/>
            </a:solidFill>
            <a:prstDash val="solid"/>
          </a:ln>
        </p:spPr>
      </p:sp>
      <p:sp>
        <p:nvSpPr>
          <p:cNvPr id="52" name="Shape 50"/>
          <p:cNvSpPr/>
          <p:nvPr/>
        </p:nvSpPr>
        <p:spPr>
          <a:xfrm>
            <a:off x="1022350" y="3451771"/>
            <a:ext cx="548680" cy="0"/>
          </a:xfrm>
          <a:prstGeom prst="line">
            <a:avLst/>
          </a:prstGeom>
          <a:noFill/>
          <a:ln w="38100">
            <a:solidFill>
              <a:srgbClr val="AEB8C5"/>
            </a:solidFill>
            <a:prstDash val="solid"/>
          </a:ln>
        </p:spPr>
      </p:sp>
      <p:sp>
        <p:nvSpPr>
          <p:cNvPr id="53" name="Shape 51"/>
          <p:cNvSpPr/>
          <p:nvPr/>
        </p:nvSpPr>
        <p:spPr>
          <a:xfrm>
            <a:off x="1028700" y="3120330"/>
            <a:ext cx="0" cy="350490"/>
          </a:xfrm>
          <a:prstGeom prst="line">
            <a:avLst/>
          </a:prstGeom>
          <a:noFill/>
          <a:ln w="12700">
            <a:solidFill>
              <a:srgbClr val="AEB8C5"/>
            </a:solidFill>
            <a:prstDash val="solid"/>
          </a:ln>
        </p:spPr>
      </p:sp>
      <p:sp>
        <p:nvSpPr>
          <p:cNvPr id="54" name="Text 52"/>
          <p:cNvSpPr/>
          <p:nvPr/>
        </p:nvSpPr>
        <p:spPr>
          <a:xfrm>
            <a:off x="1136650" y="315843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55" name="Text 53"/>
          <p:cNvSpPr/>
          <p:nvPr/>
        </p:nvSpPr>
        <p:spPr>
          <a:xfrm>
            <a:off x="1634530" y="317113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56" name="Shape 54"/>
          <p:cNvSpPr/>
          <p:nvPr/>
        </p:nvSpPr>
        <p:spPr>
          <a:xfrm>
            <a:off x="1805087" y="3120330"/>
            <a:ext cx="335310" cy="350490"/>
          </a:xfrm>
          <a:prstGeom prst="roundRect">
            <a:avLst>
              <a:gd name="adj" fmla="val 18938"/>
            </a:avLst>
          </a:prstGeom>
          <a:solidFill>
            <a:srgbClr val="F3F5F8"/>
          </a:solidFill>
          <a:ln/>
        </p:spPr>
      </p:sp>
      <p:sp>
        <p:nvSpPr>
          <p:cNvPr id="57" name="Shape 55"/>
          <p:cNvSpPr/>
          <p:nvPr/>
        </p:nvSpPr>
        <p:spPr>
          <a:xfrm>
            <a:off x="1805087" y="3126680"/>
            <a:ext cx="335310" cy="0"/>
          </a:xfrm>
          <a:prstGeom prst="line">
            <a:avLst/>
          </a:prstGeom>
          <a:noFill/>
          <a:ln w="12700">
            <a:solidFill>
              <a:srgbClr val="AEB8C5"/>
            </a:solidFill>
            <a:prstDash val="solid"/>
          </a:ln>
        </p:spPr>
      </p:sp>
      <p:sp>
        <p:nvSpPr>
          <p:cNvPr id="58" name="Shape 56"/>
          <p:cNvSpPr/>
          <p:nvPr/>
        </p:nvSpPr>
        <p:spPr>
          <a:xfrm>
            <a:off x="2134046" y="3120330"/>
            <a:ext cx="0" cy="350490"/>
          </a:xfrm>
          <a:prstGeom prst="line">
            <a:avLst/>
          </a:prstGeom>
          <a:noFill/>
          <a:ln w="12700">
            <a:solidFill>
              <a:srgbClr val="AEB8C5"/>
            </a:solidFill>
            <a:prstDash val="solid"/>
          </a:ln>
        </p:spPr>
      </p:sp>
      <p:sp>
        <p:nvSpPr>
          <p:cNvPr id="59" name="Shape 57"/>
          <p:cNvSpPr/>
          <p:nvPr/>
        </p:nvSpPr>
        <p:spPr>
          <a:xfrm>
            <a:off x="1805087" y="3451771"/>
            <a:ext cx="335310" cy="0"/>
          </a:xfrm>
          <a:prstGeom prst="line">
            <a:avLst/>
          </a:prstGeom>
          <a:noFill/>
          <a:ln w="38100">
            <a:solidFill>
              <a:srgbClr val="AEB8C5"/>
            </a:solidFill>
            <a:prstDash val="solid"/>
          </a:ln>
        </p:spPr>
      </p:sp>
      <p:sp>
        <p:nvSpPr>
          <p:cNvPr id="60" name="Shape 58"/>
          <p:cNvSpPr/>
          <p:nvPr/>
        </p:nvSpPr>
        <p:spPr>
          <a:xfrm>
            <a:off x="1811437" y="3120330"/>
            <a:ext cx="0" cy="350490"/>
          </a:xfrm>
          <a:prstGeom prst="line">
            <a:avLst/>
          </a:prstGeom>
          <a:noFill/>
          <a:ln w="12700">
            <a:solidFill>
              <a:srgbClr val="AEB8C5"/>
            </a:solidFill>
            <a:prstDash val="solid"/>
          </a:ln>
        </p:spPr>
      </p:sp>
      <p:sp>
        <p:nvSpPr>
          <p:cNvPr id="61" name="Text 59"/>
          <p:cNvSpPr/>
          <p:nvPr/>
        </p:nvSpPr>
        <p:spPr>
          <a:xfrm>
            <a:off x="1919387" y="315843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S</a:t>
            </a:r>
            <a:endParaRPr lang="en-US" sz="1400" dirty="0"/>
          </a:p>
        </p:txBody>
      </p:sp>
      <p:sp>
        <p:nvSpPr>
          <p:cNvPr id="62" name="Text 60"/>
          <p:cNvSpPr/>
          <p:nvPr/>
        </p:nvSpPr>
        <p:spPr>
          <a:xfrm>
            <a:off x="1022350" y="3572421"/>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Search apps, files, and the web</a:t>
            </a:r>
            <a:endParaRPr lang="en-US" sz="1500" dirty="0"/>
          </a:p>
        </p:txBody>
      </p:sp>
      <p:sp>
        <p:nvSpPr>
          <p:cNvPr id="63" name="Shape 61"/>
          <p:cNvSpPr/>
          <p:nvPr/>
        </p:nvSpPr>
        <p:spPr>
          <a:xfrm>
            <a:off x="4388892" y="2913955"/>
            <a:ext cx="3414167" cy="1131540"/>
          </a:xfrm>
          <a:prstGeom prst="roundRect">
            <a:avLst>
              <a:gd name="adj" fmla="val 8698"/>
            </a:avLst>
          </a:prstGeom>
          <a:solidFill>
            <a:srgbClr val="FCFDFE"/>
          </a:solidFill>
          <a:ln w="6350">
            <a:solidFill>
              <a:srgbClr val="D6DCE4"/>
            </a:solidFill>
            <a:prstDash val="solid"/>
          </a:ln>
        </p:spPr>
      </p:sp>
      <p:sp>
        <p:nvSpPr>
          <p:cNvPr id="64" name="Shape 62"/>
          <p:cNvSpPr/>
          <p:nvPr/>
        </p:nvSpPr>
        <p:spPr>
          <a:xfrm>
            <a:off x="4595267" y="3120330"/>
            <a:ext cx="548680" cy="350490"/>
          </a:xfrm>
          <a:prstGeom prst="roundRect">
            <a:avLst>
              <a:gd name="adj" fmla="val 18117"/>
            </a:avLst>
          </a:prstGeom>
          <a:solidFill>
            <a:srgbClr val="F3F5F8"/>
          </a:solidFill>
          <a:ln/>
        </p:spPr>
      </p:sp>
      <p:sp>
        <p:nvSpPr>
          <p:cNvPr id="65" name="Shape 63"/>
          <p:cNvSpPr/>
          <p:nvPr/>
        </p:nvSpPr>
        <p:spPr>
          <a:xfrm>
            <a:off x="4595267" y="3126680"/>
            <a:ext cx="548680" cy="0"/>
          </a:xfrm>
          <a:prstGeom prst="line">
            <a:avLst/>
          </a:prstGeom>
          <a:noFill/>
          <a:ln w="12700">
            <a:solidFill>
              <a:srgbClr val="AEB8C5"/>
            </a:solidFill>
            <a:prstDash val="solid"/>
          </a:ln>
        </p:spPr>
      </p:sp>
      <p:sp>
        <p:nvSpPr>
          <p:cNvPr id="66" name="Shape 64"/>
          <p:cNvSpPr/>
          <p:nvPr/>
        </p:nvSpPr>
        <p:spPr>
          <a:xfrm>
            <a:off x="5137596" y="3120330"/>
            <a:ext cx="0" cy="350490"/>
          </a:xfrm>
          <a:prstGeom prst="line">
            <a:avLst/>
          </a:prstGeom>
          <a:noFill/>
          <a:ln w="12700">
            <a:solidFill>
              <a:srgbClr val="AEB8C5"/>
            </a:solidFill>
            <a:prstDash val="solid"/>
          </a:ln>
        </p:spPr>
      </p:sp>
      <p:sp>
        <p:nvSpPr>
          <p:cNvPr id="67" name="Shape 65"/>
          <p:cNvSpPr/>
          <p:nvPr/>
        </p:nvSpPr>
        <p:spPr>
          <a:xfrm>
            <a:off x="4595267" y="3451771"/>
            <a:ext cx="548680" cy="0"/>
          </a:xfrm>
          <a:prstGeom prst="line">
            <a:avLst/>
          </a:prstGeom>
          <a:noFill/>
          <a:ln w="38100">
            <a:solidFill>
              <a:srgbClr val="AEB8C5"/>
            </a:solidFill>
            <a:prstDash val="solid"/>
          </a:ln>
        </p:spPr>
      </p:sp>
      <p:sp>
        <p:nvSpPr>
          <p:cNvPr id="68" name="Shape 66"/>
          <p:cNvSpPr/>
          <p:nvPr/>
        </p:nvSpPr>
        <p:spPr>
          <a:xfrm>
            <a:off x="4601617" y="3120330"/>
            <a:ext cx="0" cy="350490"/>
          </a:xfrm>
          <a:prstGeom prst="line">
            <a:avLst/>
          </a:prstGeom>
          <a:noFill/>
          <a:ln w="12700">
            <a:solidFill>
              <a:srgbClr val="AEB8C5"/>
            </a:solidFill>
            <a:prstDash val="solid"/>
          </a:ln>
        </p:spPr>
      </p:sp>
      <p:sp>
        <p:nvSpPr>
          <p:cNvPr id="69" name="Text 67"/>
          <p:cNvSpPr/>
          <p:nvPr/>
        </p:nvSpPr>
        <p:spPr>
          <a:xfrm>
            <a:off x="4709567" y="315843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70" name="Text 68"/>
          <p:cNvSpPr/>
          <p:nvPr/>
        </p:nvSpPr>
        <p:spPr>
          <a:xfrm>
            <a:off x="5207446" y="317113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71" name="Shape 69"/>
          <p:cNvSpPr/>
          <p:nvPr/>
        </p:nvSpPr>
        <p:spPr>
          <a:xfrm>
            <a:off x="5378004" y="3120330"/>
            <a:ext cx="335310" cy="350490"/>
          </a:xfrm>
          <a:prstGeom prst="roundRect">
            <a:avLst>
              <a:gd name="adj" fmla="val 18938"/>
            </a:avLst>
          </a:prstGeom>
          <a:solidFill>
            <a:srgbClr val="F3F5F8"/>
          </a:solidFill>
          <a:ln/>
        </p:spPr>
      </p:sp>
      <p:sp>
        <p:nvSpPr>
          <p:cNvPr id="72" name="Shape 70"/>
          <p:cNvSpPr/>
          <p:nvPr/>
        </p:nvSpPr>
        <p:spPr>
          <a:xfrm>
            <a:off x="5378004" y="3126680"/>
            <a:ext cx="335310" cy="0"/>
          </a:xfrm>
          <a:prstGeom prst="line">
            <a:avLst/>
          </a:prstGeom>
          <a:noFill/>
          <a:ln w="12700">
            <a:solidFill>
              <a:srgbClr val="AEB8C5"/>
            </a:solidFill>
            <a:prstDash val="solid"/>
          </a:ln>
        </p:spPr>
      </p:sp>
      <p:sp>
        <p:nvSpPr>
          <p:cNvPr id="73" name="Shape 71"/>
          <p:cNvSpPr/>
          <p:nvPr/>
        </p:nvSpPr>
        <p:spPr>
          <a:xfrm>
            <a:off x="5706963" y="3120330"/>
            <a:ext cx="0" cy="350490"/>
          </a:xfrm>
          <a:prstGeom prst="line">
            <a:avLst/>
          </a:prstGeom>
          <a:noFill/>
          <a:ln w="12700">
            <a:solidFill>
              <a:srgbClr val="AEB8C5"/>
            </a:solidFill>
            <a:prstDash val="solid"/>
          </a:ln>
        </p:spPr>
      </p:sp>
      <p:sp>
        <p:nvSpPr>
          <p:cNvPr id="74" name="Shape 72"/>
          <p:cNvSpPr/>
          <p:nvPr/>
        </p:nvSpPr>
        <p:spPr>
          <a:xfrm>
            <a:off x="5378004" y="3451771"/>
            <a:ext cx="335310" cy="0"/>
          </a:xfrm>
          <a:prstGeom prst="line">
            <a:avLst/>
          </a:prstGeom>
          <a:noFill/>
          <a:ln w="38100">
            <a:solidFill>
              <a:srgbClr val="AEB8C5"/>
            </a:solidFill>
            <a:prstDash val="solid"/>
          </a:ln>
        </p:spPr>
      </p:sp>
      <p:sp>
        <p:nvSpPr>
          <p:cNvPr id="75" name="Shape 73"/>
          <p:cNvSpPr/>
          <p:nvPr/>
        </p:nvSpPr>
        <p:spPr>
          <a:xfrm>
            <a:off x="5384354" y="3120330"/>
            <a:ext cx="0" cy="350490"/>
          </a:xfrm>
          <a:prstGeom prst="line">
            <a:avLst/>
          </a:prstGeom>
          <a:noFill/>
          <a:ln w="12700">
            <a:solidFill>
              <a:srgbClr val="AEB8C5"/>
            </a:solidFill>
            <a:prstDash val="solid"/>
          </a:ln>
        </p:spPr>
      </p:sp>
      <p:sp>
        <p:nvSpPr>
          <p:cNvPr id="76" name="Text 74"/>
          <p:cNvSpPr/>
          <p:nvPr/>
        </p:nvSpPr>
        <p:spPr>
          <a:xfrm>
            <a:off x="5492304" y="315843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A</a:t>
            </a:r>
            <a:endParaRPr lang="en-US" sz="1400" dirty="0"/>
          </a:p>
        </p:txBody>
      </p:sp>
      <p:sp>
        <p:nvSpPr>
          <p:cNvPr id="77" name="Text 75"/>
          <p:cNvSpPr/>
          <p:nvPr/>
        </p:nvSpPr>
        <p:spPr>
          <a:xfrm>
            <a:off x="4595267" y="3572421"/>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Quick Settings</a:t>
            </a:r>
            <a:endParaRPr lang="en-US" sz="1500" dirty="0"/>
          </a:p>
        </p:txBody>
      </p:sp>
      <p:sp>
        <p:nvSpPr>
          <p:cNvPr id="78" name="Shape 76"/>
          <p:cNvSpPr/>
          <p:nvPr/>
        </p:nvSpPr>
        <p:spPr>
          <a:xfrm>
            <a:off x="7961809" y="2913955"/>
            <a:ext cx="3414216" cy="1131540"/>
          </a:xfrm>
          <a:prstGeom prst="roundRect">
            <a:avLst>
              <a:gd name="adj" fmla="val 8698"/>
            </a:avLst>
          </a:prstGeom>
          <a:solidFill>
            <a:srgbClr val="FCFDFE"/>
          </a:solidFill>
          <a:ln w="6350">
            <a:solidFill>
              <a:srgbClr val="D6DCE4"/>
            </a:solidFill>
            <a:prstDash val="solid"/>
          </a:ln>
        </p:spPr>
      </p:sp>
      <p:sp>
        <p:nvSpPr>
          <p:cNvPr id="79" name="Shape 77"/>
          <p:cNvSpPr/>
          <p:nvPr/>
        </p:nvSpPr>
        <p:spPr>
          <a:xfrm>
            <a:off x="8168184" y="3120330"/>
            <a:ext cx="548680" cy="350490"/>
          </a:xfrm>
          <a:prstGeom prst="roundRect">
            <a:avLst>
              <a:gd name="adj" fmla="val 18117"/>
            </a:avLst>
          </a:prstGeom>
          <a:solidFill>
            <a:srgbClr val="F3F5F8"/>
          </a:solidFill>
          <a:ln/>
        </p:spPr>
      </p:sp>
      <p:sp>
        <p:nvSpPr>
          <p:cNvPr id="80" name="Shape 78"/>
          <p:cNvSpPr/>
          <p:nvPr/>
        </p:nvSpPr>
        <p:spPr>
          <a:xfrm>
            <a:off x="8168184" y="3126680"/>
            <a:ext cx="548680" cy="0"/>
          </a:xfrm>
          <a:prstGeom prst="line">
            <a:avLst/>
          </a:prstGeom>
          <a:noFill/>
          <a:ln w="12700">
            <a:solidFill>
              <a:srgbClr val="AEB8C5"/>
            </a:solidFill>
            <a:prstDash val="solid"/>
          </a:ln>
        </p:spPr>
      </p:sp>
      <p:sp>
        <p:nvSpPr>
          <p:cNvPr id="81" name="Shape 79"/>
          <p:cNvSpPr/>
          <p:nvPr/>
        </p:nvSpPr>
        <p:spPr>
          <a:xfrm>
            <a:off x="8710513" y="3120330"/>
            <a:ext cx="0" cy="350490"/>
          </a:xfrm>
          <a:prstGeom prst="line">
            <a:avLst/>
          </a:prstGeom>
          <a:noFill/>
          <a:ln w="12700">
            <a:solidFill>
              <a:srgbClr val="AEB8C5"/>
            </a:solidFill>
            <a:prstDash val="solid"/>
          </a:ln>
        </p:spPr>
      </p:sp>
      <p:sp>
        <p:nvSpPr>
          <p:cNvPr id="82" name="Shape 80"/>
          <p:cNvSpPr/>
          <p:nvPr/>
        </p:nvSpPr>
        <p:spPr>
          <a:xfrm>
            <a:off x="8168184" y="3451771"/>
            <a:ext cx="548680" cy="0"/>
          </a:xfrm>
          <a:prstGeom prst="line">
            <a:avLst/>
          </a:prstGeom>
          <a:noFill/>
          <a:ln w="38100">
            <a:solidFill>
              <a:srgbClr val="AEB8C5"/>
            </a:solidFill>
            <a:prstDash val="solid"/>
          </a:ln>
        </p:spPr>
      </p:sp>
      <p:sp>
        <p:nvSpPr>
          <p:cNvPr id="83" name="Shape 81"/>
          <p:cNvSpPr/>
          <p:nvPr/>
        </p:nvSpPr>
        <p:spPr>
          <a:xfrm>
            <a:off x="8174534" y="3120330"/>
            <a:ext cx="0" cy="350490"/>
          </a:xfrm>
          <a:prstGeom prst="line">
            <a:avLst/>
          </a:prstGeom>
          <a:noFill/>
          <a:ln w="12700">
            <a:solidFill>
              <a:srgbClr val="AEB8C5"/>
            </a:solidFill>
            <a:prstDash val="solid"/>
          </a:ln>
        </p:spPr>
      </p:sp>
      <p:sp>
        <p:nvSpPr>
          <p:cNvPr id="84" name="Text 82"/>
          <p:cNvSpPr/>
          <p:nvPr/>
        </p:nvSpPr>
        <p:spPr>
          <a:xfrm>
            <a:off x="8282484" y="315843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85" name="Text 83"/>
          <p:cNvSpPr/>
          <p:nvPr/>
        </p:nvSpPr>
        <p:spPr>
          <a:xfrm>
            <a:off x="8780363" y="317113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86" name="Shape 84"/>
          <p:cNvSpPr/>
          <p:nvPr/>
        </p:nvSpPr>
        <p:spPr>
          <a:xfrm>
            <a:off x="8950920" y="3120330"/>
            <a:ext cx="335310" cy="350490"/>
          </a:xfrm>
          <a:prstGeom prst="roundRect">
            <a:avLst>
              <a:gd name="adj" fmla="val 18938"/>
            </a:avLst>
          </a:prstGeom>
          <a:solidFill>
            <a:srgbClr val="F3F5F8"/>
          </a:solidFill>
          <a:ln/>
        </p:spPr>
      </p:sp>
      <p:sp>
        <p:nvSpPr>
          <p:cNvPr id="87" name="Shape 85"/>
          <p:cNvSpPr/>
          <p:nvPr/>
        </p:nvSpPr>
        <p:spPr>
          <a:xfrm>
            <a:off x="8950920" y="3126680"/>
            <a:ext cx="335310" cy="0"/>
          </a:xfrm>
          <a:prstGeom prst="line">
            <a:avLst/>
          </a:prstGeom>
          <a:noFill/>
          <a:ln w="12700">
            <a:solidFill>
              <a:srgbClr val="AEB8C5"/>
            </a:solidFill>
            <a:prstDash val="solid"/>
          </a:ln>
        </p:spPr>
      </p:sp>
      <p:sp>
        <p:nvSpPr>
          <p:cNvPr id="88" name="Shape 86"/>
          <p:cNvSpPr/>
          <p:nvPr/>
        </p:nvSpPr>
        <p:spPr>
          <a:xfrm>
            <a:off x="9279880" y="3120330"/>
            <a:ext cx="0" cy="350490"/>
          </a:xfrm>
          <a:prstGeom prst="line">
            <a:avLst/>
          </a:prstGeom>
          <a:noFill/>
          <a:ln w="12700">
            <a:solidFill>
              <a:srgbClr val="AEB8C5"/>
            </a:solidFill>
            <a:prstDash val="solid"/>
          </a:ln>
        </p:spPr>
      </p:sp>
      <p:sp>
        <p:nvSpPr>
          <p:cNvPr id="89" name="Shape 87"/>
          <p:cNvSpPr/>
          <p:nvPr/>
        </p:nvSpPr>
        <p:spPr>
          <a:xfrm>
            <a:off x="8950920" y="3451771"/>
            <a:ext cx="335310" cy="0"/>
          </a:xfrm>
          <a:prstGeom prst="line">
            <a:avLst/>
          </a:prstGeom>
          <a:noFill/>
          <a:ln w="38100">
            <a:solidFill>
              <a:srgbClr val="AEB8C5"/>
            </a:solidFill>
            <a:prstDash val="solid"/>
          </a:ln>
        </p:spPr>
      </p:sp>
      <p:sp>
        <p:nvSpPr>
          <p:cNvPr id="90" name="Shape 88"/>
          <p:cNvSpPr/>
          <p:nvPr/>
        </p:nvSpPr>
        <p:spPr>
          <a:xfrm>
            <a:off x="8957270" y="3120330"/>
            <a:ext cx="0" cy="350490"/>
          </a:xfrm>
          <a:prstGeom prst="line">
            <a:avLst/>
          </a:prstGeom>
          <a:noFill/>
          <a:ln w="12700">
            <a:solidFill>
              <a:srgbClr val="AEB8C5"/>
            </a:solidFill>
            <a:prstDash val="solid"/>
          </a:ln>
        </p:spPr>
      </p:sp>
      <p:sp>
        <p:nvSpPr>
          <p:cNvPr id="91" name="Text 89"/>
          <p:cNvSpPr/>
          <p:nvPr/>
        </p:nvSpPr>
        <p:spPr>
          <a:xfrm>
            <a:off x="9065220" y="315843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N</a:t>
            </a:r>
            <a:endParaRPr lang="en-US" sz="1400" dirty="0"/>
          </a:p>
        </p:txBody>
      </p:sp>
      <p:sp>
        <p:nvSpPr>
          <p:cNvPr id="92" name="Text 90"/>
          <p:cNvSpPr/>
          <p:nvPr/>
        </p:nvSpPr>
        <p:spPr>
          <a:xfrm>
            <a:off x="8168184" y="3572421"/>
            <a:ext cx="30915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Notifications and calendar</a:t>
            </a:r>
            <a:endParaRPr lang="en-US" sz="1500" dirty="0"/>
          </a:p>
        </p:txBody>
      </p:sp>
      <p:sp>
        <p:nvSpPr>
          <p:cNvPr id="93" name="Shape 91"/>
          <p:cNvSpPr/>
          <p:nvPr/>
        </p:nvSpPr>
        <p:spPr>
          <a:xfrm>
            <a:off x="815975" y="4204246"/>
            <a:ext cx="3414167" cy="1131540"/>
          </a:xfrm>
          <a:prstGeom prst="roundRect">
            <a:avLst>
              <a:gd name="adj" fmla="val 8698"/>
            </a:avLst>
          </a:prstGeom>
          <a:solidFill>
            <a:srgbClr val="FCFDFE"/>
          </a:solidFill>
          <a:ln w="6350">
            <a:solidFill>
              <a:srgbClr val="D6DCE4"/>
            </a:solidFill>
            <a:prstDash val="solid"/>
          </a:ln>
        </p:spPr>
      </p:sp>
      <p:sp>
        <p:nvSpPr>
          <p:cNvPr id="94" name="Shape 92"/>
          <p:cNvSpPr/>
          <p:nvPr/>
        </p:nvSpPr>
        <p:spPr>
          <a:xfrm>
            <a:off x="1022350" y="4410621"/>
            <a:ext cx="548680" cy="350490"/>
          </a:xfrm>
          <a:prstGeom prst="roundRect">
            <a:avLst>
              <a:gd name="adj" fmla="val 18117"/>
            </a:avLst>
          </a:prstGeom>
          <a:solidFill>
            <a:srgbClr val="F3F5F8"/>
          </a:solidFill>
          <a:ln/>
        </p:spPr>
      </p:sp>
      <p:sp>
        <p:nvSpPr>
          <p:cNvPr id="95" name="Shape 93"/>
          <p:cNvSpPr/>
          <p:nvPr/>
        </p:nvSpPr>
        <p:spPr>
          <a:xfrm>
            <a:off x="1022350" y="4416971"/>
            <a:ext cx="548680" cy="0"/>
          </a:xfrm>
          <a:prstGeom prst="line">
            <a:avLst/>
          </a:prstGeom>
          <a:noFill/>
          <a:ln w="12700">
            <a:solidFill>
              <a:srgbClr val="AEB8C5"/>
            </a:solidFill>
            <a:prstDash val="solid"/>
          </a:ln>
        </p:spPr>
      </p:sp>
      <p:sp>
        <p:nvSpPr>
          <p:cNvPr id="96" name="Shape 94"/>
          <p:cNvSpPr/>
          <p:nvPr/>
        </p:nvSpPr>
        <p:spPr>
          <a:xfrm>
            <a:off x="1564680" y="4410621"/>
            <a:ext cx="0" cy="350490"/>
          </a:xfrm>
          <a:prstGeom prst="line">
            <a:avLst/>
          </a:prstGeom>
          <a:noFill/>
          <a:ln w="12700">
            <a:solidFill>
              <a:srgbClr val="AEB8C5"/>
            </a:solidFill>
            <a:prstDash val="solid"/>
          </a:ln>
        </p:spPr>
      </p:sp>
      <p:sp>
        <p:nvSpPr>
          <p:cNvPr id="97" name="Shape 95"/>
          <p:cNvSpPr/>
          <p:nvPr/>
        </p:nvSpPr>
        <p:spPr>
          <a:xfrm>
            <a:off x="1022350" y="4742061"/>
            <a:ext cx="548680" cy="0"/>
          </a:xfrm>
          <a:prstGeom prst="line">
            <a:avLst/>
          </a:prstGeom>
          <a:noFill/>
          <a:ln w="38100">
            <a:solidFill>
              <a:srgbClr val="AEB8C5"/>
            </a:solidFill>
            <a:prstDash val="solid"/>
          </a:ln>
        </p:spPr>
      </p:sp>
      <p:sp>
        <p:nvSpPr>
          <p:cNvPr id="98" name="Shape 96"/>
          <p:cNvSpPr/>
          <p:nvPr/>
        </p:nvSpPr>
        <p:spPr>
          <a:xfrm>
            <a:off x="1028700" y="4410621"/>
            <a:ext cx="0" cy="350490"/>
          </a:xfrm>
          <a:prstGeom prst="line">
            <a:avLst/>
          </a:prstGeom>
          <a:noFill/>
          <a:ln w="12700">
            <a:solidFill>
              <a:srgbClr val="AEB8C5"/>
            </a:solidFill>
            <a:prstDash val="solid"/>
          </a:ln>
        </p:spPr>
      </p:sp>
      <p:sp>
        <p:nvSpPr>
          <p:cNvPr id="99" name="Text 97"/>
          <p:cNvSpPr/>
          <p:nvPr/>
        </p:nvSpPr>
        <p:spPr>
          <a:xfrm>
            <a:off x="1136650" y="444872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100" name="Text 98"/>
          <p:cNvSpPr/>
          <p:nvPr/>
        </p:nvSpPr>
        <p:spPr>
          <a:xfrm>
            <a:off x="1634530" y="446142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01" name="Shape 99"/>
          <p:cNvSpPr/>
          <p:nvPr/>
        </p:nvSpPr>
        <p:spPr>
          <a:xfrm>
            <a:off x="1805087" y="4410621"/>
            <a:ext cx="335310" cy="350490"/>
          </a:xfrm>
          <a:prstGeom prst="roundRect">
            <a:avLst>
              <a:gd name="adj" fmla="val 18938"/>
            </a:avLst>
          </a:prstGeom>
          <a:solidFill>
            <a:srgbClr val="F3F5F8"/>
          </a:solidFill>
          <a:ln/>
        </p:spPr>
      </p:sp>
      <p:sp>
        <p:nvSpPr>
          <p:cNvPr id="102" name="Shape 100"/>
          <p:cNvSpPr/>
          <p:nvPr/>
        </p:nvSpPr>
        <p:spPr>
          <a:xfrm>
            <a:off x="1805087" y="4416971"/>
            <a:ext cx="335310" cy="0"/>
          </a:xfrm>
          <a:prstGeom prst="line">
            <a:avLst/>
          </a:prstGeom>
          <a:noFill/>
          <a:ln w="12700">
            <a:solidFill>
              <a:srgbClr val="AEB8C5"/>
            </a:solidFill>
            <a:prstDash val="solid"/>
          </a:ln>
        </p:spPr>
      </p:sp>
      <p:sp>
        <p:nvSpPr>
          <p:cNvPr id="103" name="Shape 101"/>
          <p:cNvSpPr/>
          <p:nvPr/>
        </p:nvSpPr>
        <p:spPr>
          <a:xfrm>
            <a:off x="2134046" y="4410621"/>
            <a:ext cx="0" cy="350490"/>
          </a:xfrm>
          <a:prstGeom prst="line">
            <a:avLst/>
          </a:prstGeom>
          <a:noFill/>
          <a:ln w="12700">
            <a:solidFill>
              <a:srgbClr val="AEB8C5"/>
            </a:solidFill>
            <a:prstDash val="solid"/>
          </a:ln>
        </p:spPr>
      </p:sp>
      <p:sp>
        <p:nvSpPr>
          <p:cNvPr id="104" name="Shape 102"/>
          <p:cNvSpPr/>
          <p:nvPr/>
        </p:nvSpPr>
        <p:spPr>
          <a:xfrm>
            <a:off x="1805087" y="4742061"/>
            <a:ext cx="335310" cy="0"/>
          </a:xfrm>
          <a:prstGeom prst="line">
            <a:avLst/>
          </a:prstGeom>
          <a:noFill/>
          <a:ln w="38100">
            <a:solidFill>
              <a:srgbClr val="AEB8C5"/>
            </a:solidFill>
            <a:prstDash val="solid"/>
          </a:ln>
        </p:spPr>
      </p:sp>
      <p:sp>
        <p:nvSpPr>
          <p:cNvPr id="105" name="Shape 103"/>
          <p:cNvSpPr/>
          <p:nvPr/>
        </p:nvSpPr>
        <p:spPr>
          <a:xfrm>
            <a:off x="1811437" y="4410621"/>
            <a:ext cx="0" cy="350490"/>
          </a:xfrm>
          <a:prstGeom prst="line">
            <a:avLst/>
          </a:prstGeom>
          <a:noFill/>
          <a:ln w="12700">
            <a:solidFill>
              <a:srgbClr val="AEB8C5"/>
            </a:solidFill>
            <a:prstDash val="solid"/>
          </a:ln>
        </p:spPr>
      </p:sp>
      <p:sp>
        <p:nvSpPr>
          <p:cNvPr id="106" name="Text 104"/>
          <p:cNvSpPr/>
          <p:nvPr/>
        </p:nvSpPr>
        <p:spPr>
          <a:xfrm>
            <a:off x="1919387" y="444872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a:t>
            </a:r>
            <a:endParaRPr lang="en-US" sz="1400" dirty="0"/>
          </a:p>
        </p:txBody>
      </p:sp>
      <p:sp>
        <p:nvSpPr>
          <p:cNvPr id="107" name="Text 105"/>
          <p:cNvSpPr/>
          <p:nvPr/>
        </p:nvSpPr>
        <p:spPr>
          <a:xfrm>
            <a:off x="1022350" y="4862711"/>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Widgets board</a:t>
            </a:r>
            <a:endParaRPr lang="en-US" sz="1500" dirty="0"/>
          </a:p>
        </p:txBody>
      </p:sp>
      <p:sp>
        <p:nvSpPr>
          <p:cNvPr id="108" name="Shape 106"/>
          <p:cNvSpPr/>
          <p:nvPr/>
        </p:nvSpPr>
        <p:spPr>
          <a:xfrm>
            <a:off x="4388892" y="4204246"/>
            <a:ext cx="3414167" cy="1131540"/>
          </a:xfrm>
          <a:prstGeom prst="roundRect">
            <a:avLst>
              <a:gd name="adj" fmla="val 8698"/>
            </a:avLst>
          </a:prstGeom>
          <a:solidFill>
            <a:srgbClr val="FCFDFE"/>
          </a:solidFill>
          <a:ln w="6350">
            <a:solidFill>
              <a:srgbClr val="D6DCE4"/>
            </a:solidFill>
            <a:prstDash val="solid"/>
          </a:ln>
        </p:spPr>
      </p:sp>
      <p:sp>
        <p:nvSpPr>
          <p:cNvPr id="109" name="Shape 107"/>
          <p:cNvSpPr/>
          <p:nvPr/>
        </p:nvSpPr>
        <p:spPr>
          <a:xfrm>
            <a:off x="4595267" y="4410621"/>
            <a:ext cx="548680" cy="350490"/>
          </a:xfrm>
          <a:prstGeom prst="roundRect">
            <a:avLst>
              <a:gd name="adj" fmla="val 18117"/>
            </a:avLst>
          </a:prstGeom>
          <a:solidFill>
            <a:srgbClr val="F3F5F8"/>
          </a:solidFill>
          <a:ln/>
        </p:spPr>
      </p:sp>
      <p:sp>
        <p:nvSpPr>
          <p:cNvPr id="110" name="Shape 108"/>
          <p:cNvSpPr/>
          <p:nvPr/>
        </p:nvSpPr>
        <p:spPr>
          <a:xfrm>
            <a:off x="4595267" y="4416971"/>
            <a:ext cx="548680" cy="0"/>
          </a:xfrm>
          <a:prstGeom prst="line">
            <a:avLst/>
          </a:prstGeom>
          <a:noFill/>
          <a:ln w="12700">
            <a:solidFill>
              <a:srgbClr val="AEB8C5"/>
            </a:solidFill>
            <a:prstDash val="solid"/>
          </a:ln>
        </p:spPr>
      </p:sp>
      <p:sp>
        <p:nvSpPr>
          <p:cNvPr id="111" name="Shape 109"/>
          <p:cNvSpPr/>
          <p:nvPr/>
        </p:nvSpPr>
        <p:spPr>
          <a:xfrm>
            <a:off x="5137596" y="4410621"/>
            <a:ext cx="0" cy="350490"/>
          </a:xfrm>
          <a:prstGeom prst="line">
            <a:avLst/>
          </a:prstGeom>
          <a:noFill/>
          <a:ln w="12700">
            <a:solidFill>
              <a:srgbClr val="AEB8C5"/>
            </a:solidFill>
            <a:prstDash val="solid"/>
          </a:ln>
        </p:spPr>
      </p:sp>
      <p:sp>
        <p:nvSpPr>
          <p:cNvPr id="112" name="Shape 110"/>
          <p:cNvSpPr/>
          <p:nvPr/>
        </p:nvSpPr>
        <p:spPr>
          <a:xfrm>
            <a:off x="4595267" y="4742061"/>
            <a:ext cx="548680" cy="0"/>
          </a:xfrm>
          <a:prstGeom prst="line">
            <a:avLst/>
          </a:prstGeom>
          <a:noFill/>
          <a:ln w="38100">
            <a:solidFill>
              <a:srgbClr val="AEB8C5"/>
            </a:solidFill>
            <a:prstDash val="solid"/>
          </a:ln>
        </p:spPr>
      </p:sp>
      <p:sp>
        <p:nvSpPr>
          <p:cNvPr id="113" name="Shape 111"/>
          <p:cNvSpPr/>
          <p:nvPr/>
        </p:nvSpPr>
        <p:spPr>
          <a:xfrm>
            <a:off x="4601617" y="4410621"/>
            <a:ext cx="0" cy="350490"/>
          </a:xfrm>
          <a:prstGeom prst="line">
            <a:avLst/>
          </a:prstGeom>
          <a:noFill/>
          <a:ln w="12700">
            <a:solidFill>
              <a:srgbClr val="AEB8C5"/>
            </a:solidFill>
            <a:prstDash val="solid"/>
          </a:ln>
        </p:spPr>
      </p:sp>
      <p:sp>
        <p:nvSpPr>
          <p:cNvPr id="114" name="Text 112"/>
          <p:cNvSpPr/>
          <p:nvPr/>
        </p:nvSpPr>
        <p:spPr>
          <a:xfrm>
            <a:off x="4709567" y="444872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115" name="Text 113"/>
          <p:cNvSpPr/>
          <p:nvPr/>
        </p:nvSpPr>
        <p:spPr>
          <a:xfrm>
            <a:off x="5207446" y="446142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16" name="Shape 114"/>
          <p:cNvSpPr/>
          <p:nvPr/>
        </p:nvSpPr>
        <p:spPr>
          <a:xfrm>
            <a:off x="5378004" y="4410621"/>
            <a:ext cx="335310" cy="350490"/>
          </a:xfrm>
          <a:prstGeom prst="roundRect">
            <a:avLst>
              <a:gd name="adj" fmla="val 18938"/>
            </a:avLst>
          </a:prstGeom>
          <a:solidFill>
            <a:srgbClr val="F3F5F8"/>
          </a:solidFill>
          <a:ln/>
        </p:spPr>
      </p:sp>
      <p:sp>
        <p:nvSpPr>
          <p:cNvPr id="117" name="Shape 115"/>
          <p:cNvSpPr/>
          <p:nvPr/>
        </p:nvSpPr>
        <p:spPr>
          <a:xfrm>
            <a:off x="5378004" y="4416971"/>
            <a:ext cx="335310" cy="0"/>
          </a:xfrm>
          <a:prstGeom prst="line">
            <a:avLst/>
          </a:prstGeom>
          <a:noFill/>
          <a:ln w="12700">
            <a:solidFill>
              <a:srgbClr val="AEB8C5"/>
            </a:solidFill>
            <a:prstDash val="solid"/>
          </a:ln>
        </p:spPr>
      </p:sp>
      <p:sp>
        <p:nvSpPr>
          <p:cNvPr id="118" name="Shape 116"/>
          <p:cNvSpPr/>
          <p:nvPr/>
        </p:nvSpPr>
        <p:spPr>
          <a:xfrm>
            <a:off x="5706963" y="4410621"/>
            <a:ext cx="0" cy="350490"/>
          </a:xfrm>
          <a:prstGeom prst="line">
            <a:avLst/>
          </a:prstGeom>
          <a:noFill/>
          <a:ln w="12700">
            <a:solidFill>
              <a:srgbClr val="AEB8C5"/>
            </a:solidFill>
            <a:prstDash val="solid"/>
          </a:ln>
        </p:spPr>
      </p:sp>
      <p:sp>
        <p:nvSpPr>
          <p:cNvPr id="119" name="Shape 117"/>
          <p:cNvSpPr/>
          <p:nvPr/>
        </p:nvSpPr>
        <p:spPr>
          <a:xfrm>
            <a:off x="5378004" y="4742061"/>
            <a:ext cx="335310" cy="0"/>
          </a:xfrm>
          <a:prstGeom prst="line">
            <a:avLst/>
          </a:prstGeom>
          <a:noFill/>
          <a:ln w="38100">
            <a:solidFill>
              <a:srgbClr val="AEB8C5"/>
            </a:solidFill>
            <a:prstDash val="solid"/>
          </a:ln>
        </p:spPr>
      </p:sp>
      <p:sp>
        <p:nvSpPr>
          <p:cNvPr id="120" name="Shape 118"/>
          <p:cNvSpPr/>
          <p:nvPr/>
        </p:nvSpPr>
        <p:spPr>
          <a:xfrm>
            <a:off x="5384354" y="4410621"/>
            <a:ext cx="0" cy="350490"/>
          </a:xfrm>
          <a:prstGeom prst="line">
            <a:avLst/>
          </a:prstGeom>
          <a:noFill/>
          <a:ln w="12700">
            <a:solidFill>
              <a:srgbClr val="AEB8C5"/>
            </a:solidFill>
            <a:prstDash val="solid"/>
          </a:ln>
        </p:spPr>
      </p:sp>
      <p:sp>
        <p:nvSpPr>
          <p:cNvPr id="121" name="Text 119"/>
          <p:cNvSpPr/>
          <p:nvPr/>
        </p:nvSpPr>
        <p:spPr>
          <a:xfrm>
            <a:off x="5492304" y="444872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D</a:t>
            </a:r>
            <a:endParaRPr lang="en-US" sz="1400" dirty="0"/>
          </a:p>
        </p:txBody>
      </p:sp>
      <p:sp>
        <p:nvSpPr>
          <p:cNvPr id="122" name="Text 120"/>
          <p:cNvSpPr/>
          <p:nvPr/>
        </p:nvSpPr>
        <p:spPr>
          <a:xfrm>
            <a:off x="4595267" y="4862711"/>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Show or hide the desktop</a:t>
            </a:r>
            <a:endParaRPr lang="en-US" sz="1500" dirty="0"/>
          </a:p>
        </p:txBody>
      </p:sp>
      <p:sp>
        <p:nvSpPr>
          <p:cNvPr id="123" name="Shape 121"/>
          <p:cNvSpPr/>
          <p:nvPr/>
        </p:nvSpPr>
        <p:spPr>
          <a:xfrm>
            <a:off x="7961809" y="4204246"/>
            <a:ext cx="3414216" cy="1131540"/>
          </a:xfrm>
          <a:prstGeom prst="roundRect">
            <a:avLst>
              <a:gd name="adj" fmla="val 8698"/>
            </a:avLst>
          </a:prstGeom>
          <a:solidFill>
            <a:srgbClr val="FCFDFE"/>
          </a:solidFill>
          <a:ln w="6350">
            <a:solidFill>
              <a:srgbClr val="D6DCE4"/>
            </a:solidFill>
            <a:prstDash val="solid"/>
          </a:ln>
        </p:spPr>
      </p:sp>
      <p:sp>
        <p:nvSpPr>
          <p:cNvPr id="124" name="Shape 122"/>
          <p:cNvSpPr/>
          <p:nvPr/>
        </p:nvSpPr>
        <p:spPr>
          <a:xfrm>
            <a:off x="8168184" y="4410621"/>
            <a:ext cx="548680" cy="350490"/>
          </a:xfrm>
          <a:prstGeom prst="roundRect">
            <a:avLst>
              <a:gd name="adj" fmla="val 18117"/>
            </a:avLst>
          </a:prstGeom>
          <a:solidFill>
            <a:srgbClr val="F3F5F8"/>
          </a:solidFill>
          <a:ln/>
        </p:spPr>
      </p:sp>
      <p:sp>
        <p:nvSpPr>
          <p:cNvPr id="125" name="Shape 123"/>
          <p:cNvSpPr/>
          <p:nvPr/>
        </p:nvSpPr>
        <p:spPr>
          <a:xfrm>
            <a:off x="8168184" y="4416971"/>
            <a:ext cx="548680" cy="0"/>
          </a:xfrm>
          <a:prstGeom prst="line">
            <a:avLst/>
          </a:prstGeom>
          <a:noFill/>
          <a:ln w="12700">
            <a:solidFill>
              <a:srgbClr val="AEB8C5"/>
            </a:solidFill>
            <a:prstDash val="solid"/>
          </a:ln>
        </p:spPr>
      </p:sp>
      <p:sp>
        <p:nvSpPr>
          <p:cNvPr id="126" name="Shape 124"/>
          <p:cNvSpPr/>
          <p:nvPr/>
        </p:nvSpPr>
        <p:spPr>
          <a:xfrm>
            <a:off x="8710513" y="4410621"/>
            <a:ext cx="0" cy="350490"/>
          </a:xfrm>
          <a:prstGeom prst="line">
            <a:avLst/>
          </a:prstGeom>
          <a:noFill/>
          <a:ln w="12700">
            <a:solidFill>
              <a:srgbClr val="AEB8C5"/>
            </a:solidFill>
            <a:prstDash val="solid"/>
          </a:ln>
        </p:spPr>
      </p:sp>
      <p:sp>
        <p:nvSpPr>
          <p:cNvPr id="127" name="Shape 125"/>
          <p:cNvSpPr/>
          <p:nvPr/>
        </p:nvSpPr>
        <p:spPr>
          <a:xfrm>
            <a:off x="8168184" y="4742061"/>
            <a:ext cx="548680" cy="0"/>
          </a:xfrm>
          <a:prstGeom prst="line">
            <a:avLst/>
          </a:prstGeom>
          <a:noFill/>
          <a:ln w="38100">
            <a:solidFill>
              <a:srgbClr val="AEB8C5"/>
            </a:solidFill>
            <a:prstDash val="solid"/>
          </a:ln>
        </p:spPr>
      </p:sp>
      <p:sp>
        <p:nvSpPr>
          <p:cNvPr id="128" name="Shape 126"/>
          <p:cNvSpPr/>
          <p:nvPr/>
        </p:nvSpPr>
        <p:spPr>
          <a:xfrm>
            <a:off x="8174534" y="4410621"/>
            <a:ext cx="0" cy="350490"/>
          </a:xfrm>
          <a:prstGeom prst="line">
            <a:avLst/>
          </a:prstGeom>
          <a:noFill/>
          <a:ln w="12700">
            <a:solidFill>
              <a:srgbClr val="AEB8C5"/>
            </a:solidFill>
            <a:prstDash val="solid"/>
          </a:ln>
        </p:spPr>
      </p:sp>
      <p:sp>
        <p:nvSpPr>
          <p:cNvPr id="129" name="Text 127"/>
          <p:cNvSpPr/>
          <p:nvPr/>
        </p:nvSpPr>
        <p:spPr>
          <a:xfrm>
            <a:off x="8282484" y="444872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Alt</a:t>
            </a:r>
            <a:endParaRPr lang="en-US" sz="1400" dirty="0"/>
          </a:p>
        </p:txBody>
      </p:sp>
      <p:sp>
        <p:nvSpPr>
          <p:cNvPr id="130" name="Text 128"/>
          <p:cNvSpPr/>
          <p:nvPr/>
        </p:nvSpPr>
        <p:spPr>
          <a:xfrm>
            <a:off x="8780363" y="446142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31" name="Shape 129"/>
          <p:cNvSpPr/>
          <p:nvPr/>
        </p:nvSpPr>
        <p:spPr>
          <a:xfrm>
            <a:off x="8950920" y="4410621"/>
            <a:ext cx="548680" cy="350490"/>
          </a:xfrm>
          <a:prstGeom prst="roundRect">
            <a:avLst>
              <a:gd name="adj" fmla="val 18117"/>
            </a:avLst>
          </a:prstGeom>
          <a:solidFill>
            <a:srgbClr val="F3F5F8"/>
          </a:solidFill>
          <a:ln/>
        </p:spPr>
      </p:sp>
      <p:sp>
        <p:nvSpPr>
          <p:cNvPr id="132" name="Shape 130"/>
          <p:cNvSpPr/>
          <p:nvPr/>
        </p:nvSpPr>
        <p:spPr>
          <a:xfrm>
            <a:off x="8950920" y="4416971"/>
            <a:ext cx="548680" cy="0"/>
          </a:xfrm>
          <a:prstGeom prst="line">
            <a:avLst/>
          </a:prstGeom>
          <a:noFill/>
          <a:ln w="12700">
            <a:solidFill>
              <a:srgbClr val="AEB8C5"/>
            </a:solidFill>
            <a:prstDash val="solid"/>
          </a:ln>
        </p:spPr>
      </p:sp>
      <p:sp>
        <p:nvSpPr>
          <p:cNvPr id="133" name="Shape 131"/>
          <p:cNvSpPr/>
          <p:nvPr/>
        </p:nvSpPr>
        <p:spPr>
          <a:xfrm>
            <a:off x="9493250" y="4410621"/>
            <a:ext cx="0" cy="350490"/>
          </a:xfrm>
          <a:prstGeom prst="line">
            <a:avLst/>
          </a:prstGeom>
          <a:noFill/>
          <a:ln w="12700">
            <a:solidFill>
              <a:srgbClr val="AEB8C5"/>
            </a:solidFill>
            <a:prstDash val="solid"/>
          </a:ln>
        </p:spPr>
      </p:sp>
      <p:sp>
        <p:nvSpPr>
          <p:cNvPr id="134" name="Shape 132"/>
          <p:cNvSpPr/>
          <p:nvPr/>
        </p:nvSpPr>
        <p:spPr>
          <a:xfrm>
            <a:off x="8950920" y="4742061"/>
            <a:ext cx="548680" cy="0"/>
          </a:xfrm>
          <a:prstGeom prst="line">
            <a:avLst/>
          </a:prstGeom>
          <a:noFill/>
          <a:ln w="38100">
            <a:solidFill>
              <a:srgbClr val="AEB8C5"/>
            </a:solidFill>
            <a:prstDash val="solid"/>
          </a:ln>
        </p:spPr>
      </p:sp>
      <p:sp>
        <p:nvSpPr>
          <p:cNvPr id="135" name="Shape 133"/>
          <p:cNvSpPr/>
          <p:nvPr/>
        </p:nvSpPr>
        <p:spPr>
          <a:xfrm>
            <a:off x="8957270" y="4410621"/>
            <a:ext cx="0" cy="350490"/>
          </a:xfrm>
          <a:prstGeom prst="line">
            <a:avLst/>
          </a:prstGeom>
          <a:noFill/>
          <a:ln w="12700">
            <a:solidFill>
              <a:srgbClr val="AEB8C5"/>
            </a:solidFill>
            <a:prstDash val="solid"/>
          </a:ln>
        </p:spPr>
      </p:sp>
      <p:sp>
        <p:nvSpPr>
          <p:cNvPr id="136" name="Text 134"/>
          <p:cNvSpPr/>
          <p:nvPr/>
        </p:nvSpPr>
        <p:spPr>
          <a:xfrm>
            <a:off x="9065220" y="444872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Tab</a:t>
            </a:r>
            <a:endParaRPr lang="en-US" sz="1400" dirty="0"/>
          </a:p>
        </p:txBody>
      </p:sp>
      <p:sp>
        <p:nvSpPr>
          <p:cNvPr id="137" name="Text 135"/>
          <p:cNvSpPr/>
          <p:nvPr/>
        </p:nvSpPr>
        <p:spPr>
          <a:xfrm>
            <a:off x="8168184" y="4862711"/>
            <a:ext cx="30915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Switch between open apps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F"/>
                </a:solidFill>
                <a:latin typeface="Atkinson Hyperlegible" pitchFamily="34" charset="0"/>
                <a:ea typeface="Atkinson Hyperlegible" pitchFamily="34" charset="-122"/>
                <a:cs typeface="Atkinson Hyperlegible" pitchFamily="34" charset="-120"/>
              </a:rPr>
              <a:t>HIDDEN GEMS</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Six shortcuts the chapter skips</a:t>
            </a:r>
            <a:endParaRPr lang="en-US" sz="3600" dirty="0"/>
          </a:p>
        </p:txBody>
      </p:sp>
      <p:sp>
        <p:nvSpPr>
          <p:cNvPr id="4" name="Shape 2"/>
          <p:cNvSpPr/>
          <p:nvPr/>
        </p:nvSpPr>
        <p:spPr>
          <a:xfrm>
            <a:off x="815975" y="1913186"/>
            <a:ext cx="3414167" cy="1398240"/>
          </a:xfrm>
          <a:prstGeom prst="roundRect">
            <a:avLst>
              <a:gd name="adj" fmla="val 7039"/>
            </a:avLst>
          </a:prstGeom>
          <a:solidFill>
            <a:srgbClr val="FCFDFE"/>
          </a:solidFill>
          <a:ln w="6350">
            <a:solidFill>
              <a:srgbClr val="D6DCE4"/>
            </a:solidFill>
            <a:prstDash val="solid"/>
          </a:ln>
        </p:spPr>
      </p:sp>
      <p:sp>
        <p:nvSpPr>
          <p:cNvPr id="5" name="Shape 3"/>
          <p:cNvSpPr/>
          <p:nvPr/>
        </p:nvSpPr>
        <p:spPr>
          <a:xfrm>
            <a:off x="1022350" y="2119561"/>
            <a:ext cx="548680" cy="350490"/>
          </a:xfrm>
          <a:prstGeom prst="roundRect">
            <a:avLst>
              <a:gd name="adj" fmla="val 18117"/>
            </a:avLst>
          </a:prstGeom>
          <a:solidFill>
            <a:srgbClr val="F3F5F8"/>
          </a:solidFill>
          <a:ln/>
        </p:spPr>
      </p:sp>
      <p:sp>
        <p:nvSpPr>
          <p:cNvPr id="6" name="Shape 4"/>
          <p:cNvSpPr/>
          <p:nvPr/>
        </p:nvSpPr>
        <p:spPr>
          <a:xfrm>
            <a:off x="1022350" y="2125911"/>
            <a:ext cx="548680" cy="0"/>
          </a:xfrm>
          <a:prstGeom prst="line">
            <a:avLst/>
          </a:prstGeom>
          <a:noFill/>
          <a:ln w="12700">
            <a:solidFill>
              <a:srgbClr val="AEB8C5"/>
            </a:solidFill>
            <a:prstDash val="solid"/>
          </a:ln>
        </p:spPr>
      </p:sp>
      <p:sp>
        <p:nvSpPr>
          <p:cNvPr id="7" name="Shape 5"/>
          <p:cNvSpPr/>
          <p:nvPr/>
        </p:nvSpPr>
        <p:spPr>
          <a:xfrm>
            <a:off x="1564680" y="2119561"/>
            <a:ext cx="0" cy="350490"/>
          </a:xfrm>
          <a:prstGeom prst="line">
            <a:avLst/>
          </a:prstGeom>
          <a:noFill/>
          <a:ln w="12700">
            <a:solidFill>
              <a:srgbClr val="AEB8C5"/>
            </a:solidFill>
            <a:prstDash val="solid"/>
          </a:ln>
        </p:spPr>
      </p:sp>
      <p:sp>
        <p:nvSpPr>
          <p:cNvPr id="8" name="Shape 6"/>
          <p:cNvSpPr/>
          <p:nvPr/>
        </p:nvSpPr>
        <p:spPr>
          <a:xfrm>
            <a:off x="1022350" y="2451001"/>
            <a:ext cx="548680" cy="0"/>
          </a:xfrm>
          <a:prstGeom prst="line">
            <a:avLst/>
          </a:prstGeom>
          <a:noFill/>
          <a:ln w="38100">
            <a:solidFill>
              <a:srgbClr val="AEB8C5"/>
            </a:solidFill>
            <a:prstDash val="solid"/>
          </a:ln>
        </p:spPr>
      </p:sp>
      <p:sp>
        <p:nvSpPr>
          <p:cNvPr id="9" name="Shape 7"/>
          <p:cNvSpPr/>
          <p:nvPr/>
        </p:nvSpPr>
        <p:spPr>
          <a:xfrm>
            <a:off x="1028700" y="2119561"/>
            <a:ext cx="0" cy="350490"/>
          </a:xfrm>
          <a:prstGeom prst="line">
            <a:avLst/>
          </a:prstGeom>
          <a:noFill/>
          <a:ln w="12700">
            <a:solidFill>
              <a:srgbClr val="AEB8C5"/>
            </a:solidFill>
            <a:prstDash val="solid"/>
          </a:ln>
        </p:spPr>
      </p:sp>
      <p:sp>
        <p:nvSpPr>
          <p:cNvPr id="10" name="Text 8"/>
          <p:cNvSpPr/>
          <p:nvPr/>
        </p:nvSpPr>
        <p:spPr>
          <a:xfrm>
            <a:off x="1136650" y="215766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11" name="Text 9"/>
          <p:cNvSpPr/>
          <p:nvPr/>
        </p:nvSpPr>
        <p:spPr>
          <a:xfrm>
            <a:off x="1634530"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2" name="Shape 10"/>
          <p:cNvSpPr/>
          <p:nvPr/>
        </p:nvSpPr>
        <p:spPr>
          <a:xfrm>
            <a:off x="1805087" y="2119561"/>
            <a:ext cx="335310" cy="350490"/>
          </a:xfrm>
          <a:prstGeom prst="roundRect">
            <a:avLst>
              <a:gd name="adj" fmla="val 18938"/>
            </a:avLst>
          </a:prstGeom>
          <a:solidFill>
            <a:srgbClr val="F3F5F8"/>
          </a:solidFill>
          <a:ln/>
        </p:spPr>
      </p:sp>
      <p:sp>
        <p:nvSpPr>
          <p:cNvPr id="13" name="Shape 11"/>
          <p:cNvSpPr/>
          <p:nvPr/>
        </p:nvSpPr>
        <p:spPr>
          <a:xfrm>
            <a:off x="1805087" y="2125911"/>
            <a:ext cx="335310" cy="0"/>
          </a:xfrm>
          <a:prstGeom prst="line">
            <a:avLst/>
          </a:prstGeom>
          <a:noFill/>
          <a:ln w="12700">
            <a:solidFill>
              <a:srgbClr val="AEB8C5"/>
            </a:solidFill>
            <a:prstDash val="solid"/>
          </a:ln>
        </p:spPr>
      </p:sp>
      <p:sp>
        <p:nvSpPr>
          <p:cNvPr id="14" name="Shape 12"/>
          <p:cNvSpPr/>
          <p:nvPr/>
        </p:nvSpPr>
        <p:spPr>
          <a:xfrm>
            <a:off x="2134046" y="2119561"/>
            <a:ext cx="0" cy="350490"/>
          </a:xfrm>
          <a:prstGeom prst="line">
            <a:avLst/>
          </a:prstGeom>
          <a:noFill/>
          <a:ln w="12700">
            <a:solidFill>
              <a:srgbClr val="AEB8C5"/>
            </a:solidFill>
            <a:prstDash val="solid"/>
          </a:ln>
        </p:spPr>
      </p:sp>
      <p:sp>
        <p:nvSpPr>
          <p:cNvPr id="15" name="Shape 13"/>
          <p:cNvSpPr/>
          <p:nvPr/>
        </p:nvSpPr>
        <p:spPr>
          <a:xfrm>
            <a:off x="1805087" y="2451001"/>
            <a:ext cx="335310" cy="0"/>
          </a:xfrm>
          <a:prstGeom prst="line">
            <a:avLst/>
          </a:prstGeom>
          <a:noFill/>
          <a:ln w="38100">
            <a:solidFill>
              <a:srgbClr val="AEB8C5"/>
            </a:solidFill>
            <a:prstDash val="solid"/>
          </a:ln>
        </p:spPr>
      </p:sp>
      <p:sp>
        <p:nvSpPr>
          <p:cNvPr id="16" name="Shape 14"/>
          <p:cNvSpPr/>
          <p:nvPr/>
        </p:nvSpPr>
        <p:spPr>
          <a:xfrm>
            <a:off x="1811437" y="2119561"/>
            <a:ext cx="0" cy="350490"/>
          </a:xfrm>
          <a:prstGeom prst="line">
            <a:avLst/>
          </a:prstGeom>
          <a:noFill/>
          <a:ln w="12700">
            <a:solidFill>
              <a:srgbClr val="AEB8C5"/>
            </a:solidFill>
            <a:prstDash val="solid"/>
          </a:ln>
        </p:spPr>
      </p:sp>
      <p:sp>
        <p:nvSpPr>
          <p:cNvPr id="17" name="Text 15"/>
          <p:cNvSpPr/>
          <p:nvPr/>
        </p:nvSpPr>
        <p:spPr>
          <a:xfrm>
            <a:off x="1919387" y="215766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V</a:t>
            </a:r>
            <a:endParaRPr lang="en-US" sz="1400" dirty="0"/>
          </a:p>
        </p:txBody>
      </p:sp>
      <p:sp>
        <p:nvSpPr>
          <p:cNvPr id="18" name="Text 16"/>
          <p:cNvSpPr/>
          <p:nvPr/>
        </p:nvSpPr>
        <p:spPr>
          <a:xfrm>
            <a:off x="1022350" y="2571651"/>
            <a:ext cx="30914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Clipboard history: paste anything you copied recently</a:t>
            </a:r>
            <a:endParaRPr lang="en-US" sz="1500" dirty="0"/>
          </a:p>
        </p:txBody>
      </p:sp>
      <p:sp>
        <p:nvSpPr>
          <p:cNvPr id="19" name="Shape 17"/>
          <p:cNvSpPr/>
          <p:nvPr/>
        </p:nvSpPr>
        <p:spPr>
          <a:xfrm>
            <a:off x="4388892" y="1913186"/>
            <a:ext cx="3414167" cy="1398240"/>
          </a:xfrm>
          <a:prstGeom prst="roundRect">
            <a:avLst>
              <a:gd name="adj" fmla="val 7039"/>
            </a:avLst>
          </a:prstGeom>
          <a:solidFill>
            <a:srgbClr val="FCFDFE"/>
          </a:solidFill>
          <a:ln w="6350">
            <a:solidFill>
              <a:srgbClr val="D6DCE4"/>
            </a:solidFill>
            <a:prstDash val="solid"/>
          </a:ln>
        </p:spPr>
      </p:sp>
      <p:sp>
        <p:nvSpPr>
          <p:cNvPr id="20" name="Shape 18"/>
          <p:cNvSpPr/>
          <p:nvPr/>
        </p:nvSpPr>
        <p:spPr>
          <a:xfrm>
            <a:off x="4595267" y="2119561"/>
            <a:ext cx="548680" cy="350490"/>
          </a:xfrm>
          <a:prstGeom prst="roundRect">
            <a:avLst>
              <a:gd name="adj" fmla="val 18117"/>
            </a:avLst>
          </a:prstGeom>
          <a:solidFill>
            <a:srgbClr val="F3F5F8"/>
          </a:solidFill>
          <a:ln/>
        </p:spPr>
      </p:sp>
      <p:sp>
        <p:nvSpPr>
          <p:cNvPr id="21" name="Shape 19"/>
          <p:cNvSpPr/>
          <p:nvPr/>
        </p:nvSpPr>
        <p:spPr>
          <a:xfrm>
            <a:off x="4595267" y="2125911"/>
            <a:ext cx="548680" cy="0"/>
          </a:xfrm>
          <a:prstGeom prst="line">
            <a:avLst/>
          </a:prstGeom>
          <a:noFill/>
          <a:ln w="12700">
            <a:solidFill>
              <a:srgbClr val="AEB8C5"/>
            </a:solidFill>
            <a:prstDash val="solid"/>
          </a:ln>
        </p:spPr>
      </p:sp>
      <p:sp>
        <p:nvSpPr>
          <p:cNvPr id="22" name="Shape 20"/>
          <p:cNvSpPr/>
          <p:nvPr/>
        </p:nvSpPr>
        <p:spPr>
          <a:xfrm>
            <a:off x="5137596" y="2119561"/>
            <a:ext cx="0" cy="350490"/>
          </a:xfrm>
          <a:prstGeom prst="line">
            <a:avLst/>
          </a:prstGeom>
          <a:noFill/>
          <a:ln w="12700">
            <a:solidFill>
              <a:srgbClr val="AEB8C5"/>
            </a:solidFill>
            <a:prstDash val="solid"/>
          </a:ln>
        </p:spPr>
      </p:sp>
      <p:sp>
        <p:nvSpPr>
          <p:cNvPr id="23" name="Shape 21"/>
          <p:cNvSpPr/>
          <p:nvPr/>
        </p:nvSpPr>
        <p:spPr>
          <a:xfrm>
            <a:off x="4595267" y="2451001"/>
            <a:ext cx="548680" cy="0"/>
          </a:xfrm>
          <a:prstGeom prst="line">
            <a:avLst/>
          </a:prstGeom>
          <a:noFill/>
          <a:ln w="38100">
            <a:solidFill>
              <a:srgbClr val="AEB8C5"/>
            </a:solidFill>
            <a:prstDash val="solid"/>
          </a:ln>
        </p:spPr>
      </p:sp>
      <p:sp>
        <p:nvSpPr>
          <p:cNvPr id="24" name="Shape 22"/>
          <p:cNvSpPr/>
          <p:nvPr/>
        </p:nvSpPr>
        <p:spPr>
          <a:xfrm>
            <a:off x="4601617" y="2119561"/>
            <a:ext cx="0" cy="350490"/>
          </a:xfrm>
          <a:prstGeom prst="line">
            <a:avLst/>
          </a:prstGeom>
          <a:noFill/>
          <a:ln w="12700">
            <a:solidFill>
              <a:srgbClr val="AEB8C5"/>
            </a:solidFill>
            <a:prstDash val="solid"/>
          </a:ln>
        </p:spPr>
      </p:sp>
      <p:sp>
        <p:nvSpPr>
          <p:cNvPr id="25" name="Text 23"/>
          <p:cNvSpPr/>
          <p:nvPr/>
        </p:nvSpPr>
        <p:spPr>
          <a:xfrm>
            <a:off x="4709567" y="215766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26" name="Text 24"/>
          <p:cNvSpPr/>
          <p:nvPr/>
        </p:nvSpPr>
        <p:spPr>
          <a:xfrm>
            <a:off x="5207446"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27" name="Shape 25"/>
          <p:cNvSpPr/>
          <p:nvPr/>
        </p:nvSpPr>
        <p:spPr>
          <a:xfrm>
            <a:off x="5378004" y="2119561"/>
            <a:ext cx="762000" cy="350490"/>
          </a:xfrm>
          <a:prstGeom prst="roundRect">
            <a:avLst>
              <a:gd name="adj" fmla="val 18117"/>
            </a:avLst>
          </a:prstGeom>
          <a:solidFill>
            <a:srgbClr val="F3F5F8"/>
          </a:solidFill>
          <a:ln/>
        </p:spPr>
      </p:sp>
      <p:sp>
        <p:nvSpPr>
          <p:cNvPr id="28" name="Shape 26"/>
          <p:cNvSpPr/>
          <p:nvPr/>
        </p:nvSpPr>
        <p:spPr>
          <a:xfrm>
            <a:off x="5378004" y="2125911"/>
            <a:ext cx="762000" cy="0"/>
          </a:xfrm>
          <a:prstGeom prst="line">
            <a:avLst/>
          </a:prstGeom>
          <a:noFill/>
          <a:ln w="12700">
            <a:solidFill>
              <a:srgbClr val="AEB8C5"/>
            </a:solidFill>
            <a:prstDash val="solid"/>
          </a:ln>
        </p:spPr>
      </p:sp>
      <p:sp>
        <p:nvSpPr>
          <p:cNvPr id="29" name="Shape 27"/>
          <p:cNvSpPr/>
          <p:nvPr/>
        </p:nvSpPr>
        <p:spPr>
          <a:xfrm>
            <a:off x="6133654" y="2119561"/>
            <a:ext cx="0" cy="350490"/>
          </a:xfrm>
          <a:prstGeom prst="line">
            <a:avLst/>
          </a:prstGeom>
          <a:noFill/>
          <a:ln w="12700">
            <a:solidFill>
              <a:srgbClr val="AEB8C5"/>
            </a:solidFill>
            <a:prstDash val="solid"/>
          </a:ln>
        </p:spPr>
      </p:sp>
      <p:sp>
        <p:nvSpPr>
          <p:cNvPr id="30" name="Shape 28"/>
          <p:cNvSpPr/>
          <p:nvPr/>
        </p:nvSpPr>
        <p:spPr>
          <a:xfrm>
            <a:off x="5378004" y="2451001"/>
            <a:ext cx="762000" cy="0"/>
          </a:xfrm>
          <a:prstGeom prst="line">
            <a:avLst/>
          </a:prstGeom>
          <a:noFill/>
          <a:ln w="38100">
            <a:solidFill>
              <a:srgbClr val="AEB8C5"/>
            </a:solidFill>
            <a:prstDash val="solid"/>
          </a:ln>
        </p:spPr>
      </p:sp>
      <p:sp>
        <p:nvSpPr>
          <p:cNvPr id="31" name="Shape 29"/>
          <p:cNvSpPr/>
          <p:nvPr/>
        </p:nvSpPr>
        <p:spPr>
          <a:xfrm>
            <a:off x="5384354" y="2119561"/>
            <a:ext cx="0" cy="350490"/>
          </a:xfrm>
          <a:prstGeom prst="line">
            <a:avLst/>
          </a:prstGeom>
          <a:noFill/>
          <a:ln w="12700">
            <a:solidFill>
              <a:srgbClr val="AEB8C5"/>
            </a:solidFill>
            <a:prstDash val="solid"/>
          </a:ln>
        </p:spPr>
      </p:sp>
      <p:sp>
        <p:nvSpPr>
          <p:cNvPr id="32" name="Text 30"/>
          <p:cNvSpPr/>
          <p:nvPr/>
        </p:nvSpPr>
        <p:spPr>
          <a:xfrm>
            <a:off x="5492304" y="2157661"/>
            <a:ext cx="58420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Shift</a:t>
            </a:r>
            <a:endParaRPr lang="en-US" sz="1400" dirty="0"/>
          </a:p>
        </p:txBody>
      </p:sp>
      <p:sp>
        <p:nvSpPr>
          <p:cNvPr id="33" name="Text 31"/>
          <p:cNvSpPr/>
          <p:nvPr/>
        </p:nvSpPr>
        <p:spPr>
          <a:xfrm>
            <a:off x="6203504"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34" name="Shape 32"/>
          <p:cNvSpPr/>
          <p:nvPr/>
        </p:nvSpPr>
        <p:spPr>
          <a:xfrm>
            <a:off x="6374061" y="2119561"/>
            <a:ext cx="335310" cy="350490"/>
          </a:xfrm>
          <a:prstGeom prst="roundRect">
            <a:avLst>
              <a:gd name="adj" fmla="val 18938"/>
            </a:avLst>
          </a:prstGeom>
          <a:solidFill>
            <a:srgbClr val="F3F5F8"/>
          </a:solidFill>
          <a:ln/>
        </p:spPr>
      </p:sp>
      <p:sp>
        <p:nvSpPr>
          <p:cNvPr id="35" name="Shape 33"/>
          <p:cNvSpPr/>
          <p:nvPr/>
        </p:nvSpPr>
        <p:spPr>
          <a:xfrm>
            <a:off x="6374061" y="2125911"/>
            <a:ext cx="335310" cy="0"/>
          </a:xfrm>
          <a:prstGeom prst="line">
            <a:avLst/>
          </a:prstGeom>
          <a:noFill/>
          <a:ln w="12700">
            <a:solidFill>
              <a:srgbClr val="AEB8C5"/>
            </a:solidFill>
            <a:prstDash val="solid"/>
          </a:ln>
        </p:spPr>
      </p:sp>
      <p:sp>
        <p:nvSpPr>
          <p:cNvPr id="36" name="Shape 34"/>
          <p:cNvSpPr/>
          <p:nvPr/>
        </p:nvSpPr>
        <p:spPr>
          <a:xfrm>
            <a:off x="6703020" y="2119561"/>
            <a:ext cx="0" cy="350490"/>
          </a:xfrm>
          <a:prstGeom prst="line">
            <a:avLst/>
          </a:prstGeom>
          <a:noFill/>
          <a:ln w="12700">
            <a:solidFill>
              <a:srgbClr val="AEB8C5"/>
            </a:solidFill>
            <a:prstDash val="solid"/>
          </a:ln>
        </p:spPr>
      </p:sp>
      <p:sp>
        <p:nvSpPr>
          <p:cNvPr id="37" name="Shape 35"/>
          <p:cNvSpPr/>
          <p:nvPr/>
        </p:nvSpPr>
        <p:spPr>
          <a:xfrm>
            <a:off x="6374061" y="2451001"/>
            <a:ext cx="335310" cy="0"/>
          </a:xfrm>
          <a:prstGeom prst="line">
            <a:avLst/>
          </a:prstGeom>
          <a:noFill/>
          <a:ln w="38100">
            <a:solidFill>
              <a:srgbClr val="AEB8C5"/>
            </a:solidFill>
            <a:prstDash val="solid"/>
          </a:ln>
        </p:spPr>
      </p:sp>
      <p:sp>
        <p:nvSpPr>
          <p:cNvPr id="38" name="Shape 36"/>
          <p:cNvSpPr/>
          <p:nvPr/>
        </p:nvSpPr>
        <p:spPr>
          <a:xfrm>
            <a:off x="6380411" y="2119561"/>
            <a:ext cx="0" cy="350490"/>
          </a:xfrm>
          <a:prstGeom prst="line">
            <a:avLst/>
          </a:prstGeom>
          <a:noFill/>
          <a:ln w="12700">
            <a:solidFill>
              <a:srgbClr val="AEB8C5"/>
            </a:solidFill>
            <a:prstDash val="solid"/>
          </a:ln>
        </p:spPr>
      </p:sp>
      <p:sp>
        <p:nvSpPr>
          <p:cNvPr id="39" name="Text 37"/>
          <p:cNvSpPr/>
          <p:nvPr/>
        </p:nvSpPr>
        <p:spPr>
          <a:xfrm>
            <a:off x="6488361" y="215766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S</a:t>
            </a:r>
            <a:endParaRPr lang="en-US" sz="1400" dirty="0"/>
          </a:p>
        </p:txBody>
      </p:sp>
      <p:sp>
        <p:nvSpPr>
          <p:cNvPr id="40" name="Text 38"/>
          <p:cNvSpPr/>
          <p:nvPr/>
        </p:nvSpPr>
        <p:spPr>
          <a:xfrm>
            <a:off x="4595267" y="2571651"/>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Screenshot any part of the screen</a:t>
            </a:r>
            <a:endParaRPr lang="en-US" sz="1500" dirty="0"/>
          </a:p>
        </p:txBody>
      </p:sp>
      <p:sp>
        <p:nvSpPr>
          <p:cNvPr id="41" name="Shape 39"/>
          <p:cNvSpPr/>
          <p:nvPr/>
        </p:nvSpPr>
        <p:spPr>
          <a:xfrm>
            <a:off x="7961809" y="1913186"/>
            <a:ext cx="3414216" cy="1398240"/>
          </a:xfrm>
          <a:prstGeom prst="roundRect">
            <a:avLst>
              <a:gd name="adj" fmla="val 7039"/>
            </a:avLst>
          </a:prstGeom>
          <a:solidFill>
            <a:srgbClr val="FCFDFE"/>
          </a:solidFill>
          <a:ln w="6350">
            <a:solidFill>
              <a:srgbClr val="D6DCE4"/>
            </a:solidFill>
            <a:prstDash val="solid"/>
          </a:ln>
        </p:spPr>
      </p:sp>
      <p:sp>
        <p:nvSpPr>
          <p:cNvPr id="42" name="Shape 40"/>
          <p:cNvSpPr/>
          <p:nvPr/>
        </p:nvSpPr>
        <p:spPr>
          <a:xfrm>
            <a:off x="8168184" y="2119561"/>
            <a:ext cx="548680" cy="350490"/>
          </a:xfrm>
          <a:prstGeom prst="roundRect">
            <a:avLst>
              <a:gd name="adj" fmla="val 18117"/>
            </a:avLst>
          </a:prstGeom>
          <a:solidFill>
            <a:srgbClr val="F3F5F8"/>
          </a:solidFill>
          <a:ln/>
        </p:spPr>
      </p:sp>
      <p:sp>
        <p:nvSpPr>
          <p:cNvPr id="43" name="Shape 41"/>
          <p:cNvSpPr/>
          <p:nvPr/>
        </p:nvSpPr>
        <p:spPr>
          <a:xfrm>
            <a:off x="8168184" y="2125911"/>
            <a:ext cx="548680" cy="0"/>
          </a:xfrm>
          <a:prstGeom prst="line">
            <a:avLst/>
          </a:prstGeom>
          <a:noFill/>
          <a:ln w="12700">
            <a:solidFill>
              <a:srgbClr val="AEB8C5"/>
            </a:solidFill>
            <a:prstDash val="solid"/>
          </a:ln>
        </p:spPr>
      </p:sp>
      <p:sp>
        <p:nvSpPr>
          <p:cNvPr id="44" name="Shape 42"/>
          <p:cNvSpPr/>
          <p:nvPr/>
        </p:nvSpPr>
        <p:spPr>
          <a:xfrm>
            <a:off x="8710513" y="2119561"/>
            <a:ext cx="0" cy="350490"/>
          </a:xfrm>
          <a:prstGeom prst="line">
            <a:avLst/>
          </a:prstGeom>
          <a:noFill/>
          <a:ln w="12700">
            <a:solidFill>
              <a:srgbClr val="AEB8C5"/>
            </a:solidFill>
            <a:prstDash val="solid"/>
          </a:ln>
        </p:spPr>
      </p:sp>
      <p:sp>
        <p:nvSpPr>
          <p:cNvPr id="45" name="Shape 43"/>
          <p:cNvSpPr/>
          <p:nvPr/>
        </p:nvSpPr>
        <p:spPr>
          <a:xfrm>
            <a:off x="8168184" y="2451001"/>
            <a:ext cx="548680" cy="0"/>
          </a:xfrm>
          <a:prstGeom prst="line">
            <a:avLst/>
          </a:prstGeom>
          <a:noFill/>
          <a:ln w="38100">
            <a:solidFill>
              <a:srgbClr val="AEB8C5"/>
            </a:solidFill>
            <a:prstDash val="solid"/>
          </a:ln>
        </p:spPr>
      </p:sp>
      <p:sp>
        <p:nvSpPr>
          <p:cNvPr id="46" name="Shape 44"/>
          <p:cNvSpPr/>
          <p:nvPr/>
        </p:nvSpPr>
        <p:spPr>
          <a:xfrm>
            <a:off x="8174534" y="2119561"/>
            <a:ext cx="0" cy="350490"/>
          </a:xfrm>
          <a:prstGeom prst="line">
            <a:avLst/>
          </a:prstGeom>
          <a:noFill/>
          <a:ln w="12700">
            <a:solidFill>
              <a:srgbClr val="AEB8C5"/>
            </a:solidFill>
            <a:prstDash val="solid"/>
          </a:ln>
        </p:spPr>
      </p:sp>
      <p:sp>
        <p:nvSpPr>
          <p:cNvPr id="47" name="Text 45"/>
          <p:cNvSpPr/>
          <p:nvPr/>
        </p:nvSpPr>
        <p:spPr>
          <a:xfrm>
            <a:off x="8282484" y="215766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48" name="Text 46"/>
          <p:cNvSpPr/>
          <p:nvPr/>
        </p:nvSpPr>
        <p:spPr>
          <a:xfrm>
            <a:off x="8780363"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49" name="Shape 47"/>
          <p:cNvSpPr/>
          <p:nvPr/>
        </p:nvSpPr>
        <p:spPr>
          <a:xfrm>
            <a:off x="8950920" y="2119561"/>
            <a:ext cx="335310" cy="350490"/>
          </a:xfrm>
          <a:prstGeom prst="roundRect">
            <a:avLst>
              <a:gd name="adj" fmla="val 18938"/>
            </a:avLst>
          </a:prstGeom>
          <a:solidFill>
            <a:srgbClr val="F3F5F8"/>
          </a:solidFill>
          <a:ln/>
        </p:spPr>
      </p:sp>
      <p:sp>
        <p:nvSpPr>
          <p:cNvPr id="50" name="Shape 48"/>
          <p:cNvSpPr/>
          <p:nvPr/>
        </p:nvSpPr>
        <p:spPr>
          <a:xfrm>
            <a:off x="8950920" y="2125911"/>
            <a:ext cx="335310" cy="0"/>
          </a:xfrm>
          <a:prstGeom prst="line">
            <a:avLst/>
          </a:prstGeom>
          <a:noFill/>
          <a:ln w="12700">
            <a:solidFill>
              <a:srgbClr val="AEB8C5"/>
            </a:solidFill>
            <a:prstDash val="solid"/>
          </a:ln>
        </p:spPr>
      </p:sp>
      <p:sp>
        <p:nvSpPr>
          <p:cNvPr id="51" name="Shape 49"/>
          <p:cNvSpPr/>
          <p:nvPr/>
        </p:nvSpPr>
        <p:spPr>
          <a:xfrm>
            <a:off x="9279880" y="2119561"/>
            <a:ext cx="0" cy="350490"/>
          </a:xfrm>
          <a:prstGeom prst="line">
            <a:avLst/>
          </a:prstGeom>
          <a:noFill/>
          <a:ln w="12700">
            <a:solidFill>
              <a:srgbClr val="AEB8C5"/>
            </a:solidFill>
            <a:prstDash val="solid"/>
          </a:ln>
        </p:spPr>
      </p:sp>
      <p:sp>
        <p:nvSpPr>
          <p:cNvPr id="52" name="Shape 50"/>
          <p:cNvSpPr/>
          <p:nvPr/>
        </p:nvSpPr>
        <p:spPr>
          <a:xfrm>
            <a:off x="8950920" y="2451001"/>
            <a:ext cx="335310" cy="0"/>
          </a:xfrm>
          <a:prstGeom prst="line">
            <a:avLst/>
          </a:prstGeom>
          <a:noFill/>
          <a:ln w="38100">
            <a:solidFill>
              <a:srgbClr val="AEB8C5"/>
            </a:solidFill>
            <a:prstDash val="solid"/>
          </a:ln>
        </p:spPr>
      </p:sp>
      <p:sp>
        <p:nvSpPr>
          <p:cNvPr id="53" name="Shape 51"/>
          <p:cNvSpPr/>
          <p:nvPr/>
        </p:nvSpPr>
        <p:spPr>
          <a:xfrm>
            <a:off x="8957270" y="2119561"/>
            <a:ext cx="0" cy="350490"/>
          </a:xfrm>
          <a:prstGeom prst="line">
            <a:avLst/>
          </a:prstGeom>
          <a:noFill/>
          <a:ln w="12700">
            <a:solidFill>
              <a:srgbClr val="AEB8C5"/>
            </a:solidFill>
            <a:prstDash val="solid"/>
          </a:ln>
        </p:spPr>
      </p:sp>
      <p:sp>
        <p:nvSpPr>
          <p:cNvPr id="54" name="Text 52"/>
          <p:cNvSpPr/>
          <p:nvPr/>
        </p:nvSpPr>
        <p:spPr>
          <a:xfrm>
            <a:off x="9065220" y="215766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a:t>
            </a:r>
            <a:endParaRPr lang="en-US" sz="1400" dirty="0"/>
          </a:p>
        </p:txBody>
      </p:sp>
      <p:sp>
        <p:nvSpPr>
          <p:cNvPr id="55" name="Text 53"/>
          <p:cNvSpPr/>
          <p:nvPr/>
        </p:nvSpPr>
        <p:spPr>
          <a:xfrm>
            <a:off x="8168184" y="2571651"/>
            <a:ext cx="309151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Emoji, symbols like ©, and accented letters</a:t>
            </a:r>
            <a:endParaRPr lang="en-US" sz="1500" dirty="0"/>
          </a:p>
        </p:txBody>
      </p:sp>
      <p:sp>
        <p:nvSpPr>
          <p:cNvPr id="56" name="Shape 54"/>
          <p:cNvSpPr/>
          <p:nvPr/>
        </p:nvSpPr>
        <p:spPr>
          <a:xfrm>
            <a:off x="815975" y="3470176"/>
            <a:ext cx="3414167" cy="1398240"/>
          </a:xfrm>
          <a:prstGeom prst="roundRect">
            <a:avLst>
              <a:gd name="adj" fmla="val 7039"/>
            </a:avLst>
          </a:prstGeom>
          <a:solidFill>
            <a:srgbClr val="FCFDFE"/>
          </a:solidFill>
          <a:ln w="6350">
            <a:solidFill>
              <a:srgbClr val="D6DCE4"/>
            </a:solidFill>
            <a:prstDash val="solid"/>
          </a:ln>
        </p:spPr>
      </p:sp>
      <p:sp>
        <p:nvSpPr>
          <p:cNvPr id="57" name="Shape 55"/>
          <p:cNvSpPr/>
          <p:nvPr/>
        </p:nvSpPr>
        <p:spPr>
          <a:xfrm>
            <a:off x="1022350" y="3676551"/>
            <a:ext cx="655340" cy="350490"/>
          </a:xfrm>
          <a:prstGeom prst="roundRect">
            <a:avLst>
              <a:gd name="adj" fmla="val 18117"/>
            </a:avLst>
          </a:prstGeom>
          <a:solidFill>
            <a:srgbClr val="F3F5F8"/>
          </a:solidFill>
          <a:ln/>
        </p:spPr>
      </p:sp>
      <p:sp>
        <p:nvSpPr>
          <p:cNvPr id="58" name="Shape 56"/>
          <p:cNvSpPr/>
          <p:nvPr/>
        </p:nvSpPr>
        <p:spPr>
          <a:xfrm>
            <a:off x="1022350" y="3682901"/>
            <a:ext cx="655340" cy="0"/>
          </a:xfrm>
          <a:prstGeom prst="line">
            <a:avLst/>
          </a:prstGeom>
          <a:noFill/>
          <a:ln w="12700">
            <a:solidFill>
              <a:srgbClr val="AEB8C5"/>
            </a:solidFill>
            <a:prstDash val="solid"/>
          </a:ln>
        </p:spPr>
      </p:sp>
      <p:sp>
        <p:nvSpPr>
          <p:cNvPr id="59" name="Shape 57"/>
          <p:cNvSpPr/>
          <p:nvPr/>
        </p:nvSpPr>
        <p:spPr>
          <a:xfrm>
            <a:off x="1671340" y="3676551"/>
            <a:ext cx="0" cy="350490"/>
          </a:xfrm>
          <a:prstGeom prst="line">
            <a:avLst/>
          </a:prstGeom>
          <a:noFill/>
          <a:ln w="12700">
            <a:solidFill>
              <a:srgbClr val="AEB8C5"/>
            </a:solidFill>
            <a:prstDash val="solid"/>
          </a:ln>
        </p:spPr>
      </p:sp>
      <p:sp>
        <p:nvSpPr>
          <p:cNvPr id="60" name="Shape 58"/>
          <p:cNvSpPr/>
          <p:nvPr/>
        </p:nvSpPr>
        <p:spPr>
          <a:xfrm>
            <a:off x="1022350" y="4007991"/>
            <a:ext cx="655340" cy="0"/>
          </a:xfrm>
          <a:prstGeom prst="line">
            <a:avLst/>
          </a:prstGeom>
          <a:noFill/>
          <a:ln w="38100">
            <a:solidFill>
              <a:srgbClr val="AEB8C5"/>
            </a:solidFill>
            <a:prstDash val="solid"/>
          </a:ln>
        </p:spPr>
      </p:sp>
      <p:sp>
        <p:nvSpPr>
          <p:cNvPr id="61" name="Shape 59"/>
          <p:cNvSpPr/>
          <p:nvPr/>
        </p:nvSpPr>
        <p:spPr>
          <a:xfrm>
            <a:off x="1028700" y="3676551"/>
            <a:ext cx="0" cy="350490"/>
          </a:xfrm>
          <a:prstGeom prst="line">
            <a:avLst/>
          </a:prstGeom>
          <a:noFill/>
          <a:ln w="12700">
            <a:solidFill>
              <a:srgbClr val="AEB8C5"/>
            </a:solidFill>
            <a:prstDash val="solid"/>
          </a:ln>
        </p:spPr>
      </p:sp>
      <p:sp>
        <p:nvSpPr>
          <p:cNvPr id="62" name="Text 60"/>
          <p:cNvSpPr/>
          <p:nvPr/>
        </p:nvSpPr>
        <p:spPr>
          <a:xfrm>
            <a:off x="1136650" y="3714651"/>
            <a:ext cx="47754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Ctrl</a:t>
            </a:r>
            <a:endParaRPr lang="en-US" sz="1400" dirty="0"/>
          </a:p>
        </p:txBody>
      </p:sp>
      <p:sp>
        <p:nvSpPr>
          <p:cNvPr id="63" name="Text 61"/>
          <p:cNvSpPr/>
          <p:nvPr/>
        </p:nvSpPr>
        <p:spPr>
          <a:xfrm>
            <a:off x="1741190"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64" name="Shape 62"/>
          <p:cNvSpPr/>
          <p:nvPr/>
        </p:nvSpPr>
        <p:spPr>
          <a:xfrm>
            <a:off x="1911747" y="3676551"/>
            <a:ext cx="762000" cy="350490"/>
          </a:xfrm>
          <a:prstGeom prst="roundRect">
            <a:avLst>
              <a:gd name="adj" fmla="val 18117"/>
            </a:avLst>
          </a:prstGeom>
          <a:solidFill>
            <a:srgbClr val="F3F5F8"/>
          </a:solidFill>
          <a:ln/>
        </p:spPr>
      </p:sp>
      <p:sp>
        <p:nvSpPr>
          <p:cNvPr id="65" name="Shape 63"/>
          <p:cNvSpPr/>
          <p:nvPr/>
        </p:nvSpPr>
        <p:spPr>
          <a:xfrm>
            <a:off x="1911747" y="3682901"/>
            <a:ext cx="762000" cy="0"/>
          </a:xfrm>
          <a:prstGeom prst="line">
            <a:avLst/>
          </a:prstGeom>
          <a:noFill/>
          <a:ln w="12700">
            <a:solidFill>
              <a:srgbClr val="AEB8C5"/>
            </a:solidFill>
            <a:prstDash val="solid"/>
          </a:ln>
        </p:spPr>
      </p:sp>
      <p:sp>
        <p:nvSpPr>
          <p:cNvPr id="66" name="Shape 64"/>
          <p:cNvSpPr/>
          <p:nvPr/>
        </p:nvSpPr>
        <p:spPr>
          <a:xfrm>
            <a:off x="2667397" y="3676551"/>
            <a:ext cx="0" cy="350490"/>
          </a:xfrm>
          <a:prstGeom prst="line">
            <a:avLst/>
          </a:prstGeom>
          <a:noFill/>
          <a:ln w="12700">
            <a:solidFill>
              <a:srgbClr val="AEB8C5"/>
            </a:solidFill>
            <a:prstDash val="solid"/>
          </a:ln>
        </p:spPr>
      </p:sp>
      <p:sp>
        <p:nvSpPr>
          <p:cNvPr id="67" name="Shape 65"/>
          <p:cNvSpPr/>
          <p:nvPr/>
        </p:nvSpPr>
        <p:spPr>
          <a:xfrm>
            <a:off x="1911747" y="4007991"/>
            <a:ext cx="762000" cy="0"/>
          </a:xfrm>
          <a:prstGeom prst="line">
            <a:avLst/>
          </a:prstGeom>
          <a:noFill/>
          <a:ln w="38100">
            <a:solidFill>
              <a:srgbClr val="AEB8C5"/>
            </a:solidFill>
            <a:prstDash val="solid"/>
          </a:ln>
        </p:spPr>
      </p:sp>
      <p:sp>
        <p:nvSpPr>
          <p:cNvPr id="68" name="Shape 66"/>
          <p:cNvSpPr/>
          <p:nvPr/>
        </p:nvSpPr>
        <p:spPr>
          <a:xfrm>
            <a:off x="1918097" y="3676551"/>
            <a:ext cx="0" cy="350490"/>
          </a:xfrm>
          <a:prstGeom prst="line">
            <a:avLst/>
          </a:prstGeom>
          <a:noFill/>
          <a:ln w="12700">
            <a:solidFill>
              <a:srgbClr val="AEB8C5"/>
            </a:solidFill>
            <a:prstDash val="solid"/>
          </a:ln>
        </p:spPr>
      </p:sp>
      <p:sp>
        <p:nvSpPr>
          <p:cNvPr id="69" name="Text 67"/>
          <p:cNvSpPr/>
          <p:nvPr/>
        </p:nvSpPr>
        <p:spPr>
          <a:xfrm>
            <a:off x="2026047" y="3714651"/>
            <a:ext cx="58420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Shift</a:t>
            </a:r>
            <a:endParaRPr lang="en-US" sz="1400" dirty="0"/>
          </a:p>
        </p:txBody>
      </p:sp>
      <p:sp>
        <p:nvSpPr>
          <p:cNvPr id="70" name="Text 68"/>
          <p:cNvSpPr/>
          <p:nvPr/>
        </p:nvSpPr>
        <p:spPr>
          <a:xfrm>
            <a:off x="2737247"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71" name="Shape 69"/>
          <p:cNvSpPr/>
          <p:nvPr/>
        </p:nvSpPr>
        <p:spPr>
          <a:xfrm>
            <a:off x="2907804" y="3676551"/>
            <a:ext cx="548680" cy="350490"/>
          </a:xfrm>
          <a:prstGeom prst="roundRect">
            <a:avLst>
              <a:gd name="adj" fmla="val 18117"/>
            </a:avLst>
          </a:prstGeom>
          <a:solidFill>
            <a:srgbClr val="F3F5F8"/>
          </a:solidFill>
          <a:ln/>
        </p:spPr>
      </p:sp>
      <p:sp>
        <p:nvSpPr>
          <p:cNvPr id="72" name="Shape 70"/>
          <p:cNvSpPr/>
          <p:nvPr/>
        </p:nvSpPr>
        <p:spPr>
          <a:xfrm>
            <a:off x="2907804" y="3682901"/>
            <a:ext cx="548680" cy="0"/>
          </a:xfrm>
          <a:prstGeom prst="line">
            <a:avLst/>
          </a:prstGeom>
          <a:noFill/>
          <a:ln w="12700">
            <a:solidFill>
              <a:srgbClr val="AEB8C5"/>
            </a:solidFill>
            <a:prstDash val="solid"/>
          </a:ln>
        </p:spPr>
      </p:sp>
      <p:sp>
        <p:nvSpPr>
          <p:cNvPr id="73" name="Shape 71"/>
          <p:cNvSpPr/>
          <p:nvPr/>
        </p:nvSpPr>
        <p:spPr>
          <a:xfrm>
            <a:off x="3450134" y="3676551"/>
            <a:ext cx="0" cy="350490"/>
          </a:xfrm>
          <a:prstGeom prst="line">
            <a:avLst/>
          </a:prstGeom>
          <a:noFill/>
          <a:ln w="12700">
            <a:solidFill>
              <a:srgbClr val="AEB8C5"/>
            </a:solidFill>
            <a:prstDash val="solid"/>
          </a:ln>
        </p:spPr>
      </p:sp>
      <p:sp>
        <p:nvSpPr>
          <p:cNvPr id="74" name="Shape 72"/>
          <p:cNvSpPr/>
          <p:nvPr/>
        </p:nvSpPr>
        <p:spPr>
          <a:xfrm>
            <a:off x="2907804" y="4007991"/>
            <a:ext cx="548680" cy="0"/>
          </a:xfrm>
          <a:prstGeom prst="line">
            <a:avLst/>
          </a:prstGeom>
          <a:noFill/>
          <a:ln w="38100">
            <a:solidFill>
              <a:srgbClr val="AEB8C5"/>
            </a:solidFill>
            <a:prstDash val="solid"/>
          </a:ln>
        </p:spPr>
      </p:sp>
      <p:sp>
        <p:nvSpPr>
          <p:cNvPr id="75" name="Shape 73"/>
          <p:cNvSpPr/>
          <p:nvPr/>
        </p:nvSpPr>
        <p:spPr>
          <a:xfrm>
            <a:off x="2914154" y="3676551"/>
            <a:ext cx="0" cy="350490"/>
          </a:xfrm>
          <a:prstGeom prst="line">
            <a:avLst/>
          </a:prstGeom>
          <a:noFill/>
          <a:ln w="12700">
            <a:solidFill>
              <a:srgbClr val="AEB8C5"/>
            </a:solidFill>
            <a:prstDash val="solid"/>
          </a:ln>
        </p:spPr>
      </p:sp>
      <p:sp>
        <p:nvSpPr>
          <p:cNvPr id="76" name="Text 74"/>
          <p:cNvSpPr/>
          <p:nvPr/>
        </p:nvSpPr>
        <p:spPr>
          <a:xfrm>
            <a:off x="3022104" y="371465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Esc</a:t>
            </a:r>
            <a:endParaRPr lang="en-US" sz="1400" dirty="0"/>
          </a:p>
        </p:txBody>
      </p:sp>
      <p:sp>
        <p:nvSpPr>
          <p:cNvPr id="77" name="Text 75"/>
          <p:cNvSpPr/>
          <p:nvPr/>
        </p:nvSpPr>
        <p:spPr>
          <a:xfrm>
            <a:off x="1022350" y="4128641"/>
            <a:ext cx="30914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Task Manager, for an app that stops responding</a:t>
            </a:r>
            <a:endParaRPr lang="en-US" sz="1500" dirty="0"/>
          </a:p>
        </p:txBody>
      </p:sp>
      <p:sp>
        <p:nvSpPr>
          <p:cNvPr id="78" name="Shape 76"/>
          <p:cNvSpPr/>
          <p:nvPr/>
        </p:nvSpPr>
        <p:spPr>
          <a:xfrm>
            <a:off x="4388892" y="3470176"/>
            <a:ext cx="3414167" cy="1398240"/>
          </a:xfrm>
          <a:prstGeom prst="roundRect">
            <a:avLst>
              <a:gd name="adj" fmla="val 7039"/>
            </a:avLst>
          </a:prstGeom>
          <a:solidFill>
            <a:srgbClr val="FCFDFE"/>
          </a:solidFill>
          <a:ln w="6350">
            <a:solidFill>
              <a:srgbClr val="D6DCE4"/>
            </a:solidFill>
            <a:prstDash val="solid"/>
          </a:ln>
        </p:spPr>
      </p:sp>
      <p:sp>
        <p:nvSpPr>
          <p:cNvPr id="79" name="Shape 77"/>
          <p:cNvSpPr/>
          <p:nvPr/>
        </p:nvSpPr>
        <p:spPr>
          <a:xfrm>
            <a:off x="4595267" y="3676551"/>
            <a:ext cx="548680" cy="350490"/>
          </a:xfrm>
          <a:prstGeom prst="roundRect">
            <a:avLst>
              <a:gd name="adj" fmla="val 18117"/>
            </a:avLst>
          </a:prstGeom>
          <a:solidFill>
            <a:srgbClr val="F3F5F8"/>
          </a:solidFill>
          <a:ln/>
        </p:spPr>
      </p:sp>
      <p:sp>
        <p:nvSpPr>
          <p:cNvPr id="80" name="Shape 78"/>
          <p:cNvSpPr/>
          <p:nvPr/>
        </p:nvSpPr>
        <p:spPr>
          <a:xfrm>
            <a:off x="4595267" y="3682901"/>
            <a:ext cx="548680" cy="0"/>
          </a:xfrm>
          <a:prstGeom prst="line">
            <a:avLst/>
          </a:prstGeom>
          <a:noFill/>
          <a:ln w="12700">
            <a:solidFill>
              <a:srgbClr val="AEB8C5"/>
            </a:solidFill>
            <a:prstDash val="solid"/>
          </a:ln>
        </p:spPr>
      </p:sp>
      <p:sp>
        <p:nvSpPr>
          <p:cNvPr id="81" name="Shape 79"/>
          <p:cNvSpPr/>
          <p:nvPr/>
        </p:nvSpPr>
        <p:spPr>
          <a:xfrm>
            <a:off x="5137596" y="3676551"/>
            <a:ext cx="0" cy="350490"/>
          </a:xfrm>
          <a:prstGeom prst="line">
            <a:avLst/>
          </a:prstGeom>
          <a:noFill/>
          <a:ln w="12700">
            <a:solidFill>
              <a:srgbClr val="AEB8C5"/>
            </a:solidFill>
            <a:prstDash val="solid"/>
          </a:ln>
        </p:spPr>
      </p:sp>
      <p:sp>
        <p:nvSpPr>
          <p:cNvPr id="82" name="Shape 80"/>
          <p:cNvSpPr/>
          <p:nvPr/>
        </p:nvSpPr>
        <p:spPr>
          <a:xfrm>
            <a:off x="4595267" y="4007991"/>
            <a:ext cx="548680" cy="0"/>
          </a:xfrm>
          <a:prstGeom prst="line">
            <a:avLst/>
          </a:prstGeom>
          <a:noFill/>
          <a:ln w="38100">
            <a:solidFill>
              <a:srgbClr val="AEB8C5"/>
            </a:solidFill>
            <a:prstDash val="solid"/>
          </a:ln>
        </p:spPr>
      </p:sp>
      <p:sp>
        <p:nvSpPr>
          <p:cNvPr id="83" name="Shape 81"/>
          <p:cNvSpPr/>
          <p:nvPr/>
        </p:nvSpPr>
        <p:spPr>
          <a:xfrm>
            <a:off x="4601617" y="3676551"/>
            <a:ext cx="0" cy="350490"/>
          </a:xfrm>
          <a:prstGeom prst="line">
            <a:avLst/>
          </a:prstGeom>
          <a:noFill/>
          <a:ln w="12700">
            <a:solidFill>
              <a:srgbClr val="AEB8C5"/>
            </a:solidFill>
            <a:prstDash val="solid"/>
          </a:ln>
        </p:spPr>
      </p:sp>
      <p:sp>
        <p:nvSpPr>
          <p:cNvPr id="84" name="Text 82"/>
          <p:cNvSpPr/>
          <p:nvPr/>
        </p:nvSpPr>
        <p:spPr>
          <a:xfrm>
            <a:off x="4709567" y="371465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85" name="Text 83"/>
          <p:cNvSpPr/>
          <p:nvPr/>
        </p:nvSpPr>
        <p:spPr>
          <a:xfrm>
            <a:off x="5207446"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86" name="Shape 84"/>
          <p:cNvSpPr/>
          <p:nvPr/>
        </p:nvSpPr>
        <p:spPr>
          <a:xfrm>
            <a:off x="5378004" y="3676551"/>
            <a:ext cx="335310" cy="350490"/>
          </a:xfrm>
          <a:prstGeom prst="roundRect">
            <a:avLst>
              <a:gd name="adj" fmla="val 18938"/>
            </a:avLst>
          </a:prstGeom>
          <a:solidFill>
            <a:srgbClr val="F3F5F8"/>
          </a:solidFill>
          <a:ln/>
        </p:spPr>
      </p:sp>
      <p:sp>
        <p:nvSpPr>
          <p:cNvPr id="87" name="Shape 85"/>
          <p:cNvSpPr/>
          <p:nvPr/>
        </p:nvSpPr>
        <p:spPr>
          <a:xfrm>
            <a:off x="5378004" y="3682901"/>
            <a:ext cx="335310" cy="0"/>
          </a:xfrm>
          <a:prstGeom prst="line">
            <a:avLst/>
          </a:prstGeom>
          <a:noFill/>
          <a:ln w="12700">
            <a:solidFill>
              <a:srgbClr val="AEB8C5"/>
            </a:solidFill>
            <a:prstDash val="solid"/>
          </a:ln>
        </p:spPr>
      </p:sp>
      <p:sp>
        <p:nvSpPr>
          <p:cNvPr id="88" name="Shape 86"/>
          <p:cNvSpPr/>
          <p:nvPr/>
        </p:nvSpPr>
        <p:spPr>
          <a:xfrm>
            <a:off x="5706963" y="3676551"/>
            <a:ext cx="0" cy="350490"/>
          </a:xfrm>
          <a:prstGeom prst="line">
            <a:avLst/>
          </a:prstGeom>
          <a:noFill/>
          <a:ln w="12700">
            <a:solidFill>
              <a:srgbClr val="AEB8C5"/>
            </a:solidFill>
            <a:prstDash val="solid"/>
          </a:ln>
        </p:spPr>
      </p:sp>
      <p:sp>
        <p:nvSpPr>
          <p:cNvPr id="89" name="Shape 87"/>
          <p:cNvSpPr/>
          <p:nvPr/>
        </p:nvSpPr>
        <p:spPr>
          <a:xfrm>
            <a:off x="5378004" y="4007991"/>
            <a:ext cx="335310" cy="0"/>
          </a:xfrm>
          <a:prstGeom prst="line">
            <a:avLst/>
          </a:prstGeom>
          <a:noFill/>
          <a:ln w="38100">
            <a:solidFill>
              <a:srgbClr val="AEB8C5"/>
            </a:solidFill>
            <a:prstDash val="solid"/>
          </a:ln>
        </p:spPr>
      </p:sp>
      <p:sp>
        <p:nvSpPr>
          <p:cNvPr id="90" name="Shape 88"/>
          <p:cNvSpPr/>
          <p:nvPr/>
        </p:nvSpPr>
        <p:spPr>
          <a:xfrm>
            <a:off x="5384354" y="3676551"/>
            <a:ext cx="0" cy="350490"/>
          </a:xfrm>
          <a:prstGeom prst="line">
            <a:avLst/>
          </a:prstGeom>
          <a:noFill/>
          <a:ln w="12700">
            <a:solidFill>
              <a:srgbClr val="AEB8C5"/>
            </a:solidFill>
            <a:prstDash val="solid"/>
          </a:ln>
        </p:spPr>
      </p:sp>
      <p:sp>
        <p:nvSpPr>
          <p:cNvPr id="91" name="Text 89"/>
          <p:cNvSpPr/>
          <p:nvPr/>
        </p:nvSpPr>
        <p:spPr>
          <a:xfrm>
            <a:off x="5492304" y="371465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Z</a:t>
            </a:r>
            <a:endParaRPr lang="en-US" sz="1400" dirty="0"/>
          </a:p>
        </p:txBody>
      </p:sp>
      <p:sp>
        <p:nvSpPr>
          <p:cNvPr id="92" name="Text 90"/>
          <p:cNvSpPr/>
          <p:nvPr/>
        </p:nvSpPr>
        <p:spPr>
          <a:xfrm>
            <a:off x="4595267" y="4128641"/>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Snap layouts for the current window</a:t>
            </a:r>
            <a:endParaRPr lang="en-US" sz="1500" dirty="0"/>
          </a:p>
        </p:txBody>
      </p:sp>
      <p:sp>
        <p:nvSpPr>
          <p:cNvPr id="93" name="Shape 91"/>
          <p:cNvSpPr/>
          <p:nvPr/>
        </p:nvSpPr>
        <p:spPr>
          <a:xfrm>
            <a:off x="7961809" y="3470176"/>
            <a:ext cx="3414216" cy="1398240"/>
          </a:xfrm>
          <a:prstGeom prst="roundRect">
            <a:avLst>
              <a:gd name="adj" fmla="val 7039"/>
            </a:avLst>
          </a:prstGeom>
          <a:solidFill>
            <a:srgbClr val="FCFDFE"/>
          </a:solidFill>
          <a:ln w="6350">
            <a:solidFill>
              <a:srgbClr val="D6DCE4"/>
            </a:solidFill>
            <a:prstDash val="solid"/>
          </a:ln>
        </p:spPr>
      </p:sp>
      <p:sp>
        <p:nvSpPr>
          <p:cNvPr id="94" name="Shape 92"/>
          <p:cNvSpPr/>
          <p:nvPr/>
        </p:nvSpPr>
        <p:spPr>
          <a:xfrm>
            <a:off x="8168184" y="3676551"/>
            <a:ext cx="548680" cy="350490"/>
          </a:xfrm>
          <a:prstGeom prst="roundRect">
            <a:avLst>
              <a:gd name="adj" fmla="val 18117"/>
            </a:avLst>
          </a:prstGeom>
          <a:solidFill>
            <a:srgbClr val="F3F5F8"/>
          </a:solidFill>
          <a:ln/>
        </p:spPr>
      </p:sp>
      <p:sp>
        <p:nvSpPr>
          <p:cNvPr id="95" name="Shape 93"/>
          <p:cNvSpPr/>
          <p:nvPr/>
        </p:nvSpPr>
        <p:spPr>
          <a:xfrm>
            <a:off x="8168184" y="3682901"/>
            <a:ext cx="548680" cy="0"/>
          </a:xfrm>
          <a:prstGeom prst="line">
            <a:avLst/>
          </a:prstGeom>
          <a:noFill/>
          <a:ln w="12700">
            <a:solidFill>
              <a:srgbClr val="AEB8C5"/>
            </a:solidFill>
            <a:prstDash val="solid"/>
          </a:ln>
        </p:spPr>
      </p:sp>
      <p:sp>
        <p:nvSpPr>
          <p:cNvPr id="96" name="Shape 94"/>
          <p:cNvSpPr/>
          <p:nvPr/>
        </p:nvSpPr>
        <p:spPr>
          <a:xfrm>
            <a:off x="8710513" y="3676551"/>
            <a:ext cx="0" cy="350490"/>
          </a:xfrm>
          <a:prstGeom prst="line">
            <a:avLst/>
          </a:prstGeom>
          <a:noFill/>
          <a:ln w="12700">
            <a:solidFill>
              <a:srgbClr val="AEB8C5"/>
            </a:solidFill>
            <a:prstDash val="solid"/>
          </a:ln>
        </p:spPr>
      </p:sp>
      <p:sp>
        <p:nvSpPr>
          <p:cNvPr id="97" name="Shape 95"/>
          <p:cNvSpPr/>
          <p:nvPr/>
        </p:nvSpPr>
        <p:spPr>
          <a:xfrm>
            <a:off x="8168184" y="4007991"/>
            <a:ext cx="548680" cy="0"/>
          </a:xfrm>
          <a:prstGeom prst="line">
            <a:avLst/>
          </a:prstGeom>
          <a:noFill/>
          <a:ln w="38100">
            <a:solidFill>
              <a:srgbClr val="AEB8C5"/>
            </a:solidFill>
            <a:prstDash val="solid"/>
          </a:ln>
        </p:spPr>
      </p:sp>
      <p:sp>
        <p:nvSpPr>
          <p:cNvPr id="98" name="Shape 96"/>
          <p:cNvSpPr/>
          <p:nvPr/>
        </p:nvSpPr>
        <p:spPr>
          <a:xfrm>
            <a:off x="8174534" y="3676551"/>
            <a:ext cx="0" cy="350490"/>
          </a:xfrm>
          <a:prstGeom prst="line">
            <a:avLst/>
          </a:prstGeom>
          <a:noFill/>
          <a:ln w="12700">
            <a:solidFill>
              <a:srgbClr val="AEB8C5"/>
            </a:solidFill>
            <a:prstDash val="solid"/>
          </a:ln>
        </p:spPr>
      </p:sp>
      <p:sp>
        <p:nvSpPr>
          <p:cNvPr id="99" name="Text 97"/>
          <p:cNvSpPr/>
          <p:nvPr/>
        </p:nvSpPr>
        <p:spPr>
          <a:xfrm>
            <a:off x="8282484" y="371465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100" name="Text 98"/>
          <p:cNvSpPr/>
          <p:nvPr/>
        </p:nvSpPr>
        <p:spPr>
          <a:xfrm>
            <a:off x="8780363"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01" name="Shape 99"/>
          <p:cNvSpPr/>
          <p:nvPr/>
        </p:nvSpPr>
        <p:spPr>
          <a:xfrm>
            <a:off x="8950920" y="3676551"/>
            <a:ext cx="548680" cy="350490"/>
          </a:xfrm>
          <a:prstGeom prst="roundRect">
            <a:avLst>
              <a:gd name="adj" fmla="val 18117"/>
            </a:avLst>
          </a:prstGeom>
          <a:solidFill>
            <a:srgbClr val="F3F5F8"/>
          </a:solidFill>
          <a:ln/>
        </p:spPr>
      </p:sp>
      <p:sp>
        <p:nvSpPr>
          <p:cNvPr id="102" name="Shape 100"/>
          <p:cNvSpPr/>
          <p:nvPr/>
        </p:nvSpPr>
        <p:spPr>
          <a:xfrm>
            <a:off x="8950920" y="3682901"/>
            <a:ext cx="548680" cy="0"/>
          </a:xfrm>
          <a:prstGeom prst="line">
            <a:avLst/>
          </a:prstGeom>
          <a:noFill/>
          <a:ln w="12700">
            <a:solidFill>
              <a:srgbClr val="AEB8C5"/>
            </a:solidFill>
            <a:prstDash val="solid"/>
          </a:ln>
        </p:spPr>
      </p:sp>
      <p:sp>
        <p:nvSpPr>
          <p:cNvPr id="103" name="Shape 101"/>
          <p:cNvSpPr/>
          <p:nvPr/>
        </p:nvSpPr>
        <p:spPr>
          <a:xfrm>
            <a:off x="9493250" y="3676551"/>
            <a:ext cx="0" cy="350490"/>
          </a:xfrm>
          <a:prstGeom prst="line">
            <a:avLst/>
          </a:prstGeom>
          <a:noFill/>
          <a:ln w="12700">
            <a:solidFill>
              <a:srgbClr val="AEB8C5"/>
            </a:solidFill>
            <a:prstDash val="solid"/>
          </a:ln>
        </p:spPr>
      </p:sp>
      <p:sp>
        <p:nvSpPr>
          <p:cNvPr id="104" name="Shape 102"/>
          <p:cNvSpPr/>
          <p:nvPr/>
        </p:nvSpPr>
        <p:spPr>
          <a:xfrm>
            <a:off x="8950920" y="4007991"/>
            <a:ext cx="548680" cy="0"/>
          </a:xfrm>
          <a:prstGeom prst="line">
            <a:avLst/>
          </a:prstGeom>
          <a:noFill/>
          <a:ln w="38100">
            <a:solidFill>
              <a:srgbClr val="AEB8C5"/>
            </a:solidFill>
            <a:prstDash val="solid"/>
          </a:ln>
        </p:spPr>
      </p:sp>
      <p:sp>
        <p:nvSpPr>
          <p:cNvPr id="105" name="Shape 103"/>
          <p:cNvSpPr/>
          <p:nvPr/>
        </p:nvSpPr>
        <p:spPr>
          <a:xfrm>
            <a:off x="8957270" y="3676551"/>
            <a:ext cx="0" cy="350490"/>
          </a:xfrm>
          <a:prstGeom prst="line">
            <a:avLst/>
          </a:prstGeom>
          <a:noFill/>
          <a:ln w="12700">
            <a:solidFill>
              <a:srgbClr val="AEB8C5"/>
            </a:solidFill>
            <a:prstDash val="solid"/>
          </a:ln>
        </p:spPr>
      </p:sp>
      <p:sp>
        <p:nvSpPr>
          <p:cNvPr id="106" name="Text 104"/>
          <p:cNvSpPr/>
          <p:nvPr/>
        </p:nvSpPr>
        <p:spPr>
          <a:xfrm>
            <a:off x="9065220" y="371465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Tab</a:t>
            </a:r>
            <a:endParaRPr lang="en-US" sz="1400" dirty="0"/>
          </a:p>
        </p:txBody>
      </p:sp>
      <p:sp>
        <p:nvSpPr>
          <p:cNvPr id="107" name="Text 105"/>
          <p:cNvSpPr/>
          <p:nvPr/>
        </p:nvSpPr>
        <p:spPr>
          <a:xfrm>
            <a:off x="8168184" y="4128641"/>
            <a:ext cx="30915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Task View and virtual desktops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Snap two windows side by side</a:t>
            </a:r>
            <a:endParaRPr lang="en-US" sz="3600" dirty="0"/>
          </a:p>
        </p:txBody>
      </p:sp>
      <p:sp>
        <p:nvSpPr>
          <p:cNvPr id="3" name="Shape 1"/>
          <p:cNvSpPr/>
          <p:nvPr/>
        </p:nvSpPr>
        <p:spPr>
          <a:xfrm>
            <a:off x="815975" y="1623665"/>
            <a:ext cx="5708650" cy="1352550"/>
          </a:xfrm>
          <a:prstGeom prst="roundRect">
            <a:avLst>
              <a:gd name="adj" fmla="val 7277"/>
            </a:avLst>
          </a:prstGeom>
          <a:solidFill>
            <a:srgbClr val="FCFDFE"/>
          </a:solidFill>
          <a:ln w="6350">
            <a:solidFill>
              <a:srgbClr val="D6DCE4"/>
            </a:solidFill>
            <a:prstDash val="solid"/>
          </a:ln>
        </p:spPr>
      </p:sp>
      <p:sp>
        <p:nvSpPr>
          <p:cNvPr id="4" name="Text 2"/>
          <p:cNvSpPr/>
          <p:nvPr/>
        </p:nvSpPr>
        <p:spPr>
          <a:xfrm>
            <a:off x="1022350" y="1830040"/>
            <a:ext cx="545477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Hover the Maximize button</a:t>
            </a:r>
            <a:endParaRPr lang="en-US" sz="2000" dirty="0"/>
          </a:p>
        </p:txBody>
      </p:sp>
      <p:sp>
        <p:nvSpPr>
          <p:cNvPr id="5" name="Text 3"/>
          <p:cNvSpPr/>
          <p:nvPr/>
        </p:nvSpPr>
        <p:spPr>
          <a:xfrm>
            <a:off x="1022350" y="2236440"/>
            <a:ext cx="545477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A layout picker appears. Click the zone where this window should go.</a:t>
            </a:r>
            <a:endParaRPr lang="en-US" sz="1500" dirty="0"/>
          </a:p>
        </p:txBody>
      </p:sp>
      <p:sp>
        <p:nvSpPr>
          <p:cNvPr id="6" name="Shape 4"/>
          <p:cNvSpPr/>
          <p:nvPr/>
        </p:nvSpPr>
        <p:spPr>
          <a:xfrm>
            <a:off x="815975" y="3084165"/>
            <a:ext cx="5708650" cy="1085850"/>
          </a:xfrm>
          <a:prstGeom prst="roundRect">
            <a:avLst>
              <a:gd name="adj" fmla="val 9064"/>
            </a:avLst>
          </a:prstGeom>
          <a:solidFill>
            <a:srgbClr val="FCFDFE"/>
          </a:solidFill>
          <a:ln w="6350">
            <a:solidFill>
              <a:srgbClr val="D6DCE4"/>
            </a:solidFill>
            <a:prstDash val="solid"/>
          </a:ln>
        </p:spPr>
      </p:sp>
      <p:sp>
        <p:nvSpPr>
          <p:cNvPr id="7" name="Text 5"/>
          <p:cNvSpPr/>
          <p:nvPr/>
        </p:nvSpPr>
        <p:spPr>
          <a:xfrm>
            <a:off x="1022350" y="3290540"/>
            <a:ext cx="545477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Or drag a window to the top</a:t>
            </a:r>
            <a:endParaRPr lang="en-US" sz="2000" dirty="0"/>
          </a:p>
        </p:txBody>
      </p:sp>
      <p:sp>
        <p:nvSpPr>
          <p:cNvPr id="8" name="Text 6"/>
          <p:cNvSpPr/>
          <p:nvPr/>
        </p:nvSpPr>
        <p:spPr>
          <a:xfrm>
            <a:off x="1022350" y="3696940"/>
            <a:ext cx="545477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Layouts drop down from the top edge of the screen.</a:t>
            </a:r>
            <a:endParaRPr lang="en-US" sz="1500" dirty="0"/>
          </a:p>
        </p:txBody>
      </p:sp>
      <p:sp>
        <p:nvSpPr>
          <p:cNvPr id="9" name="Shape 7"/>
          <p:cNvSpPr/>
          <p:nvPr/>
        </p:nvSpPr>
        <p:spPr>
          <a:xfrm>
            <a:off x="815975" y="4277965"/>
            <a:ext cx="5708650" cy="1352550"/>
          </a:xfrm>
          <a:prstGeom prst="roundRect">
            <a:avLst>
              <a:gd name="adj" fmla="val 7277"/>
            </a:avLst>
          </a:prstGeom>
          <a:solidFill>
            <a:srgbClr val="FCFDFE"/>
          </a:solidFill>
          <a:ln w="6350">
            <a:solidFill>
              <a:srgbClr val="D6DCE4"/>
            </a:solidFill>
            <a:prstDash val="solid"/>
          </a:ln>
        </p:spPr>
      </p:sp>
      <p:sp>
        <p:nvSpPr>
          <p:cNvPr id="10" name="Text 8"/>
          <p:cNvSpPr/>
          <p:nvPr/>
        </p:nvSpPr>
        <p:spPr>
          <a:xfrm>
            <a:off x="1022350" y="4484340"/>
            <a:ext cx="545477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Then fill the rest</a:t>
            </a:r>
            <a:endParaRPr lang="en-US" sz="2000" dirty="0"/>
          </a:p>
        </p:txBody>
      </p:sp>
      <p:sp>
        <p:nvSpPr>
          <p:cNvPr id="11" name="Text 9"/>
          <p:cNvSpPr/>
          <p:nvPr/>
        </p:nvSpPr>
        <p:spPr>
          <a:xfrm>
            <a:off x="1022350" y="4890740"/>
            <a:ext cx="545477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Snap Assist offers your other open windows for the empty zones.</a:t>
            </a:r>
            <a:endParaRPr lang="en-US" sz="1500" dirty="0"/>
          </a:p>
        </p:txBody>
      </p:sp>
      <p:pic>
        <p:nvPicPr>
          <p:cNvPr id="12" name="Image 0" descr="Snap layout picker showing four layout choices">    </p:cNvPr>
          <p:cNvPicPr>
            <a:picLocks noChangeAspect="1"/>
          </p:cNvPicPr>
          <p:nvPr/>
        </p:nvPicPr>
        <p:blipFill>
          <a:blip r:embed="rId1"/>
          <a:srcRect l="0" r="0" t="0" b="0"/>
          <a:stretch/>
        </p:blipFill>
        <p:spPr>
          <a:xfrm>
            <a:off x="6934200" y="1976090"/>
            <a:ext cx="4445000" cy="330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F"/>
                </a:solidFill>
                <a:latin typeface="Atkinson Hyperlegible" pitchFamily="34" charset="0"/>
                <a:ea typeface="Atkinson Hyperlegible" pitchFamily="34" charset="-122"/>
                <a:cs typeface="Atkinson Hyperlegible" pitchFamily="34" charset="-120"/>
              </a:rPr>
              <a:t>HIDDEN GEM</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Separate desktops for class, work, and home</a:t>
            </a:r>
            <a:endParaRPr lang="en-US" sz="3600" dirty="0"/>
          </a:p>
        </p:txBody>
      </p:sp>
      <p:sp>
        <p:nvSpPr>
          <p:cNvPr id="4" name="Shape 2"/>
          <p:cNvSpPr/>
          <p:nvPr/>
        </p:nvSpPr>
        <p:spPr>
          <a:xfrm>
            <a:off x="825500" y="1922711"/>
            <a:ext cx="2768600" cy="1562100"/>
          </a:xfrm>
          <a:prstGeom prst="roundRect">
            <a:avLst>
              <a:gd name="adj" fmla="val 4878"/>
            </a:avLst>
          </a:prstGeom>
          <a:solidFill>
            <a:srgbClr val="FCFDFE"/>
          </a:solidFill>
          <a:ln w="25400">
            <a:solidFill>
              <a:srgbClr val="0A5FC2"/>
            </a:solidFill>
            <a:prstDash val="solid"/>
          </a:ln>
        </p:spPr>
      </p:sp>
      <p:sp>
        <p:nvSpPr>
          <p:cNvPr id="5" name="Shape 3"/>
          <p:cNvSpPr/>
          <p:nvPr/>
        </p:nvSpPr>
        <p:spPr>
          <a:xfrm>
            <a:off x="971550" y="2068761"/>
            <a:ext cx="1193800" cy="1270000"/>
          </a:xfrm>
          <a:prstGeom prst="roundRect">
            <a:avLst>
              <a:gd name="adj" fmla="val 2660"/>
            </a:avLst>
          </a:prstGeom>
          <a:solidFill>
            <a:srgbClr val="DCE5F2"/>
          </a:solidFill>
          <a:ln w="12700">
            <a:solidFill>
              <a:srgbClr val="9FB3CC"/>
            </a:solidFill>
            <a:prstDash val="solid"/>
          </a:ln>
        </p:spPr>
      </p:sp>
      <p:sp>
        <p:nvSpPr>
          <p:cNvPr id="6" name="Shape 4"/>
          <p:cNvSpPr/>
          <p:nvPr/>
        </p:nvSpPr>
        <p:spPr>
          <a:xfrm>
            <a:off x="2254250" y="2068761"/>
            <a:ext cx="1193800" cy="1270000"/>
          </a:xfrm>
          <a:prstGeom prst="roundRect">
            <a:avLst>
              <a:gd name="adj" fmla="val 2660"/>
            </a:avLst>
          </a:prstGeom>
          <a:solidFill>
            <a:srgbClr val="DCE5F2"/>
          </a:solidFill>
          <a:ln w="12700">
            <a:solidFill>
              <a:srgbClr val="9FB3CC"/>
            </a:solidFill>
            <a:prstDash val="solid"/>
          </a:ln>
        </p:spPr>
      </p:sp>
      <p:sp>
        <p:nvSpPr>
          <p:cNvPr id="7" name="Text 5"/>
          <p:cNvSpPr/>
          <p:nvPr/>
        </p:nvSpPr>
        <p:spPr>
          <a:xfrm>
            <a:off x="1960314" y="3599111"/>
            <a:ext cx="54972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Class</a:t>
            </a:r>
            <a:endParaRPr lang="en-US" sz="1500" dirty="0"/>
          </a:p>
        </p:txBody>
      </p:sp>
      <p:sp>
        <p:nvSpPr>
          <p:cNvPr id="8" name="Shape 6"/>
          <p:cNvSpPr/>
          <p:nvPr/>
        </p:nvSpPr>
        <p:spPr>
          <a:xfrm>
            <a:off x="4705350" y="1916361"/>
            <a:ext cx="2781300" cy="1574800"/>
          </a:xfrm>
          <a:prstGeom prst="roundRect">
            <a:avLst>
              <a:gd name="adj" fmla="val 5242"/>
            </a:avLst>
          </a:prstGeom>
          <a:solidFill>
            <a:srgbClr val="FCFDFE"/>
          </a:solidFill>
          <a:ln w="12700">
            <a:solidFill>
              <a:srgbClr val="D6DCE4"/>
            </a:solidFill>
            <a:prstDash val="solid"/>
          </a:ln>
        </p:spPr>
      </p:sp>
      <p:sp>
        <p:nvSpPr>
          <p:cNvPr id="9" name="Shape 7"/>
          <p:cNvSpPr/>
          <p:nvPr/>
        </p:nvSpPr>
        <p:spPr>
          <a:xfrm>
            <a:off x="4845050" y="2056061"/>
            <a:ext cx="2501900" cy="1295400"/>
          </a:xfrm>
          <a:prstGeom prst="roundRect">
            <a:avLst>
              <a:gd name="adj" fmla="val 2451"/>
            </a:avLst>
          </a:prstGeom>
          <a:solidFill>
            <a:srgbClr val="DCE5F2"/>
          </a:solidFill>
          <a:ln w="12700">
            <a:solidFill>
              <a:srgbClr val="9FB3CC"/>
            </a:solidFill>
            <a:prstDash val="solid"/>
          </a:ln>
        </p:spPr>
      </p:sp>
      <p:sp>
        <p:nvSpPr>
          <p:cNvPr id="10" name="Text 8"/>
          <p:cNvSpPr/>
          <p:nvPr/>
        </p:nvSpPr>
        <p:spPr>
          <a:xfrm>
            <a:off x="5870029" y="3599111"/>
            <a:ext cx="5026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Work</a:t>
            </a:r>
            <a:endParaRPr lang="en-US" sz="1500" dirty="0"/>
          </a:p>
        </p:txBody>
      </p:sp>
      <p:sp>
        <p:nvSpPr>
          <p:cNvPr id="11" name="Shape 9"/>
          <p:cNvSpPr/>
          <p:nvPr/>
        </p:nvSpPr>
        <p:spPr>
          <a:xfrm>
            <a:off x="8591550" y="1916361"/>
            <a:ext cx="2781300" cy="1574800"/>
          </a:xfrm>
          <a:prstGeom prst="roundRect">
            <a:avLst>
              <a:gd name="adj" fmla="val 5242"/>
            </a:avLst>
          </a:prstGeom>
          <a:solidFill>
            <a:srgbClr val="FCFDFE"/>
          </a:solidFill>
          <a:ln w="12700">
            <a:solidFill>
              <a:srgbClr val="D6DCE4"/>
            </a:solidFill>
            <a:prstDash val="solid"/>
          </a:ln>
        </p:spPr>
      </p:sp>
      <p:sp>
        <p:nvSpPr>
          <p:cNvPr id="12" name="Shape 10"/>
          <p:cNvSpPr/>
          <p:nvPr/>
        </p:nvSpPr>
        <p:spPr>
          <a:xfrm>
            <a:off x="8731250" y="2056061"/>
            <a:ext cx="774700" cy="1295400"/>
          </a:xfrm>
          <a:prstGeom prst="roundRect">
            <a:avLst>
              <a:gd name="adj" fmla="val 4098"/>
            </a:avLst>
          </a:prstGeom>
          <a:solidFill>
            <a:srgbClr val="DCE5F2"/>
          </a:solidFill>
          <a:ln w="12700">
            <a:solidFill>
              <a:srgbClr val="9FB3CC"/>
            </a:solidFill>
            <a:prstDash val="solid"/>
          </a:ln>
        </p:spPr>
      </p:sp>
      <p:sp>
        <p:nvSpPr>
          <p:cNvPr id="13" name="Shape 11"/>
          <p:cNvSpPr/>
          <p:nvPr/>
        </p:nvSpPr>
        <p:spPr>
          <a:xfrm>
            <a:off x="9594850" y="2056061"/>
            <a:ext cx="774700" cy="1295400"/>
          </a:xfrm>
          <a:prstGeom prst="roundRect">
            <a:avLst>
              <a:gd name="adj" fmla="val 4098"/>
            </a:avLst>
          </a:prstGeom>
          <a:solidFill>
            <a:srgbClr val="DCE5F2"/>
          </a:solidFill>
          <a:ln w="12700">
            <a:solidFill>
              <a:srgbClr val="9FB3CC"/>
            </a:solidFill>
            <a:prstDash val="solid"/>
          </a:ln>
        </p:spPr>
      </p:sp>
      <p:sp>
        <p:nvSpPr>
          <p:cNvPr id="14" name="Shape 12"/>
          <p:cNvSpPr/>
          <p:nvPr/>
        </p:nvSpPr>
        <p:spPr>
          <a:xfrm>
            <a:off x="10458450" y="2056061"/>
            <a:ext cx="774700" cy="1295400"/>
          </a:xfrm>
          <a:prstGeom prst="roundRect">
            <a:avLst>
              <a:gd name="adj" fmla="val 4098"/>
            </a:avLst>
          </a:prstGeom>
          <a:solidFill>
            <a:srgbClr val="DCE5F2"/>
          </a:solidFill>
          <a:ln w="12700">
            <a:solidFill>
              <a:srgbClr val="9FB3CC"/>
            </a:solidFill>
            <a:prstDash val="solid"/>
          </a:ln>
        </p:spPr>
      </p:sp>
      <p:sp>
        <p:nvSpPr>
          <p:cNvPr id="15" name="Text 13"/>
          <p:cNvSpPr/>
          <p:nvPr/>
        </p:nvSpPr>
        <p:spPr>
          <a:xfrm>
            <a:off x="9590683" y="3599111"/>
            <a:ext cx="83378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Personal</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12800" y="4170611"/>
          <a:ext cx="10566400" cy="1757561"/>
        </p:xfrm>
        <a:graphic>
          <a:graphicData uri="http://schemas.openxmlformats.org/drawingml/2006/table">
            <a:tbl>
              <a:tblPr/>
              <a:tblGrid>
                <a:gridCol w="3803904"/>
                <a:gridCol w="6762496"/>
              </a:tblGrid>
              <a:tr h="439390">
                <a:tc>
                  <a:txBody>
                    <a:bodyPr/>
                    <a:lstStyle/>
                    <a:p>
                      <a:pPr indent="0" marL="0">
                        <a:lnSpc>
                          <a:spcPts val="1960"/>
                        </a:lnSpc>
                        <a:buNone/>
                      </a:pPr>
                      <a:r>
                        <a:rPr lang="en-US" sz="1400" b="1" dirty="0">
                          <a:solidFill>
                            <a:srgbClr val="16202C"/>
                          </a:solidFill>
                          <a:latin typeface="Atkinson Hyperlegible" pitchFamily="34" charset="0"/>
                          <a:ea typeface="Atkinson Hyperlegible" pitchFamily="34" charset="-122"/>
                          <a:cs typeface="Atkinson Hyperlegible" pitchFamily="34" charset="-120"/>
                        </a:rPr>
                        <a:t>Shortcut</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c>
                  <a:txBody>
                    <a:bodyPr/>
                    <a:lstStyle/>
                    <a:p>
                      <a:pPr indent="0" marL="0">
                        <a:lnSpc>
                          <a:spcPts val="1960"/>
                        </a:lnSpc>
                        <a:buNone/>
                      </a:pPr>
                      <a:r>
                        <a:rPr lang="en-US" sz="1400" b="1" dirty="0">
                          <a:solidFill>
                            <a:srgbClr val="16202C"/>
                          </a:solidFill>
                          <a:latin typeface="Atkinson Hyperlegible" pitchFamily="34" charset="0"/>
                          <a:ea typeface="Atkinson Hyperlegible" pitchFamily="34" charset="-122"/>
                          <a:cs typeface="Atkinson Hyperlegible" pitchFamily="34" charset="-120"/>
                        </a:rPr>
                        <a:t>What it does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Win + Tab</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Open Task View: every window and desktop</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Ctrl + Win + D</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Create a new desktop</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Ctrl + Win + ← / →</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Switch desktops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Two panels in the corner of the taskbar</a:t>
            </a:r>
            <a:endParaRPr lang="en-US" sz="3600" dirty="0"/>
          </a:p>
        </p:txBody>
      </p:sp>
      <p:sp>
        <p:nvSpPr>
          <p:cNvPr id="3" name="Shape 1"/>
          <p:cNvSpPr/>
          <p:nvPr/>
        </p:nvSpPr>
        <p:spPr>
          <a:xfrm>
            <a:off x="815975" y="1623665"/>
            <a:ext cx="5175250" cy="2172940"/>
          </a:xfrm>
          <a:prstGeom prst="roundRect">
            <a:avLst>
              <a:gd name="adj" fmla="val 4530"/>
            </a:avLst>
          </a:prstGeom>
          <a:solidFill>
            <a:srgbClr val="FCFDFE"/>
          </a:solidFill>
          <a:ln w="6350">
            <a:solidFill>
              <a:srgbClr val="D6DCE4"/>
            </a:solidFill>
            <a:prstDash val="solid"/>
          </a:ln>
        </p:spPr>
      </p:sp>
      <p:sp>
        <p:nvSpPr>
          <p:cNvPr id="4" name="Shape 2"/>
          <p:cNvSpPr/>
          <p:nvPr/>
        </p:nvSpPr>
        <p:spPr>
          <a:xfrm>
            <a:off x="1022350" y="1830040"/>
            <a:ext cx="548680" cy="350490"/>
          </a:xfrm>
          <a:prstGeom prst="roundRect">
            <a:avLst>
              <a:gd name="adj" fmla="val 18117"/>
            </a:avLst>
          </a:prstGeom>
          <a:solidFill>
            <a:srgbClr val="F3F5F8"/>
          </a:solidFill>
          <a:ln/>
        </p:spPr>
      </p:sp>
      <p:sp>
        <p:nvSpPr>
          <p:cNvPr id="5" name="Shape 3"/>
          <p:cNvSpPr/>
          <p:nvPr/>
        </p:nvSpPr>
        <p:spPr>
          <a:xfrm>
            <a:off x="1022350" y="1836390"/>
            <a:ext cx="548680" cy="0"/>
          </a:xfrm>
          <a:prstGeom prst="line">
            <a:avLst/>
          </a:prstGeom>
          <a:noFill/>
          <a:ln w="12700">
            <a:solidFill>
              <a:srgbClr val="AEB8C5"/>
            </a:solidFill>
            <a:prstDash val="solid"/>
          </a:ln>
        </p:spPr>
      </p:sp>
      <p:sp>
        <p:nvSpPr>
          <p:cNvPr id="6" name="Shape 4"/>
          <p:cNvSpPr/>
          <p:nvPr/>
        </p:nvSpPr>
        <p:spPr>
          <a:xfrm>
            <a:off x="1564680" y="1830040"/>
            <a:ext cx="0" cy="350490"/>
          </a:xfrm>
          <a:prstGeom prst="line">
            <a:avLst/>
          </a:prstGeom>
          <a:noFill/>
          <a:ln w="12700">
            <a:solidFill>
              <a:srgbClr val="AEB8C5"/>
            </a:solidFill>
            <a:prstDash val="solid"/>
          </a:ln>
        </p:spPr>
      </p:sp>
      <p:sp>
        <p:nvSpPr>
          <p:cNvPr id="7" name="Shape 5"/>
          <p:cNvSpPr/>
          <p:nvPr/>
        </p:nvSpPr>
        <p:spPr>
          <a:xfrm>
            <a:off x="1022350" y="2161480"/>
            <a:ext cx="548680" cy="0"/>
          </a:xfrm>
          <a:prstGeom prst="line">
            <a:avLst/>
          </a:prstGeom>
          <a:noFill/>
          <a:ln w="38100">
            <a:solidFill>
              <a:srgbClr val="AEB8C5"/>
            </a:solidFill>
            <a:prstDash val="solid"/>
          </a:ln>
        </p:spPr>
      </p:sp>
      <p:sp>
        <p:nvSpPr>
          <p:cNvPr id="8" name="Shape 6"/>
          <p:cNvSpPr/>
          <p:nvPr/>
        </p:nvSpPr>
        <p:spPr>
          <a:xfrm>
            <a:off x="1028700" y="1830040"/>
            <a:ext cx="0" cy="350490"/>
          </a:xfrm>
          <a:prstGeom prst="line">
            <a:avLst/>
          </a:prstGeom>
          <a:noFill/>
          <a:ln w="12700">
            <a:solidFill>
              <a:srgbClr val="AEB8C5"/>
            </a:solidFill>
            <a:prstDash val="solid"/>
          </a:ln>
        </p:spPr>
      </p:sp>
      <p:sp>
        <p:nvSpPr>
          <p:cNvPr id="9" name="Text 7"/>
          <p:cNvSpPr/>
          <p:nvPr/>
        </p:nvSpPr>
        <p:spPr>
          <a:xfrm>
            <a:off x="1136650" y="186814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10" name="Text 8"/>
          <p:cNvSpPr/>
          <p:nvPr/>
        </p:nvSpPr>
        <p:spPr>
          <a:xfrm>
            <a:off x="1634530" y="188084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1" name="Shape 9"/>
          <p:cNvSpPr/>
          <p:nvPr/>
        </p:nvSpPr>
        <p:spPr>
          <a:xfrm>
            <a:off x="1805087" y="1830040"/>
            <a:ext cx="335310" cy="350490"/>
          </a:xfrm>
          <a:prstGeom prst="roundRect">
            <a:avLst>
              <a:gd name="adj" fmla="val 18938"/>
            </a:avLst>
          </a:prstGeom>
          <a:solidFill>
            <a:srgbClr val="F3F5F8"/>
          </a:solidFill>
          <a:ln/>
        </p:spPr>
      </p:sp>
      <p:sp>
        <p:nvSpPr>
          <p:cNvPr id="12" name="Shape 10"/>
          <p:cNvSpPr/>
          <p:nvPr/>
        </p:nvSpPr>
        <p:spPr>
          <a:xfrm>
            <a:off x="1805087" y="1836390"/>
            <a:ext cx="335310" cy="0"/>
          </a:xfrm>
          <a:prstGeom prst="line">
            <a:avLst/>
          </a:prstGeom>
          <a:noFill/>
          <a:ln w="12700">
            <a:solidFill>
              <a:srgbClr val="AEB8C5"/>
            </a:solidFill>
            <a:prstDash val="solid"/>
          </a:ln>
        </p:spPr>
      </p:sp>
      <p:sp>
        <p:nvSpPr>
          <p:cNvPr id="13" name="Shape 11"/>
          <p:cNvSpPr/>
          <p:nvPr/>
        </p:nvSpPr>
        <p:spPr>
          <a:xfrm>
            <a:off x="2134046" y="1830040"/>
            <a:ext cx="0" cy="350490"/>
          </a:xfrm>
          <a:prstGeom prst="line">
            <a:avLst/>
          </a:prstGeom>
          <a:noFill/>
          <a:ln w="12700">
            <a:solidFill>
              <a:srgbClr val="AEB8C5"/>
            </a:solidFill>
            <a:prstDash val="solid"/>
          </a:ln>
        </p:spPr>
      </p:sp>
      <p:sp>
        <p:nvSpPr>
          <p:cNvPr id="14" name="Shape 12"/>
          <p:cNvSpPr/>
          <p:nvPr/>
        </p:nvSpPr>
        <p:spPr>
          <a:xfrm>
            <a:off x="1805087" y="2161480"/>
            <a:ext cx="335310" cy="0"/>
          </a:xfrm>
          <a:prstGeom prst="line">
            <a:avLst/>
          </a:prstGeom>
          <a:noFill/>
          <a:ln w="38100">
            <a:solidFill>
              <a:srgbClr val="AEB8C5"/>
            </a:solidFill>
            <a:prstDash val="solid"/>
          </a:ln>
        </p:spPr>
      </p:sp>
      <p:sp>
        <p:nvSpPr>
          <p:cNvPr id="15" name="Shape 13"/>
          <p:cNvSpPr/>
          <p:nvPr/>
        </p:nvSpPr>
        <p:spPr>
          <a:xfrm>
            <a:off x="1811437" y="1830040"/>
            <a:ext cx="0" cy="350490"/>
          </a:xfrm>
          <a:prstGeom prst="line">
            <a:avLst/>
          </a:prstGeom>
          <a:noFill/>
          <a:ln w="12700">
            <a:solidFill>
              <a:srgbClr val="AEB8C5"/>
            </a:solidFill>
            <a:prstDash val="solid"/>
          </a:ln>
        </p:spPr>
      </p:sp>
      <p:sp>
        <p:nvSpPr>
          <p:cNvPr id="16" name="Text 14"/>
          <p:cNvSpPr/>
          <p:nvPr/>
        </p:nvSpPr>
        <p:spPr>
          <a:xfrm>
            <a:off x="1919387" y="186814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A</a:t>
            </a:r>
            <a:endParaRPr lang="en-US" sz="1400" dirty="0"/>
          </a:p>
        </p:txBody>
      </p:sp>
      <p:sp>
        <p:nvSpPr>
          <p:cNvPr id="17" name="Text 15"/>
          <p:cNvSpPr/>
          <p:nvPr/>
        </p:nvSpPr>
        <p:spPr>
          <a:xfrm>
            <a:off x="1022350" y="228213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Quick Settings</a:t>
            </a:r>
            <a:endParaRPr lang="en-US" sz="2000" dirty="0"/>
          </a:p>
        </p:txBody>
      </p:sp>
      <p:sp>
        <p:nvSpPr>
          <p:cNvPr id="18" name="Text 16"/>
          <p:cNvSpPr/>
          <p:nvPr/>
        </p:nvSpPr>
        <p:spPr>
          <a:xfrm>
            <a:off x="1022350" y="2688530"/>
            <a:ext cx="49053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Wi-Fi, Bluetooth, volume, brightness, airplane mode, and Night light.</a:t>
            </a:r>
            <a:endParaRPr lang="en-US" sz="1500" dirty="0"/>
          </a:p>
        </p:txBody>
      </p:sp>
      <p:sp>
        <p:nvSpPr>
          <p:cNvPr id="19" name="Text 17"/>
          <p:cNvSpPr/>
          <p:nvPr/>
        </p:nvSpPr>
        <p:spPr>
          <a:xfrm>
            <a:off x="1022350" y="3323530"/>
            <a:ext cx="49053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E5B6B"/>
                </a:solidFill>
                <a:latin typeface="Atkinson Hyperlegible" pitchFamily="34" charset="0"/>
                <a:ea typeface="Atkinson Hyperlegible" pitchFamily="34" charset="-122"/>
                <a:cs typeface="Atkinson Hyperlegible" pitchFamily="34" charset="-120"/>
              </a:rPr>
              <a:t>Click the pencil icon to add or remove buttons.</a:t>
            </a:r>
            <a:endParaRPr lang="en-US" sz="1500" dirty="0"/>
          </a:p>
        </p:txBody>
      </p:sp>
      <p:sp>
        <p:nvSpPr>
          <p:cNvPr id="20" name="Shape 18"/>
          <p:cNvSpPr/>
          <p:nvPr/>
        </p:nvSpPr>
        <p:spPr>
          <a:xfrm>
            <a:off x="6200775" y="1623665"/>
            <a:ext cx="5175250" cy="2172940"/>
          </a:xfrm>
          <a:prstGeom prst="roundRect">
            <a:avLst>
              <a:gd name="adj" fmla="val 4530"/>
            </a:avLst>
          </a:prstGeom>
          <a:solidFill>
            <a:srgbClr val="FCFDFE"/>
          </a:solidFill>
          <a:ln w="6350">
            <a:solidFill>
              <a:srgbClr val="D6DCE4"/>
            </a:solidFill>
            <a:prstDash val="solid"/>
          </a:ln>
        </p:spPr>
      </p:sp>
      <p:sp>
        <p:nvSpPr>
          <p:cNvPr id="21" name="Shape 19"/>
          <p:cNvSpPr/>
          <p:nvPr/>
        </p:nvSpPr>
        <p:spPr>
          <a:xfrm>
            <a:off x="6407150" y="1830040"/>
            <a:ext cx="548680" cy="350490"/>
          </a:xfrm>
          <a:prstGeom prst="roundRect">
            <a:avLst>
              <a:gd name="adj" fmla="val 18117"/>
            </a:avLst>
          </a:prstGeom>
          <a:solidFill>
            <a:srgbClr val="F3F5F8"/>
          </a:solidFill>
          <a:ln/>
        </p:spPr>
      </p:sp>
      <p:sp>
        <p:nvSpPr>
          <p:cNvPr id="22" name="Shape 20"/>
          <p:cNvSpPr/>
          <p:nvPr/>
        </p:nvSpPr>
        <p:spPr>
          <a:xfrm>
            <a:off x="6407150" y="1836390"/>
            <a:ext cx="548680" cy="0"/>
          </a:xfrm>
          <a:prstGeom prst="line">
            <a:avLst/>
          </a:prstGeom>
          <a:noFill/>
          <a:ln w="12700">
            <a:solidFill>
              <a:srgbClr val="AEB8C5"/>
            </a:solidFill>
            <a:prstDash val="solid"/>
          </a:ln>
        </p:spPr>
      </p:sp>
      <p:sp>
        <p:nvSpPr>
          <p:cNvPr id="23" name="Shape 21"/>
          <p:cNvSpPr/>
          <p:nvPr/>
        </p:nvSpPr>
        <p:spPr>
          <a:xfrm>
            <a:off x="6949480" y="1830040"/>
            <a:ext cx="0" cy="350490"/>
          </a:xfrm>
          <a:prstGeom prst="line">
            <a:avLst/>
          </a:prstGeom>
          <a:noFill/>
          <a:ln w="12700">
            <a:solidFill>
              <a:srgbClr val="AEB8C5"/>
            </a:solidFill>
            <a:prstDash val="solid"/>
          </a:ln>
        </p:spPr>
      </p:sp>
      <p:sp>
        <p:nvSpPr>
          <p:cNvPr id="24" name="Shape 22"/>
          <p:cNvSpPr/>
          <p:nvPr/>
        </p:nvSpPr>
        <p:spPr>
          <a:xfrm>
            <a:off x="6407150" y="2161480"/>
            <a:ext cx="548680" cy="0"/>
          </a:xfrm>
          <a:prstGeom prst="line">
            <a:avLst/>
          </a:prstGeom>
          <a:noFill/>
          <a:ln w="38100">
            <a:solidFill>
              <a:srgbClr val="AEB8C5"/>
            </a:solidFill>
            <a:prstDash val="solid"/>
          </a:ln>
        </p:spPr>
      </p:sp>
      <p:sp>
        <p:nvSpPr>
          <p:cNvPr id="25" name="Shape 23"/>
          <p:cNvSpPr/>
          <p:nvPr/>
        </p:nvSpPr>
        <p:spPr>
          <a:xfrm>
            <a:off x="6413500" y="1830040"/>
            <a:ext cx="0" cy="350490"/>
          </a:xfrm>
          <a:prstGeom prst="line">
            <a:avLst/>
          </a:prstGeom>
          <a:noFill/>
          <a:ln w="12700">
            <a:solidFill>
              <a:srgbClr val="AEB8C5"/>
            </a:solidFill>
            <a:prstDash val="solid"/>
          </a:ln>
        </p:spPr>
      </p:sp>
      <p:sp>
        <p:nvSpPr>
          <p:cNvPr id="26" name="Text 24"/>
          <p:cNvSpPr/>
          <p:nvPr/>
        </p:nvSpPr>
        <p:spPr>
          <a:xfrm>
            <a:off x="6521450" y="186814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27" name="Text 25"/>
          <p:cNvSpPr/>
          <p:nvPr/>
        </p:nvSpPr>
        <p:spPr>
          <a:xfrm>
            <a:off x="7019330" y="188084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28" name="Shape 26"/>
          <p:cNvSpPr/>
          <p:nvPr/>
        </p:nvSpPr>
        <p:spPr>
          <a:xfrm>
            <a:off x="7189887" y="1830040"/>
            <a:ext cx="335310" cy="350490"/>
          </a:xfrm>
          <a:prstGeom prst="roundRect">
            <a:avLst>
              <a:gd name="adj" fmla="val 18938"/>
            </a:avLst>
          </a:prstGeom>
          <a:solidFill>
            <a:srgbClr val="F3F5F8"/>
          </a:solidFill>
          <a:ln/>
        </p:spPr>
      </p:sp>
      <p:sp>
        <p:nvSpPr>
          <p:cNvPr id="29" name="Shape 27"/>
          <p:cNvSpPr/>
          <p:nvPr/>
        </p:nvSpPr>
        <p:spPr>
          <a:xfrm>
            <a:off x="7189887" y="1836390"/>
            <a:ext cx="335310" cy="0"/>
          </a:xfrm>
          <a:prstGeom prst="line">
            <a:avLst/>
          </a:prstGeom>
          <a:noFill/>
          <a:ln w="12700">
            <a:solidFill>
              <a:srgbClr val="AEB8C5"/>
            </a:solidFill>
            <a:prstDash val="solid"/>
          </a:ln>
        </p:spPr>
      </p:sp>
      <p:sp>
        <p:nvSpPr>
          <p:cNvPr id="30" name="Shape 28"/>
          <p:cNvSpPr/>
          <p:nvPr/>
        </p:nvSpPr>
        <p:spPr>
          <a:xfrm>
            <a:off x="7518846" y="1830040"/>
            <a:ext cx="0" cy="350490"/>
          </a:xfrm>
          <a:prstGeom prst="line">
            <a:avLst/>
          </a:prstGeom>
          <a:noFill/>
          <a:ln w="12700">
            <a:solidFill>
              <a:srgbClr val="AEB8C5"/>
            </a:solidFill>
            <a:prstDash val="solid"/>
          </a:ln>
        </p:spPr>
      </p:sp>
      <p:sp>
        <p:nvSpPr>
          <p:cNvPr id="31" name="Shape 29"/>
          <p:cNvSpPr/>
          <p:nvPr/>
        </p:nvSpPr>
        <p:spPr>
          <a:xfrm>
            <a:off x="7189887" y="2161480"/>
            <a:ext cx="335310" cy="0"/>
          </a:xfrm>
          <a:prstGeom prst="line">
            <a:avLst/>
          </a:prstGeom>
          <a:noFill/>
          <a:ln w="38100">
            <a:solidFill>
              <a:srgbClr val="AEB8C5"/>
            </a:solidFill>
            <a:prstDash val="solid"/>
          </a:ln>
        </p:spPr>
      </p:sp>
      <p:sp>
        <p:nvSpPr>
          <p:cNvPr id="32" name="Shape 30"/>
          <p:cNvSpPr/>
          <p:nvPr/>
        </p:nvSpPr>
        <p:spPr>
          <a:xfrm>
            <a:off x="7196237" y="1830040"/>
            <a:ext cx="0" cy="350490"/>
          </a:xfrm>
          <a:prstGeom prst="line">
            <a:avLst/>
          </a:prstGeom>
          <a:noFill/>
          <a:ln w="12700">
            <a:solidFill>
              <a:srgbClr val="AEB8C5"/>
            </a:solidFill>
            <a:prstDash val="solid"/>
          </a:ln>
        </p:spPr>
      </p:sp>
      <p:sp>
        <p:nvSpPr>
          <p:cNvPr id="33" name="Text 31"/>
          <p:cNvSpPr/>
          <p:nvPr/>
        </p:nvSpPr>
        <p:spPr>
          <a:xfrm>
            <a:off x="7304187" y="186814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N</a:t>
            </a:r>
            <a:endParaRPr lang="en-US" sz="1400" dirty="0"/>
          </a:p>
        </p:txBody>
      </p:sp>
      <p:sp>
        <p:nvSpPr>
          <p:cNvPr id="34" name="Text 32"/>
          <p:cNvSpPr/>
          <p:nvPr/>
        </p:nvSpPr>
        <p:spPr>
          <a:xfrm>
            <a:off x="6407150" y="228213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Notifications</a:t>
            </a:r>
            <a:endParaRPr lang="en-US" sz="2000" dirty="0"/>
          </a:p>
        </p:txBody>
      </p:sp>
      <p:sp>
        <p:nvSpPr>
          <p:cNvPr id="35" name="Text 33"/>
          <p:cNvSpPr/>
          <p:nvPr/>
        </p:nvSpPr>
        <p:spPr>
          <a:xfrm>
            <a:off x="6407150" y="2688530"/>
            <a:ext cx="49053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Alerts, the calendar, and Do not disturb to silence alerts during class or tests.</a:t>
            </a:r>
            <a:endParaRPr lang="en-US" sz="1500" dirty="0"/>
          </a:p>
        </p:txBody>
      </p:sp>
      <p:sp>
        <p:nvSpPr>
          <p:cNvPr id="36" name="Text 34"/>
          <p:cNvSpPr/>
          <p:nvPr/>
        </p:nvSpPr>
        <p:spPr>
          <a:xfrm>
            <a:off x="6407150" y="3323530"/>
            <a:ext cx="49053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E5B6B"/>
                </a:solidFill>
                <a:latin typeface="Atkinson Hyperlegible" pitchFamily="34" charset="0"/>
                <a:ea typeface="Atkinson Hyperlegible" pitchFamily="34" charset="-122"/>
                <a:cs typeface="Atkinson Hyperlegible" pitchFamily="34" charset="-120"/>
              </a:rPr>
              <a:t>Focus sessions start a timer that also silences alerts.</a:t>
            </a:r>
            <a:endParaRPr lang="en-US" sz="1500" dirty="0"/>
          </a:p>
        </p:txBody>
      </p:sp>
      <p:sp>
        <p:nvSpPr>
          <p:cNvPr id="37" name="Text 35"/>
          <p:cNvSpPr/>
          <p:nvPr/>
        </p:nvSpPr>
        <p:spPr>
          <a:xfrm>
            <a:off x="812800" y="41045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B6B"/>
                </a:solidFill>
                <a:latin typeface="Atkinson Hyperlegible" pitchFamily="34" charset="0"/>
                <a:ea typeface="Atkinson Hyperlegible" pitchFamily="34" charset="-122"/>
                <a:cs typeface="Atkinson Hyperlegible" pitchFamily="34" charset="-120"/>
              </a:rPr>
              <a:t>Too many pop-ups? </a:t>
            </a:r>
            <a:r>
              <a:rPr lang="en-US" sz="1600" b="1" dirty="0">
                <a:solidFill>
                  <a:srgbClr val="4E5B6B"/>
                </a:solidFill>
                <a:latin typeface="Atkinson Hyperlegible" pitchFamily="34" charset="0"/>
                <a:ea typeface="Atkinson Hyperlegible" pitchFamily="34" charset="-122"/>
                <a:cs typeface="Atkinson Hyperlegible" pitchFamily="34" charset="-120"/>
              </a:rPr>
              <a:t>Settings › System › Notifications</a:t>
            </a:r>
            <a:r>
              <a:rPr lang="en-US" sz="1600" dirty="0">
                <a:solidFill>
                  <a:srgbClr val="4E5B6B"/>
                </a:solidFill>
                <a:latin typeface="Atkinson Hyperlegible" pitchFamily="34" charset="0"/>
                <a:ea typeface="Atkinson Hyperlegible" pitchFamily="34" charset="-122"/>
                <a:cs typeface="Atkinson Hyperlegible" pitchFamily="34" charset="-120"/>
              </a:rPr>
              <a:t> turns them off app by app.</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File Explorer: know where you are</a:t>
            </a:r>
            <a:endParaRPr lang="en-US" sz="3600" dirty="0"/>
          </a:p>
        </p:txBody>
      </p:sp>
      <p:sp>
        <p:nvSpPr>
          <p:cNvPr id="3" name="Shape 1"/>
          <p:cNvSpPr/>
          <p:nvPr/>
        </p:nvSpPr>
        <p:spPr>
          <a:xfrm>
            <a:off x="815975" y="1623665"/>
            <a:ext cx="5200650" cy="1352550"/>
          </a:xfrm>
          <a:prstGeom prst="roundRect">
            <a:avLst>
              <a:gd name="adj" fmla="val 7277"/>
            </a:avLst>
          </a:prstGeom>
          <a:solidFill>
            <a:srgbClr val="FCFDFE"/>
          </a:solidFill>
          <a:ln w="6350">
            <a:solidFill>
              <a:srgbClr val="D6DCE4"/>
            </a:solidFill>
            <a:prstDash val="solid"/>
          </a:ln>
        </p:spPr>
      </p:sp>
      <p:sp>
        <p:nvSpPr>
          <p:cNvPr id="4" name="Text 2"/>
          <p:cNvSpPr/>
          <p:nvPr/>
        </p:nvSpPr>
        <p:spPr>
          <a:xfrm>
            <a:off x="1022350" y="183004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Home</a:t>
            </a:r>
            <a:endParaRPr lang="en-US" sz="2000" dirty="0"/>
          </a:p>
        </p:txBody>
      </p:sp>
      <p:sp>
        <p:nvSpPr>
          <p:cNvPr id="5" name="Text 3"/>
          <p:cNvSpPr/>
          <p:nvPr/>
        </p:nvSpPr>
        <p:spPr>
          <a:xfrm>
            <a:off x="1022350" y="2236440"/>
            <a:ext cx="49315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Recent files and favorites. Replaced Quick Access, and it is where Explorer opens.</a:t>
            </a:r>
            <a:endParaRPr lang="en-US" sz="1500" dirty="0"/>
          </a:p>
        </p:txBody>
      </p:sp>
      <p:sp>
        <p:nvSpPr>
          <p:cNvPr id="6" name="Shape 4"/>
          <p:cNvSpPr/>
          <p:nvPr/>
        </p:nvSpPr>
        <p:spPr>
          <a:xfrm>
            <a:off x="6175375" y="1623665"/>
            <a:ext cx="5200650" cy="1352550"/>
          </a:xfrm>
          <a:prstGeom prst="roundRect">
            <a:avLst>
              <a:gd name="adj" fmla="val 7277"/>
            </a:avLst>
          </a:prstGeom>
          <a:solidFill>
            <a:srgbClr val="FCFDFE"/>
          </a:solidFill>
          <a:ln w="6350">
            <a:solidFill>
              <a:srgbClr val="D6DCE4"/>
            </a:solidFill>
            <a:prstDash val="solid"/>
          </a:ln>
        </p:spPr>
      </p:sp>
      <p:sp>
        <p:nvSpPr>
          <p:cNvPr id="7" name="Text 5"/>
          <p:cNvSpPr/>
          <p:nvPr/>
        </p:nvSpPr>
        <p:spPr>
          <a:xfrm>
            <a:off x="6381750" y="183004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This PC</a:t>
            </a:r>
            <a:endParaRPr lang="en-US" sz="2000" dirty="0"/>
          </a:p>
        </p:txBody>
      </p:sp>
      <p:sp>
        <p:nvSpPr>
          <p:cNvPr id="8" name="Text 6"/>
          <p:cNvSpPr/>
          <p:nvPr/>
        </p:nvSpPr>
        <p:spPr>
          <a:xfrm>
            <a:off x="6381750" y="2236440"/>
            <a:ext cx="49315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Your drives and USB devices. Older versions called it My Computer.</a:t>
            </a:r>
            <a:endParaRPr lang="en-US" sz="1500" dirty="0"/>
          </a:p>
        </p:txBody>
      </p:sp>
      <p:sp>
        <p:nvSpPr>
          <p:cNvPr id="9" name="Shape 7"/>
          <p:cNvSpPr/>
          <p:nvPr/>
        </p:nvSpPr>
        <p:spPr>
          <a:xfrm>
            <a:off x="815975" y="3134965"/>
            <a:ext cx="5200650" cy="1352550"/>
          </a:xfrm>
          <a:prstGeom prst="roundRect">
            <a:avLst>
              <a:gd name="adj" fmla="val 7277"/>
            </a:avLst>
          </a:prstGeom>
          <a:solidFill>
            <a:srgbClr val="FCFDFE"/>
          </a:solidFill>
          <a:ln w="6350">
            <a:solidFill>
              <a:srgbClr val="D6DCE4"/>
            </a:solidFill>
            <a:prstDash val="solid"/>
          </a:ln>
        </p:spPr>
      </p:sp>
      <p:sp>
        <p:nvSpPr>
          <p:cNvPr id="10" name="Text 8"/>
          <p:cNvSpPr/>
          <p:nvPr/>
        </p:nvSpPr>
        <p:spPr>
          <a:xfrm>
            <a:off x="1022350" y="334134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The address bar</a:t>
            </a:r>
            <a:endParaRPr lang="en-US" sz="2000" dirty="0"/>
          </a:p>
        </p:txBody>
      </p:sp>
      <p:sp>
        <p:nvSpPr>
          <p:cNvPr id="11" name="Text 9"/>
          <p:cNvSpPr/>
          <p:nvPr/>
        </p:nvSpPr>
        <p:spPr>
          <a:xfrm>
            <a:off x="1022350" y="3747740"/>
            <a:ext cx="493153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Click the empty space beside the folder names to reveal the full path.</a:t>
            </a:r>
            <a:endParaRPr lang="en-US" sz="1500" dirty="0"/>
          </a:p>
        </p:txBody>
      </p:sp>
      <p:sp>
        <p:nvSpPr>
          <p:cNvPr id="12" name="Shape 10"/>
          <p:cNvSpPr/>
          <p:nvPr/>
        </p:nvSpPr>
        <p:spPr>
          <a:xfrm>
            <a:off x="6175375" y="3134965"/>
            <a:ext cx="5200650" cy="1352550"/>
          </a:xfrm>
          <a:prstGeom prst="roundRect">
            <a:avLst>
              <a:gd name="adj" fmla="val 7277"/>
            </a:avLst>
          </a:prstGeom>
          <a:solidFill>
            <a:srgbClr val="FCFDFE"/>
          </a:solidFill>
          <a:ln w="6350">
            <a:solidFill>
              <a:srgbClr val="D6DCE4"/>
            </a:solidFill>
            <a:prstDash val="solid"/>
          </a:ln>
        </p:spPr>
      </p:sp>
      <p:sp>
        <p:nvSpPr>
          <p:cNvPr id="13" name="Text 11"/>
          <p:cNvSpPr/>
          <p:nvPr/>
        </p:nvSpPr>
        <p:spPr>
          <a:xfrm>
            <a:off x="6381750" y="3341340"/>
            <a:ext cx="493153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Tabs</a:t>
            </a:r>
            <a:endParaRPr lang="en-US" sz="2000" dirty="0"/>
          </a:p>
        </p:txBody>
      </p:sp>
      <p:sp>
        <p:nvSpPr>
          <p:cNvPr id="14" name="Text 12"/>
          <p:cNvSpPr/>
          <p:nvPr/>
        </p:nvSpPr>
        <p:spPr>
          <a:xfrm>
            <a:off x="6381750" y="3747740"/>
            <a:ext cx="493153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Press Ctrl + T for a new tab, just like a web browser.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F"/>
                </a:solidFill>
                <a:latin typeface="Atkinson Hyperlegible" pitchFamily="34" charset="0"/>
                <a:ea typeface="Atkinson Hyperlegible" pitchFamily="34" charset="-122"/>
                <a:cs typeface="Atkinson Hyperlegible" pitchFamily="34" charset="-120"/>
              </a:rPr>
              <a:t>SECURITY HABIT</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Turn on file extensions</a:t>
            </a:r>
            <a:endParaRPr lang="en-US" sz="3600" dirty="0"/>
          </a:p>
        </p:txBody>
      </p:sp>
      <p:sp>
        <p:nvSpPr>
          <p:cNvPr id="4" name="Shape 2"/>
          <p:cNvSpPr/>
          <p:nvPr/>
        </p:nvSpPr>
        <p:spPr>
          <a:xfrm>
            <a:off x="815975" y="1913186"/>
            <a:ext cx="5124450" cy="1136600"/>
          </a:xfrm>
          <a:prstGeom prst="roundRect">
            <a:avLst>
              <a:gd name="adj" fmla="val 8660"/>
            </a:avLst>
          </a:prstGeom>
          <a:solidFill>
            <a:srgbClr val="FCFDFE"/>
          </a:solidFill>
          <a:ln w="6350">
            <a:solidFill>
              <a:srgbClr val="D6DCE4"/>
            </a:solidFill>
            <a:prstDash val="solid"/>
          </a:ln>
        </p:spPr>
      </p:sp>
      <p:sp>
        <p:nvSpPr>
          <p:cNvPr id="5" name="Text 3"/>
          <p:cNvSpPr/>
          <p:nvPr/>
        </p:nvSpPr>
        <p:spPr>
          <a:xfrm>
            <a:off x="1022350" y="2119561"/>
            <a:ext cx="485305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B6B"/>
                </a:solidFill>
                <a:latin typeface="Atkinson Hyperlegible" pitchFamily="34" charset="0"/>
                <a:ea typeface="Atkinson Hyperlegible" pitchFamily="34" charset="-122"/>
                <a:cs typeface="Atkinson Hyperlegible" pitchFamily="34" charset="-120"/>
              </a:rPr>
              <a:t>What you see with extensions hidden</a:t>
            </a:r>
            <a:endParaRPr lang="en-US" sz="1300" dirty="0"/>
          </a:p>
        </p:txBody>
      </p:sp>
      <p:sp>
        <p:nvSpPr>
          <p:cNvPr id="6" name="Text 4"/>
          <p:cNvSpPr/>
          <p:nvPr/>
        </p:nvSpPr>
        <p:spPr>
          <a:xfrm>
            <a:off x="1022350" y="2452291"/>
            <a:ext cx="485305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02C"/>
                </a:solidFill>
                <a:latin typeface="JetBrains Mono" pitchFamily="34" charset="0"/>
                <a:ea typeface="JetBrains Mono" pitchFamily="34" charset="-122"/>
                <a:cs typeface="JetBrains Mono" pitchFamily="34" charset="-120"/>
              </a:rPr>
              <a:t>Syllabus.pdf</a:t>
            </a:r>
            <a:endParaRPr lang="en-US" sz="2200" dirty="0"/>
          </a:p>
        </p:txBody>
      </p:sp>
      <p:sp>
        <p:nvSpPr>
          <p:cNvPr id="7" name="Shape 5"/>
          <p:cNvSpPr/>
          <p:nvPr/>
        </p:nvSpPr>
        <p:spPr>
          <a:xfrm>
            <a:off x="822325" y="3214886"/>
            <a:ext cx="5111750" cy="1517600"/>
          </a:xfrm>
          <a:prstGeom prst="roundRect">
            <a:avLst>
              <a:gd name="adj" fmla="val 6067"/>
            </a:avLst>
          </a:prstGeom>
          <a:solidFill>
            <a:srgbClr val="FCFDFE"/>
          </a:solidFill>
          <a:ln w="19050">
            <a:solidFill>
              <a:srgbClr val="B3261E"/>
            </a:solidFill>
            <a:prstDash val="solid"/>
          </a:ln>
        </p:spPr>
      </p:sp>
      <p:sp>
        <p:nvSpPr>
          <p:cNvPr id="8" name="Text 6"/>
          <p:cNvSpPr/>
          <p:nvPr/>
        </p:nvSpPr>
        <p:spPr>
          <a:xfrm>
            <a:off x="1035050" y="3427611"/>
            <a:ext cx="482688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B6B"/>
                </a:solidFill>
                <a:latin typeface="Atkinson Hyperlegible" pitchFamily="34" charset="0"/>
                <a:ea typeface="Atkinson Hyperlegible" pitchFamily="34" charset="-122"/>
                <a:cs typeface="Atkinson Hyperlegible" pitchFamily="34" charset="-120"/>
              </a:rPr>
              <a:t>What the file really is</a:t>
            </a:r>
            <a:endParaRPr lang="en-US" sz="1300" dirty="0"/>
          </a:p>
        </p:txBody>
      </p:sp>
      <p:sp>
        <p:nvSpPr>
          <p:cNvPr id="9" name="Text 7"/>
          <p:cNvSpPr/>
          <p:nvPr/>
        </p:nvSpPr>
        <p:spPr>
          <a:xfrm>
            <a:off x="1035050" y="3760341"/>
            <a:ext cx="4826889"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02C"/>
                </a:solidFill>
                <a:latin typeface="JetBrains Mono" pitchFamily="34" charset="0"/>
                <a:ea typeface="JetBrains Mono" pitchFamily="34" charset="-122"/>
                <a:cs typeface="JetBrains Mono" pitchFamily="34" charset="-120"/>
              </a:rPr>
              <a:t>Syllabus.pdf</a:t>
            </a:r>
            <a:r>
              <a:rPr lang="en-US" sz="2200" b="1" dirty="0">
                <a:solidFill>
                  <a:srgbClr val="B3261E"/>
                </a:solidFill>
                <a:latin typeface="JetBrains Mono" pitchFamily="34" charset="0"/>
                <a:ea typeface="JetBrains Mono" pitchFamily="34" charset="-122"/>
                <a:cs typeface="JetBrains Mono" pitchFamily="34" charset="-120"/>
              </a:rPr>
              <a:t>.exe</a:t>
            </a:r>
            <a:endParaRPr lang="en-US" sz="2200" dirty="0"/>
          </a:p>
        </p:txBody>
      </p:sp>
      <p:sp>
        <p:nvSpPr>
          <p:cNvPr id="10" name="Text 8"/>
          <p:cNvSpPr/>
          <p:nvPr/>
        </p:nvSpPr>
        <p:spPr>
          <a:xfrm>
            <a:off x="1035050" y="4253061"/>
            <a:ext cx="482688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3261E"/>
                </a:solidFill>
                <a:latin typeface="Atkinson Hyperlegible" pitchFamily="34" charset="0"/>
                <a:ea typeface="Atkinson Hyperlegible" pitchFamily="34" charset="-122"/>
                <a:cs typeface="Atkinson Hyperlegible" pitchFamily="34" charset="-120"/>
              </a:rPr>
              <a:t>A program disguised as a document.</a:t>
            </a:r>
            <a:endParaRPr lang="en-US" sz="1500" dirty="0"/>
          </a:p>
        </p:txBody>
      </p:sp>
      <p:sp>
        <p:nvSpPr>
          <p:cNvPr id="11" name="Text 9"/>
          <p:cNvSpPr/>
          <p:nvPr/>
        </p:nvSpPr>
        <p:spPr>
          <a:xfrm>
            <a:off x="812800" y="4894411"/>
            <a:ext cx="528472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C"/>
                </a:solidFill>
                <a:latin typeface="Atkinson Hyperlegible" pitchFamily="34" charset="0"/>
                <a:ea typeface="Atkinson Hyperlegible" pitchFamily="34" charset="-122"/>
                <a:cs typeface="Atkinson Hyperlegible" pitchFamily="34" charset="-120"/>
              </a:rPr>
              <a:t>File Explorer › </a:t>
            </a:r>
            <a:r>
              <a:rPr lang="en-US" sz="1600" b="1" dirty="0">
                <a:solidFill>
                  <a:srgbClr val="16202C"/>
                </a:solidFill>
                <a:latin typeface="Atkinson Hyperlegible" pitchFamily="34" charset="0"/>
                <a:ea typeface="Atkinson Hyperlegible" pitchFamily="34" charset="-122"/>
                <a:cs typeface="Atkinson Hyperlegible" pitchFamily="34" charset="-120"/>
              </a:rPr>
              <a:t>View › Show › File name extensions</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48400" y="1910011"/>
          <a:ext cx="5130800" cy="4114800"/>
        </p:xfrm>
        <a:graphic>
          <a:graphicData uri="http://schemas.openxmlformats.org/drawingml/2006/table">
            <a:tbl>
              <a:tblPr/>
              <a:tblGrid>
                <a:gridCol w="2052320"/>
                <a:gridCol w="3078480"/>
              </a:tblGrid>
              <a:tr h="457200">
                <a:tc>
                  <a:txBody>
                    <a:bodyPr/>
                    <a:lstStyle/>
                    <a:p>
                      <a:pPr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Extension</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c>
                  <a:txBody>
                    <a:bodyPr/>
                    <a:lstStyle/>
                    <a:p>
                      <a:pPr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Opens in</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.docx</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Word</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.xlsx</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Excel</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.pptx</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PowerPoint</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.pdf</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PDF reader or browser</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.txt</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Notepad</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.jpg .png</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Photos</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.zip</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Compressed folder</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57200">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.exe</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Runs a program</a:t>
                      </a:r>
                      <a:endParaRPr lang="en-US" sz="15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F"/>
                </a:solidFill>
                <a:latin typeface="Atkinson Hyperlegible" pitchFamily="34" charset="0"/>
                <a:ea typeface="Atkinson Hyperlegible" pitchFamily="34" charset="-122"/>
                <a:cs typeface="Atkinson Hyperlegible" pitchFamily="34" charset="-120"/>
              </a:rPr>
              <a:t>HIDDEN GEM</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Is my file on this PC or in the cloud?</a:t>
            </a:r>
            <a:endParaRPr lang="en-US" sz="3600" dirty="0"/>
          </a:p>
        </p:txBody>
      </p:sp>
      <p:sp>
        <p:nvSpPr>
          <p:cNvPr id="4" name="Text 2"/>
          <p:cNvSpPr/>
          <p:nvPr/>
        </p:nvSpPr>
        <p:spPr>
          <a:xfrm>
            <a:off x="812800" y="1910011"/>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B6B"/>
                </a:solidFill>
                <a:latin typeface="Atkinson Hyperlegible" pitchFamily="34" charset="0"/>
                <a:ea typeface="Atkinson Hyperlegible" pitchFamily="34" charset="-122"/>
                <a:cs typeface="Atkinson Hyperlegible" pitchFamily="34" charset="-120"/>
              </a:rPr>
              <a:t>Documents, Desktop, and Pictures may already be backed up to OneDrive. The Status column in File Explorer tells you where each file lives.</a:t>
            </a:r>
            <a:endParaRPr lang="en-US" sz="1600" dirty="0"/>
          </a:p>
        </p:txBody>
      </p:sp>
      <p:sp>
        <p:nvSpPr>
          <p:cNvPr id="5" name="Shape 3"/>
          <p:cNvSpPr/>
          <p:nvPr/>
        </p:nvSpPr>
        <p:spPr>
          <a:xfrm>
            <a:off x="815975" y="2786906"/>
            <a:ext cx="3380284" cy="2178050"/>
          </a:xfrm>
          <a:prstGeom prst="roundRect">
            <a:avLst>
              <a:gd name="adj" fmla="val 4519"/>
            </a:avLst>
          </a:prstGeom>
          <a:solidFill>
            <a:srgbClr val="FCFDFE"/>
          </a:solidFill>
          <a:ln w="6350">
            <a:solidFill>
              <a:srgbClr val="D6DCE4"/>
            </a:solidFill>
            <a:prstDash val="solid"/>
          </a:ln>
        </p:spPr>
      </p:sp>
      <p:pic>
        <p:nvPicPr>
          <p:cNvPr id="6" name="Image 0" descr="Cloud">    </p:cNvPr>
          <p:cNvPicPr>
            <a:picLocks noChangeAspect="1"/>
          </p:cNvPicPr>
          <p:nvPr/>
        </p:nvPicPr>
        <p:blipFill>
          <a:blip r:embed="rId1"/>
          <a:srcRect l="0" r="0" t="0" b="0"/>
          <a:stretch/>
        </p:blipFill>
        <p:spPr>
          <a:xfrm>
            <a:off x="1022350" y="2993281"/>
            <a:ext cx="457200" cy="457200"/>
          </a:xfrm>
          <a:prstGeom prst="rect">
            <a:avLst/>
          </a:prstGeom>
        </p:spPr>
      </p:pic>
      <p:sp>
        <p:nvSpPr>
          <p:cNvPr id="7" name="Text 4"/>
          <p:cNvSpPr/>
          <p:nvPr/>
        </p:nvSpPr>
        <p:spPr>
          <a:xfrm>
            <a:off x="1022350" y="3552081"/>
            <a:ext cx="30565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Online only</a:t>
            </a:r>
            <a:endParaRPr lang="en-US" sz="2000" dirty="0"/>
          </a:p>
        </p:txBody>
      </p:sp>
      <p:sp>
        <p:nvSpPr>
          <p:cNvPr id="8" name="Text 5"/>
          <p:cNvSpPr/>
          <p:nvPr/>
        </p:nvSpPr>
        <p:spPr>
          <a:xfrm>
            <a:off x="1022350" y="3958481"/>
            <a:ext cx="30565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Saved in OneDrive, not on this PC. Needs internet to open.</a:t>
            </a:r>
            <a:endParaRPr lang="en-US" sz="1500" dirty="0"/>
          </a:p>
        </p:txBody>
      </p:sp>
      <p:sp>
        <p:nvSpPr>
          <p:cNvPr id="9" name="Shape 6"/>
          <p:cNvSpPr/>
          <p:nvPr/>
        </p:nvSpPr>
        <p:spPr>
          <a:xfrm>
            <a:off x="4405809" y="2786906"/>
            <a:ext cx="3380333" cy="2178050"/>
          </a:xfrm>
          <a:prstGeom prst="roundRect">
            <a:avLst>
              <a:gd name="adj" fmla="val 4519"/>
            </a:avLst>
          </a:prstGeom>
          <a:solidFill>
            <a:srgbClr val="FCFDFE"/>
          </a:solidFill>
          <a:ln w="6350">
            <a:solidFill>
              <a:srgbClr val="D6DCE4"/>
            </a:solidFill>
            <a:prstDash val="solid"/>
          </a:ln>
        </p:spPr>
      </p:sp>
      <p:pic>
        <p:nvPicPr>
          <p:cNvPr id="10" name="Image 1" descr="CheckCircle">    </p:cNvPr>
          <p:cNvPicPr>
            <a:picLocks noChangeAspect="1"/>
          </p:cNvPicPr>
          <p:nvPr/>
        </p:nvPicPr>
        <p:blipFill>
          <a:blip r:embed="rId2"/>
          <a:srcRect l="0" r="0" t="0" b="0"/>
          <a:stretch/>
        </p:blipFill>
        <p:spPr>
          <a:xfrm>
            <a:off x="4612184" y="2993281"/>
            <a:ext cx="457200" cy="457200"/>
          </a:xfrm>
          <a:prstGeom prst="rect">
            <a:avLst/>
          </a:prstGeom>
        </p:spPr>
      </p:pic>
      <p:sp>
        <p:nvSpPr>
          <p:cNvPr id="11" name="Text 7"/>
          <p:cNvSpPr/>
          <p:nvPr/>
        </p:nvSpPr>
        <p:spPr>
          <a:xfrm>
            <a:off x="4612184" y="3552081"/>
            <a:ext cx="30566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On this device</a:t>
            </a:r>
            <a:endParaRPr lang="en-US" sz="2000" dirty="0"/>
          </a:p>
        </p:txBody>
      </p:sp>
      <p:sp>
        <p:nvSpPr>
          <p:cNvPr id="12" name="Text 8"/>
          <p:cNvSpPr/>
          <p:nvPr/>
        </p:nvSpPr>
        <p:spPr>
          <a:xfrm>
            <a:off x="4612184" y="3958481"/>
            <a:ext cx="305661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Downloaded when you opened it. Windows may free up the space later.</a:t>
            </a:r>
            <a:endParaRPr lang="en-US" sz="1500" dirty="0"/>
          </a:p>
        </p:txBody>
      </p:sp>
      <p:sp>
        <p:nvSpPr>
          <p:cNvPr id="13" name="Shape 9"/>
          <p:cNvSpPr/>
          <p:nvPr/>
        </p:nvSpPr>
        <p:spPr>
          <a:xfrm>
            <a:off x="7995692" y="2786906"/>
            <a:ext cx="3380284" cy="2178050"/>
          </a:xfrm>
          <a:prstGeom prst="roundRect">
            <a:avLst>
              <a:gd name="adj" fmla="val 4519"/>
            </a:avLst>
          </a:prstGeom>
          <a:solidFill>
            <a:srgbClr val="FCFDFE"/>
          </a:solidFill>
          <a:ln w="6350">
            <a:solidFill>
              <a:srgbClr val="D6DCE4"/>
            </a:solidFill>
            <a:prstDash val="solid"/>
          </a:ln>
        </p:spPr>
      </p:sp>
      <p:sp>
        <p:nvSpPr>
          <p:cNvPr id="14" name="Shape 10"/>
          <p:cNvSpPr/>
          <p:nvPr/>
        </p:nvSpPr>
        <p:spPr>
          <a:xfrm>
            <a:off x="8202067" y="2993281"/>
            <a:ext cx="457200" cy="457200"/>
          </a:xfrm>
          <a:prstGeom prst="roundRect">
            <a:avLst>
              <a:gd name="adj" fmla="val 50000"/>
            </a:avLst>
          </a:prstGeom>
          <a:solidFill>
            <a:srgbClr val="1E7B3E"/>
          </a:solidFill>
          <a:ln/>
        </p:spPr>
      </p:sp>
      <p:pic>
        <p:nvPicPr>
          <p:cNvPr id="15" name="Image 2" descr="Check">    </p:cNvPr>
          <p:cNvPicPr>
            <a:picLocks noChangeAspect="1"/>
          </p:cNvPicPr>
          <p:nvPr/>
        </p:nvPicPr>
        <p:blipFill>
          <a:blip r:embed="rId3"/>
          <a:srcRect l="0" r="0" t="0" b="0"/>
          <a:stretch/>
        </p:blipFill>
        <p:spPr>
          <a:xfrm>
            <a:off x="8290967" y="3082181"/>
            <a:ext cx="279400" cy="279400"/>
          </a:xfrm>
          <a:prstGeom prst="rect">
            <a:avLst/>
          </a:prstGeom>
        </p:spPr>
      </p:pic>
      <p:sp>
        <p:nvSpPr>
          <p:cNvPr id="16" name="Text 11"/>
          <p:cNvSpPr/>
          <p:nvPr/>
        </p:nvSpPr>
        <p:spPr>
          <a:xfrm>
            <a:off x="8202067" y="3552081"/>
            <a:ext cx="30565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Always keep</a:t>
            </a:r>
            <a:endParaRPr lang="en-US" sz="2000" dirty="0"/>
          </a:p>
        </p:txBody>
      </p:sp>
      <p:sp>
        <p:nvSpPr>
          <p:cNvPr id="17" name="Text 12"/>
          <p:cNvSpPr/>
          <p:nvPr/>
        </p:nvSpPr>
        <p:spPr>
          <a:xfrm>
            <a:off x="8202067" y="3958481"/>
            <a:ext cx="30565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Stays on this PC even offline. Right-click › Always keep on this device.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Right-click the taskbar before you search</a:t>
            </a:r>
            <a:endParaRPr lang="en-US" sz="3600" dirty="0"/>
          </a:p>
        </p:txBody>
      </p:sp>
      <p:sp>
        <p:nvSpPr>
          <p:cNvPr id="3" name="Shape 1"/>
          <p:cNvSpPr/>
          <p:nvPr/>
        </p:nvSpPr>
        <p:spPr>
          <a:xfrm>
            <a:off x="815975" y="1623665"/>
            <a:ext cx="3380284" cy="1619250"/>
          </a:xfrm>
          <a:prstGeom prst="roundRect">
            <a:avLst>
              <a:gd name="adj" fmla="val 6078"/>
            </a:avLst>
          </a:prstGeom>
          <a:solidFill>
            <a:srgbClr val="FCFDFE"/>
          </a:solidFill>
          <a:ln w="6350">
            <a:solidFill>
              <a:srgbClr val="D6DCE4"/>
            </a:solidFill>
            <a:prstDash val="solid"/>
          </a:ln>
        </p:spPr>
      </p:sp>
      <p:sp>
        <p:nvSpPr>
          <p:cNvPr id="4" name="Text 2"/>
          <p:cNvSpPr/>
          <p:nvPr/>
        </p:nvSpPr>
        <p:spPr>
          <a:xfrm>
            <a:off x="1022350" y="1830040"/>
            <a:ext cx="30565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Jump Lists</a:t>
            </a:r>
            <a:endParaRPr lang="en-US" sz="2000" dirty="0"/>
          </a:p>
        </p:txBody>
      </p:sp>
      <p:sp>
        <p:nvSpPr>
          <p:cNvPr id="5" name="Text 3"/>
          <p:cNvSpPr/>
          <p:nvPr/>
        </p:nvSpPr>
        <p:spPr>
          <a:xfrm>
            <a:off x="1022350" y="2236440"/>
            <a:ext cx="30565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Right-click an app on the taskbar to see its recent files. On a touchscreen, drag the icon upward.</a:t>
            </a:r>
            <a:endParaRPr lang="en-US" sz="1500" dirty="0"/>
          </a:p>
        </p:txBody>
      </p:sp>
      <p:sp>
        <p:nvSpPr>
          <p:cNvPr id="6" name="Shape 4"/>
          <p:cNvSpPr/>
          <p:nvPr/>
        </p:nvSpPr>
        <p:spPr>
          <a:xfrm>
            <a:off x="4405809" y="1623665"/>
            <a:ext cx="3380333" cy="1619250"/>
          </a:xfrm>
          <a:prstGeom prst="roundRect">
            <a:avLst>
              <a:gd name="adj" fmla="val 6078"/>
            </a:avLst>
          </a:prstGeom>
          <a:solidFill>
            <a:srgbClr val="FCFDFE"/>
          </a:solidFill>
          <a:ln w="6350">
            <a:solidFill>
              <a:srgbClr val="D6DCE4"/>
            </a:solidFill>
            <a:prstDash val="solid"/>
          </a:ln>
        </p:spPr>
      </p:sp>
      <p:sp>
        <p:nvSpPr>
          <p:cNvPr id="7" name="Text 5"/>
          <p:cNvSpPr/>
          <p:nvPr/>
        </p:nvSpPr>
        <p:spPr>
          <a:xfrm>
            <a:off x="4612184" y="1830040"/>
            <a:ext cx="30566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Pin a file</a:t>
            </a:r>
            <a:endParaRPr lang="en-US" sz="2000" dirty="0"/>
          </a:p>
        </p:txBody>
      </p:sp>
      <p:sp>
        <p:nvSpPr>
          <p:cNvPr id="8" name="Text 6"/>
          <p:cNvSpPr/>
          <p:nvPr/>
        </p:nvSpPr>
        <p:spPr>
          <a:xfrm>
            <a:off x="4612184" y="2236440"/>
            <a:ext cx="305661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Hover a file in the Jump List and click the pin. It stays at the top until you unpin it.</a:t>
            </a:r>
            <a:endParaRPr lang="en-US" sz="1500" dirty="0"/>
          </a:p>
        </p:txBody>
      </p:sp>
      <p:sp>
        <p:nvSpPr>
          <p:cNvPr id="9" name="Shape 7"/>
          <p:cNvSpPr/>
          <p:nvPr/>
        </p:nvSpPr>
        <p:spPr>
          <a:xfrm>
            <a:off x="7995692" y="1623665"/>
            <a:ext cx="3380284" cy="1619250"/>
          </a:xfrm>
          <a:prstGeom prst="roundRect">
            <a:avLst>
              <a:gd name="adj" fmla="val 6078"/>
            </a:avLst>
          </a:prstGeom>
          <a:solidFill>
            <a:srgbClr val="FCFDFE"/>
          </a:solidFill>
          <a:ln w="6350">
            <a:solidFill>
              <a:srgbClr val="D6DCE4"/>
            </a:solidFill>
            <a:prstDash val="solid"/>
          </a:ln>
        </p:spPr>
      </p:sp>
      <p:sp>
        <p:nvSpPr>
          <p:cNvPr id="10" name="Text 8"/>
          <p:cNvSpPr/>
          <p:nvPr/>
        </p:nvSpPr>
        <p:spPr>
          <a:xfrm>
            <a:off x="8202067" y="1830040"/>
            <a:ext cx="30565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02C"/>
                </a:solidFill>
                <a:latin typeface="Atkinson Hyperlegible" pitchFamily="34" charset="0"/>
                <a:ea typeface="Atkinson Hyperlegible" pitchFamily="34" charset="-122"/>
                <a:cs typeface="Atkinson Hyperlegible" pitchFamily="34" charset="-120"/>
              </a:rPr>
              <a:t>Pin an app</a:t>
            </a:r>
            <a:endParaRPr lang="en-US" sz="2000" dirty="0"/>
          </a:p>
        </p:txBody>
      </p:sp>
      <p:sp>
        <p:nvSpPr>
          <p:cNvPr id="11" name="Text 9"/>
          <p:cNvSpPr/>
          <p:nvPr/>
        </p:nvSpPr>
        <p:spPr>
          <a:xfrm>
            <a:off x="8202067" y="2236440"/>
            <a:ext cx="30565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Right-click it in Start and choose Pin to taskbar or Pin to Start. Right-click again to unpin.</a:t>
            </a:r>
            <a:endParaRPr lang="en-US" sz="1500" dirty="0"/>
          </a:p>
        </p:txBody>
      </p:sp>
      <p:sp>
        <p:nvSpPr>
          <p:cNvPr id="12" name="Text 10"/>
          <p:cNvSpPr/>
          <p:nvPr/>
        </p:nvSpPr>
        <p:spPr>
          <a:xfrm>
            <a:off x="812800" y="355089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B6B"/>
                </a:solidFill>
                <a:latin typeface="Atkinson Hyperlegible" pitchFamily="34" charset="0"/>
                <a:ea typeface="Atkinson Hyperlegible" pitchFamily="34" charset="-122"/>
                <a:cs typeface="Atkinson Hyperlegible" pitchFamily="34" charset="-120"/>
              </a:rPr>
              <a:t>Pin the files you open every week: this syllabus, your notes, the SimNet link.</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Install and remove apps safely</a:t>
            </a:r>
            <a:endParaRPr lang="en-US" sz="3600" dirty="0"/>
          </a:p>
        </p:txBody>
      </p:sp>
      <p:sp>
        <p:nvSpPr>
          <p:cNvPr id="3" name="Shape 1"/>
          <p:cNvSpPr/>
          <p:nvPr/>
        </p:nvSpPr>
        <p:spPr>
          <a:xfrm>
            <a:off x="815975" y="1623665"/>
            <a:ext cx="5175250" cy="2355850"/>
          </a:xfrm>
          <a:prstGeom prst="roundRect">
            <a:avLst>
              <a:gd name="adj" fmla="val 4178"/>
            </a:avLst>
          </a:prstGeom>
          <a:solidFill>
            <a:srgbClr val="FCFDFE"/>
          </a:solidFill>
          <a:ln w="6350">
            <a:solidFill>
              <a:srgbClr val="D6DCE4"/>
            </a:solidFill>
            <a:prstDash val="solid"/>
          </a:ln>
        </p:spPr>
      </p:sp>
      <p:sp>
        <p:nvSpPr>
          <p:cNvPr id="4" name="Text 2"/>
          <p:cNvSpPr/>
          <p:nvPr/>
        </p:nvSpPr>
        <p:spPr>
          <a:xfrm>
            <a:off x="1022350" y="183004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5FC2"/>
                </a:solidFill>
                <a:latin typeface="Atkinson Hyperlegible" pitchFamily="34" charset="0"/>
                <a:ea typeface="Atkinson Hyperlegible" pitchFamily="34" charset="-122"/>
                <a:cs typeface="Atkinson Hyperlegible" pitchFamily="34" charset="-120"/>
              </a:rPr>
              <a:t>Install</a:t>
            </a:r>
            <a:endParaRPr lang="en-US" sz="2000" dirty="0"/>
          </a:p>
        </p:txBody>
      </p:sp>
      <p:sp>
        <p:nvSpPr>
          <p:cNvPr id="5" name="Text 3"/>
          <p:cNvSpPr/>
          <p:nvPr/>
        </p:nvSpPr>
        <p:spPr>
          <a:xfrm>
            <a:off x="1022350" y="2236440"/>
            <a:ext cx="490537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Microsoft Store:</a:t>
            </a:r>
            <a:r>
              <a:rPr lang="en-US" sz="1500" dirty="0">
                <a:solidFill>
                  <a:srgbClr val="16202C"/>
                </a:solidFill>
                <a:latin typeface="Atkinson Hyperlegible" pitchFamily="34" charset="0"/>
                <a:ea typeface="Atkinson Hyperlegible" pitchFamily="34" charset="-122"/>
                <a:cs typeface="Atkinson Hyperlegible" pitchFamily="34" charset="-120"/>
              </a:rPr>
              <a:t> search, then select Get. Store apps are checked by Microsoft and update themselves.</a:t>
            </a:r>
            <a:endParaRPr lang="en-US" sz="1500" dirty="0"/>
          </a:p>
        </p:txBody>
      </p:sp>
      <p:sp>
        <p:nvSpPr>
          <p:cNvPr id="6" name="Text 4"/>
          <p:cNvSpPr/>
          <p:nvPr/>
        </p:nvSpPr>
        <p:spPr>
          <a:xfrm>
            <a:off x="1022350" y="2871440"/>
            <a:ext cx="4905375"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Other programs:</a:t>
            </a:r>
            <a:r>
              <a:rPr lang="en-US" sz="1500" dirty="0">
                <a:solidFill>
                  <a:srgbClr val="16202C"/>
                </a:solidFill>
                <a:latin typeface="Atkinson Hyperlegible" pitchFamily="34" charset="0"/>
                <a:ea typeface="Atkinson Hyperlegible" pitchFamily="34" charset="-122"/>
                <a:cs typeface="Atkinson Hyperlegible" pitchFamily="34" charset="-120"/>
              </a:rPr>
              <a:t> download only from the maker's official website, never from pop-up ads or "free download" sites.</a:t>
            </a:r>
            <a:endParaRPr lang="en-US" sz="1500" dirty="0"/>
          </a:p>
        </p:txBody>
      </p:sp>
      <p:sp>
        <p:nvSpPr>
          <p:cNvPr id="7" name="Shape 5"/>
          <p:cNvSpPr/>
          <p:nvPr/>
        </p:nvSpPr>
        <p:spPr>
          <a:xfrm>
            <a:off x="6200775" y="1623665"/>
            <a:ext cx="5175250" cy="2355850"/>
          </a:xfrm>
          <a:prstGeom prst="roundRect">
            <a:avLst>
              <a:gd name="adj" fmla="val 4178"/>
            </a:avLst>
          </a:prstGeom>
          <a:solidFill>
            <a:srgbClr val="FCFDFE"/>
          </a:solidFill>
          <a:ln w="6350">
            <a:solidFill>
              <a:srgbClr val="D6DCE4"/>
            </a:solidFill>
            <a:prstDash val="solid"/>
          </a:ln>
        </p:spPr>
      </p:sp>
      <p:sp>
        <p:nvSpPr>
          <p:cNvPr id="8" name="Text 6"/>
          <p:cNvSpPr/>
          <p:nvPr/>
        </p:nvSpPr>
        <p:spPr>
          <a:xfrm>
            <a:off x="6407150" y="1830040"/>
            <a:ext cx="490537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A5FC2"/>
                </a:solidFill>
                <a:latin typeface="Atkinson Hyperlegible" pitchFamily="34" charset="0"/>
                <a:ea typeface="Atkinson Hyperlegible" pitchFamily="34" charset="-122"/>
                <a:cs typeface="Atkinson Hyperlegible" pitchFamily="34" charset="-120"/>
              </a:rPr>
              <a:t>Remove</a:t>
            </a:r>
            <a:endParaRPr lang="en-US" sz="2000" dirty="0"/>
          </a:p>
        </p:txBody>
      </p:sp>
      <p:sp>
        <p:nvSpPr>
          <p:cNvPr id="9" name="Text 7"/>
          <p:cNvSpPr/>
          <p:nvPr/>
        </p:nvSpPr>
        <p:spPr>
          <a:xfrm>
            <a:off x="6407150" y="2236440"/>
            <a:ext cx="490537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02C"/>
                </a:solidFill>
                <a:latin typeface="Atkinson Hyperlegible" pitchFamily="34" charset="0"/>
                <a:ea typeface="Atkinson Hyperlegible" pitchFamily="34" charset="-122"/>
                <a:cs typeface="Atkinson Hyperlegible" pitchFamily="34" charset="-120"/>
              </a:rPr>
              <a:t>Settings › Apps › Installed apps</a:t>
            </a:r>
            <a:r>
              <a:rPr lang="en-US" sz="1500" dirty="0">
                <a:solidFill>
                  <a:srgbClr val="16202C"/>
                </a:solidFill>
                <a:latin typeface="Atkinson Hyperlegible" pitchFamily="34" charset="0"/>
                <a:ea typeface="Atkinson Hyperlegible" pitchFamily="34" charset="-122"/>
                <a:cs typeface="Atkinson Hyperlegible" pitchFamily="34" charset="-120"/>
              </a:rPr>
              <a:t>, then the ··· menu › Uninstall.</a:t>
            </a:r>
            <a:endParaRPr lang="en-US" sz="1500" dirty="0"/>
          </a:p>
        </p:txBody>
      </p:sp>
      <p:sp>
        <p:nvSpPr>
          <p:cNvPr id="10" name="Text 8"/>
          <p:cNvSpPr/>
          <p:nvPr/>
        </p:nvSpPr>
        <p:spPr>
          <a:xfrm>
            <a:off x="6407150" y="2871440"/>
            <a:ext cx="49053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Or right-click the app in Start › Uninstall.</a:t>
            </a:r>
            <a:endParaRPr lang="en-US" sz="1500" dirty="0"/>
          </a:p>
        </p:txBody>
      </p:sp>
      <p:sp>
        <p:nvSpPr>
          <p:cNvPr id="11" name="Text 9"/>
          <p:cNvSpPr/>
          <p:nvPr/>
        </p:nvSpPr>
        <p:spPr>
          <a:xfrm>
            <a:off x="6407150" y="3239740"/>
            <a:ext cx="49053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E5B6B"/>
                </a:solidFill>
                <a:latin typeface="Atkinson Hyperlegible" pitchFamily="34" charset="0"/>
                <a:ea typeface="Atkinson Hyperlegible" pitchFamily="34" charset="-122"/>
                <a:cs typeface="Atkinson Hyperlegible" pitchFamily="34" charset="-120"/>
              </a:rPr>
              <a:t>Older desktop programs may use Control Panel › Programs and Features.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Settings worth a visit</a:t>
            </a:r>
            <a:endParaRPr lang="en-US" sz="3600" dirty="0"/>
          </a:p>
        </p:txBody>
      </p:sp>
      <p:sp>
        <p:nvSpPr>
          <p:cNvPr id="3" name="Shape 1"/>
          <p:cNvSpPr/>
          <p:nvPr/>
        </p:nvSpPr>
        <p:spPr>
          <a:xfrm>
            <a:off x="812800" y="1620490"/>
            <a:ext cx="548680" cy="350490"/>
          </a:xfrm>
          <a:prstGeom prst="roundRect">
            <a:avLst>
              <a:gd name="adj" fmla="val 18117"/>
            </a:avLst>
          </a:prstGeom>
          <a:solidFill>
            <a:srgbClr val="F3F5F8"/>
          </a:solidFill>
          <a:ln/>
        </p:spPr>
      </p:sp>
      <p:sp>
        <p:nvSpPr>
          <p:cNvPr id="4" name="Shape 2"/>
          <p:cNvSpPr/>
          <p:nvPr/>
        </p:nvSpPr>
        <p:spPr>
          <a:xfrm>
            <a:off x="812800" y="1626840"/>
            <a:ext cx="548680" cy="0"/>
          </a:xfrm>
          <a:prstGeom prst="line">
            <a:avLst/>
          </a:prstGeom>
          <a:noFill/>
          <a:ln w="12700">
            <a:solidFill>
              <a:srgbClr val="AEB8C5"/>
            </a:solidFill>
            <a:prstDash val="solid"/>
          </a:ln>
        </p:spPr>
      </p:sp>
      <p:sp>
        <p:nvSpPr>
          <p:cNvPr id="5" name="Shape 3"/>
          <p:cNvSpPr/>
          <p:nvPr/>
        </p:nvSpPr>
        <p:spPr>
          <a:xfrm>
            <a:off x="1355130" y="1620490"/>
            <a:ext cx="0" cy="350490"/>
          </a:xfrm>
          <a:prstGeom prst="line">
            <a:avLst/>
          </a:prstGeom>
          <a:noFill/>
          <a:ln w="12700">
            <a:solidFill>
              <a:srgbClr val="AEB8C5"/>
            </a:solidFill>
            <a:prstDash val="solid"/>
          </a:ln>
        </p:spPr>
      </p:sp>
      <p:sp>
        <p:nvSpPr>
          <p:cNvPr id="6" name="Shape 4"/>
          <p:cNvSpPr/>
          <p:nvPr/>
        </p:nvSpPr>
        <p:spPr>
          <a:xfrm>
            <a:off x="812800" y="1951930"/>
            <a:ext cx="548680" cy="0"/>
          </a:xfrm>
          <a:prstGeom prst="line">
            <a:avLst/>
          </a:prstGeom>
          <a:noFill/>
          <a:ln w="38100">
            <a:solidFill>
              <a:srgbClr val="AEB8C5"/>
            </a:solidFill>
            <a:prstDash val="solid"/>
          </a:ln>
        </p:spPr>
      </p:sp>
      <p:sp>
        <p:nvSpPr>
          <p:cNvPr id="7" name="Shape 5"/>
          <p:cNvSpPr/>
          <p:nvPr/>
        </p:nvSpPr>
        <p:spPr>
          <a:xfrm>
            <a:off x="819150" y="1620490"/>
            <a:ext cx="0" cy="350490"/>
          </a:xfrm>
          <a:prstGeom prst="line">
            <a:avLst/>
          </a:prstGeom>
          <a:noFill/>
          <a:ln w="12700">
            <a:solidFill>
              <a:srgbClr val="AEB8C5"/>
            </a:solidFill>
            <a:prstDash val="solid"/>
          </a:ln>
        </p:spPr>
      </p:sp>
      <p:sp>
        <p:nvSpPr>
          <p:cNvPr id="8" name="Text 6"/>
          <p:cNvSpPr/>
          <p:nvPr/>
        </p:nvSpPr>
        <p:spPr>
          <a:xfrm>
            <a:off x="927100" y="1658590"/>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9" name="Text 7"/>
          <p:cNvSpPr/>
          <p:nvPr/>
        </p:nvSpPr>
        <p:spPr>
          <a:xfrm>
            <a:off x="1424980" y="1671290"/>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0" name="Shape 8"/>
          <p:cNvSpPr/>
          <p:nvPr/>
        </p:nvSpPr>
        <p:spPr>
          <a:xfrm>
            <a:off x="1595537" y="1620490"/>
            <a:ext cx="335310" cy="350490"/>
          </a:xfrm>
          <a:prstGeom prst="roundRect">
            <a:avLst>
              <a:gd name="adj" fmla="val 18938"/>
            </a:avLst>
          </a:prstGeom>
          <a:solidFill>
            <a:srgbClr val="F3F5F8"/>
          </a:solidFill>
          <a:ln/>
        </p:spPr>
      </p:sp>
      <p:sp>
        <p:nvSpPr>
          <p:cNvPr id="11" name="Shape 9"/>
          <p:cNvSpPr/>
          <p:nvPr/>
        </p:nvSpPr>
        <p:spPr>
          <a:xfrm>
            <a:off x="1595537" y="1626840"/>
            <a:ext cx="335310" cy="0"/>
          </a:xfrm>
          <a:prstGeom prst="line">
            <a:avLst/>
          </a:prstGeom>
          <a:noFill/>
          <a:ln w="12700">
            <a:solidFill>
              <a:srgbClr val="AEB8C5"/>
            </a:solidFill>
            <a:prstDash val="solid"/>
          </a:ln>
        </p:spPr>
      </p:sp>
      <p:sp>
        <p:nvSpPr>
          <p:cNvPr id="12" name="Shape 10"/>
          <p:cNvSpPr/>
          <p:nvPr/>
        </p:nvSpPr>
        <p:spPr>
          <a:xfrm>
            <a:off x="1924496" y="1620490"/>
            <a:ext cx="0" cy="350490"/>
          </a:xfrm>
          <a:prstGeom prst="line">
            <a:avLst/>
          </a:prstGeom>
          <a:noFill/>
          <a:ln w="12700">
            <a:solidFill>
              <a:srgbClr val="AEB8C5"/>
            </a:solidFill>
            <a:prstDash val="solid"/>
          </a:ln>
        </p:spPr>
      </p:sp>
      <p:sp>
        <p:nvSpPr>
          <p:cNvPr id="13" name="Shape 11"/>
          <p:cNvSpPr/>
          <p:nvPr/>
        </p:nvSpPr>
        <p:spPr>
          <a:xfrm>
            <a:off x="1595537" y="1951930"/>
            <a:ext cx="335310" cy="0"/>
          </a:xfrm>
          <a:prstGeom prst="line">
            <a:avLst/>
          </a:prstGeom>
          <a:noFill/>
          <a:ln w="38100">
            <a:solidFill>
              <a:srgbClr val="AEB8C5"/>
            </a:solidFill>
            <a:prstDash val="solid"/>
          </a:ln>
        </p:spPr>
      </p:sp>
      <p:sp>
        <p:nvSpPr>
          <p:cNvPr id="14" name="Shape 12"/>
          <p:cNvSpPr/>
          <p:nvPr/>
        </p:nvSpPr>
        <p:spPr>
          <a:xfrm>
            <a:off x="1601887" y="1620490"/>
            <a:ext cx="0" cy="350490"/>
          </a:xfrm>
          <a:prstGeom prst="line">
            <a:avLst/>
          </a:prstGeom>
          <a:noFill/>
          <a:ln w="12700">
            <a:solidFill>
              <a:srgbClr val="AEB8C5"/>
            </a:solidFill>
            <a:prstDash val="solid"/>
          </a:ln>
        </p:spPr>
      </p:sp>
      <p:sp>
        <p:nvSpPr>
          <p:cNvPr id="15" name="Text 13"/>
          <p:cNvSpPr/>
          <p:nvPr/>
        </p:nvSpPr>
        <p:spPr>
          <a:xfrm>
            <a:off x="1709837" y="1658590"/>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I</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12800" y="2275780"/>
          <a:ext cx="10566400" cy="3324622"/>
        </p:xfrm>
        <a:graphic>
          <a:graphicData uri="http://schemas.openxmlformats.org/drawingml/2006/table">
            <a:tbl>
              <a:tblPr/>
              <a:tblGrid>
                <a:gridCol w="4649216"/>
                <a:gridCol w="5917184"/>
              </a:tblGrid>
              <a:tr h="439390">
                <a:tc>
                  <a:txBody>
                    <a:bodyPr/>
                    <a:lstStyle/>
                    <a:p>
                      <a:pPr indent="0" marL="0">
                        <a:lnSpc>
                          <a:spcPts val="1960"/>
                        </a:lnSpc>
                        <a:buNone/>
                      </a:pPr>
                      <a:r>
                        <a:rPr lang="en-US" sz="1400" b="1" dirty="0">
                          <a:solidFill>
                            <a:srgbClr val="16202C"/>
                          </a:solidFill>
                          <a:latin typeface="Atkinson Hyperlegible" pitchFamily="34" charset="0"/>
                          <a:ea typeface="Atkinson Hyperlegible" pitchFamily="34" charset="-122"/>
                          <a:cs typeface="Atkinson Hyperlegible" pitchFamily="34" charset="-120"/>
                        </a:rPr>
                        <a:t>Where</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c>
                  <a:txBody>
                    <a:bodyPr/>
                    <a:lstStyle/>
                    <a:p>
                      <a:pPr indent="0" marL="0">
                        <a:lnSpc>
                          <a:spcPts val="1960"/>
                        </a:lnSpc>
                        <a:buNone/>
                      </a:pPr>
                      <a:r>
                        <a:rPr lang="en-US" sz="1400" b="1" dirty="0">
                          <a:solidFill>
                            <a:srgbClr val="16202C"/>
                          </a:solidFill>
                          <a:latin typeface="Atkinson Hyperlegible" pitchFamily="34" charset="0"/>
                          <a:ea typeface="Atkinson Hyperlegible" pitchFamily="34" charset="-122"/>
                          <a:cs typeface="Atkinson Hyperlegible" pitchFamily="34" charset="-120"/>
                        </a:rPr>
                        <a:t>Why</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E4E9F0"/>
                    </a:solidFill>
                  </a:tcPr>
                </a:tc>
              </a:tr>
              <a:tr h="68828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Windows Update</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Set Active hours so restarts wait until you are done. Pause only for short periods.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System › Power &amp; battery</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Choose Best power efficiency or Best performance.</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Apps › Default apps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Make Chrome or Firefox your default browser instead of Edge.</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System › Display › Advanced display</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Pick a higher refresh rate for smoother scrolling.</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Personalization › Taskbar</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Move Start back to the left under Taskbar behaviors.</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CFDFE"/>
                    </a:solidFill>
                  </a:tcPr>
                </a:tc>
              </a:tr>
              <a:tr h="439390">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Time &amp; language › Language &amp; region</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c>
                  <a:txBody>
                    <a:bodyPr/>
                    <a:lstStyle/>
                    <a:p>
                      <a:pPr indent="0" marL="0">
                        <a:lnSpc>
                          <a:spcPts val="1960"/>
                        </a:lnSpc>
                        <a:buNone/>
                      </a:pPr>
                      <a:r>
                        <a:rPr lang="en-US" sz="1400" dirty="0">
                          <a:solidFill>
                            <a:srgbClr val="16202C"/>
                          </a:solidFill>
                          <a:latin typeface="Atkinson Hyperlegible" pitchFamily="34" charset="0"/>
                          <a:ea typeface="Atkinson Hyperlegible" pitchFamily="34" charset="-122"/>
                          <a:cs typeface="Atkinson Hyperlegible" pitchFamily="34" charset="-120"/>
                        </a:rPr>
                        <a:t>Change the Windows display language.</a:t>
                      </a:r>
                      <a:endParaRPr lang="en-US" sz="1400" dirty="0">
                        <a:latin typeface="Atkinson Hyperlegible" charset="0"/>
                        <a:ea typeface="Atkinson Hyperlegible" charset="0"/>
                        <a:cs typeface="Atkinson Hyperlegible" charset="0"/>
                      </a:endParaRPr>
                    </a:p>
                  </a:txBody>
                  <a:tcPr marL="127000" marR="127000" marT="88900" marB="88900" anchor="t">
                    <a:lnL w="12700" cap="flat" cmpd="sng" algn="ctr">
                      <a:solidFill>
                        <a:srgbClr val="C2C6CB"/>
                      </a:solidFill>
                      <a:prstDash val="solid"/>
                      <a:round/>
                      <a:headEnd type="none" w="med" len="med"/>
                      <a:tailEnd type="none" w="med" len="med"/>
                    </a:lnL>
                    <a:lnR w="12700" cap="flat" cmpd="sng" algn="ctr">
                      <a:solidFill>
                        <a:srgbClr val="C2C6CB"/>
                      </a:solidFill>
                      <a:prstDash val="solid"/>
                      <a:round/>
                      <a:headEnd type="none" w="med" len="med"/>
                      <a:tailEnd type="none" w="med" len="med"/>
                    </a:lnR>
                    <a:lnT w="12700" cap="flat" cmpd="sng" algn="ctr">
                      <a:solidFill>
                        <a:srgbClr val="C2C6CB"/>
                      </a:solidFill>
                      <a:prstDash val="solid"/>
                      <a:round/>
                      <a:headEnd type="none" w="med" len="med"/>
                      <a:tailEnd type="none" w="med" len="med"/>
                    </a:lnT>
                    <a:lnB w="12700" cap="flat" cmpd="sng" algn="ctr">
                      <a:solidFill>
                        <a:srgbClr val="C2C6CB"/>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5A0F"/>
                </a:solidFill>
                <a:latin typeface="Atkinson Hyperlegible" pitchFamily="34" charset="0"/>
                <a:ea typeface="Atkinson Hyperlegible" pitchFamily="34" charset="-122"/>
                <a:cs typeface="Atkinson Hyperlegible" pitchFamily="34" charset="-120"/>
              </a:rPr>
              <a:t>HIDDEN GEMS</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C"/>
                </a:solidFill>
                <a:latin typeface="Atkinson Hyperlegible" pitchFamily="34" charset="0"/>
                <a:ea typeface="Atkinson Hyperlegible" pitchFamily="34" charset="-122"/>
                <a:cs typeface="Atkinson Hyperlegible" pitchFamily="34" charset="-120"/>
              </a:rPr>
              <a:t>Accessibility tools anyone can use</a:t>
            </a:r>
            <a:endParaRPr lang="en-US" sz="3600" dirty="0"/>
          </a:p>
        </p:txBody>
      </p:sp>
      <p:sp>
        <p:nvSpPr>
          <p:cNvPr id="4" name="Shape 2"/>
          <p:cNvSpPr/>
          <p:nvPr/>
        </p:nvSpPr>
        <p:spPr>
          <a:xfrm>
            <a:off x="815975" y="1913186"/>
            <a:ext cx="3414167" cy="1398240"/>
          </a:xfrm>
          <a:prstGeom prst="roundRect">
            <a:avLst>
              <a:gd name="adj" fmla="val 7039"/>
            </a:avLst>
          </a:prstGeom>
          <a:solidFill>
            <a:srgbClr val="FCFDFE"/>
          </a:solidFill>
          <a:ln w="6350">
            <a:solidFill>
              <a:srgbClr val="D6DCE4"/>
            </a:solidFill>
            <a:prstDash val="solid"/>
          </a:ln>
        </p:spPr>
      </p:sp>
      <p:sp>
        <p:nvSpPr>
          <p:cNvPr id="5" name="Shape 3"/>
          <p:cNvSpPr/>
          <p:nvPr/>
        </p:nvSpPr>
        <p:spPr>
          <a:xfrm>
            <a:off x="1022350" y="2119561"/>
            <a:ext cx="548680" cy="350490"/>
          </a:xfrm>
          <a:prstGeom prst="roundRect">
            <a:avLst>
              <a:gd name="adj" fmla="val 18117"/>
            </a:avLst>
          </a:prstGeom>
          <a:solidFill>
            <a:srgbClr val="F3F5F8"/>
          </a:solidFill>
          <a:ln/>
        </p:spPr>
      </p:sp>
      <p:sp>
        <p:nvSpPr>
          <p:cNvPr id="6" name="Shape 4"/>
          <p:cNvSpPr/>
          <p:nvPr/>
        </p:nvSpPr>
        <p:spPr>
          <a:xfrm>
            <a:off x="1022350" y="2125911"/>
            <a:ext cx="548680" cy="0"/>
          </a:xfrm>
          <a:prstGeom prst="line">
            <a:avLst/>
          </a:prstGeom>
          <a:noFill/>
          <a:ln w="12700">
            <a:solidFill>
              <a:srgbClr val="AEB8C5"/>
            </a:solidFill>
            <a:prstDash val="solid"/>
          </a:ln>
        </p:spPr>
      </p:sp>
      <p:sp>
        <p:nvSpPr>
          <p:cNvPr id="7" name="Shape 5"/>
          <p:cNvSpPr/>
          <p:nvPr/>
        </p:nvSpPr>
        <p:spPr>
          <a:xfrm>
            <a:off x="1564680" y="2119561"/>
            <a:ext cx="0" cy="350490"/>
          </a:xfrm>
          <a:prstGeom prst="line">
            <a:avLst/>
          </a:prstGeom>
          <a:noFill/>
          <a:ln w="12700">
            <a:solidFill>
              <a:srgbClr val="AEB8C5"/>
            </a:solidFill>
            <a:prstDash val="solid"/>
          </a:ln>
        </p:spPr>
      </p:sp>
      <p:sp>
        <p:nvSpPr>
          <p:cNvPr id="8" name="Shape 6"/>
          <p:cNvSpPr/>
          <p:nvPr/>
        </p:nvSpPr>
        <p:spPr>
          <a:xfrm>
            <a:off x="1022350" y="2451001"/>
            <a:ext cx="548680" cy="0"/>
          </a:xfrm>
          <a:prstGeom prst="line">
            <a:avLst/>
          </a:prstGeom>
          <a:noFill/>
          <a:ln w="38100">
            <a:solidFill>
              <a:srgbClr val="AEB8C5"/>
            </a:solidFill>
            <a:prstDash val="solid"/>
          </a:ln>
        </p:spPr>
      </p:sp>
      <p:sp>
        <p:nvSpPr>
          <p:cNvPr id="9" name="Shape 7"/>
          <p:cNvSpPr/>
          <p:nvPr/>
        </p:nvSpPr>
        <p:spPr>
          <a:xfrm>
            <a:off x="1028700" y="2119561"/>
            <a:ext cx="0" cy="350490"/>
          </a:xfrm>
          <a:prstGeom prst="line">
            <a:avLst/>
          </a:prstGeom>
          <a:noFill/>
          <a:ln w="12700">
            <a:solidFill>
              <a:srgbClr val="AEB8C5"/>
            </a:solidFill>
            <a:prstDash val="solid"/>
          </a:ln>
        </p:spPr>
      </p:sp>
      <p:sp>
        <p:nvSpPr>
          <p:cNvPr id="10" name="Text 8"/>
          <p:cNvSpPr/>
          <p:nvPr/>
        </p:nvSpPr>
        <p:spPr>
          <a:xfrm>
            <a:off x="1136650" y="215766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11" name="Text 9"/>
          <p:cNvSpPr/>
          <p:nvPr/>
        </p:nvSpPr>
        <p:spPr>
          <a:xfrm>
            <a:off x="1634530"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12" name="Shape 10"/>
          <p:cNvSpPr/>
          <p:nvPr/>
        </p:nvSpPr>
        <p:spPr>
          <a:xfrm>
            <a:off x="1805087" y="2119561"/>
            <a:ext cx="335310" cy="350490"/>
          </a:xfrm>
          <a:prstGeom prst="roundRect">
            <a:avLst>
              <a:gd name="adj" fmla="val 18938"/>
            </a:avLst>
          </a:prstGeom>
          <a:solidFill>
            <a:srgbClr val="F3F5F8"/>
          </a:solidFill>
          <a:ln/>
        </p:spPr>
      </p:sp>
      <p:sp>
        <p:nvSpPr>
          <p:cNvPr id="13" name="Shape 11"/>
          <p:cNvSpPr/>
          <p:nvPr/>
        </p:nvSpPr>
        <p:spPr>
          <a:xfrm>
            <a:off x="1805087" y="2125911"/>
            <a:ext cx="335310" cy="0"/>
          </a:xfrm>
          <a:prstGeom prst="line">
            <a:avLst/>
          </a:prstGeom>
          <a:noFill/>
          <a:ln w="12700">
            <a:solidFill>
              <a:srgbClr val="AEB8C5"/>
            </a:solidFill>
            <a:prstDash val="solid"/>
          </a:ln>
        </p:spPr>
      </p:sp>
      <p:sp>
        <p:nvSpPr>
          <p:cNvPr id="14" name="Shape 12"/>
          <p:cNvSpPr/>
          <p:nvPr/>
        </p:nvSpPr>
        <p:spPr>
          <a:xfrm>
            <a:off x="2134046" y="2119561"/>
            <a:ext cx="0" cy="350490"/>
          </a:xfrm>
          <a:prstGeom prst="line">
            <a:avLst/>
          </a:prstGeom>
          <a:noFill/>
          <a:ln w="12700">
            <a:solidFill>
              <a:srgbClr val="AEB8C5"/>
            </a:solidFill>
            <a:prstDash val="solid"/>
          </a:ln>
        </p:spPr>
      </p:sp>
      <p:sp>
        <p:nvSpPr>
          <p:cNvPr id="15" name="Shape 13"/>
          <p:cNvSpPr/>
          <p:nvPr/>
        </p:nvSpPr>
        <p:spPr>
          <a:xfrm>
            <a:off x="1805087" y="2451001"/>
            <a:ext cx="335310" cy="0"/>
          </a:xfrm>
          <a:prstGeom prst="line">
            <a:avLst/>
          </a:prstGeom>
          <a:noFill/>
          <a:ln w="38100">
            <a:solidFill>
              <a:srgbClr val="AEB8C5"/>
            </a:solidFill>
            <a:prstDash val="solid"/>
          </a:ln>
        </p:spPr>
      </p:sp>
      <p:sp>
        <p:nvSpPr>
          <p:cNvPr id="16" name="Shape 14"/>
          <p:cNvSpPr/>
          <p:nvPr/>
        </p:nvSpPr>
        <p:spPr>
          <a:xfrm>
            <a:off x="1811437" y="2119561"/>
            <a:ext cx="0" cy="350490"/>
          </a:xfrm>
          <a:prstGeom prst="line">
            <a:avLst/>
          </a:prstGeom>
          <a:noFill/>
          <a:ln w="12700">
            <a:solidFill>
              <a:srgbClr val="AEB8C5"/>
            </a:solidFill>
            <a:prstDash val="solid"/>
          </a:ln>
        </p:spPr>
      </p:sp>
      <p:sp>
        <p:nvSpPr>
          <p:cNvPr id="17" name="Text 15"/>
          <p:cNvSpPr/>
          <p:nvPr/>
        </p:nvSpPr>
        <p:spPr>
          <a:xfrm>
            <a:off x="1919387" y="215766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a:t>
            </a:r>
            <a:endParaRPr lang="en-US" sz="1400" dirty="0"/>
          </a:p>
        </p:txBody>
      </p:sp>
      <p:sp>
        <p:nvSpPr>
          <p:cNvPr id="18" name="Text 16"/>
          <p:cNvSpPr/>
          <p:nvPr/>
        </p:nvSpPr>
        <p:spPr>
          <a:xfrm>
            <a:off x="1022350" y="2571651"/>
            <a:ext cx="30914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Magnifier: zoom into part of the screen</a:t>
            </a:r>
            <a:endParaRPr lang="en-US" sz="1500" dirty="0"/>
          </a:p>
        </p:txBody>
      </p:sp>
      <p:sp>
        <p:nvSpPr>
          <p:cNvPr id="19" name="Shape 17"/>
          <p:cNvSpPr/>
          <p:nvPr/>
        </p:nvSpPr>
        <p:spPr>
          <a:xfrm>
            <a:off x="4388892" y="1913186"/>
            <a:ext cx="3414167" cy="1398240"/>
          </a:xfrm>
          <a:prstGeom prst="roundRect">
            <a:avLst>
              <a:gd name="adj" fmla="val 7039"/>
            </a:avLst>
          </a:prstGeom>
          <a:solidFill>
            <a:srgbClr val="FCFDFE"/>
          </a:solidFill>
          <a:ln w="6350">
            <a:solidFill>
              <a:srgbClr val="D6DCE4"/>
            </a:solidFill>
            <a:prstDash val="solid"/>
          </a:ln>
        </p:spPr>
      </p:sp>
      <p:sp>
        <p:nvSpPr>
          <p:cNvPr id="20" name="Shape 18"/>
          <p:cNvSpPr/>
          <p:nvPr/>
        </p:nvSpPr>
        <p:spPr>
          <a:xfrm>
            <a:off x="4595267" y="2119561"/>
            <a:ext cx="548680" cy="350490"/>
          </a:xfrm>
          <a:prstGeom prst="roundRect">
            <a:avLst>
              <a:gd name="adj" fmla="val 18117"/>
            </a:avLst>
          </a:prstGeom>
          <a:solidFill>
            <a:srgbClr val="F3F5F8"/>
          </a:solidFill>
          <a:ln/>
        </p:spPr>
      </p:sp>
      <p:sp>
        <p:nvSpPr>
          <p:cNvPr id="21" name="Shape 19"/>
          <p:cNvSpPr/>
          <p:nvPr/>
        </p:nvSpPr>
        <p:spPr>
          <a:xfrm>
            <a:off x="4595267" y="2125911"/>
            <a:ext cx="548680" cy="0"/>
          </a:xfrm>
          <a:prstGeom prst="line">
            <a:avLst/>
          </a:prstGeom>
          <a:noFill/>
          <a:ln w="12700">
            <a:solidFill>
              <a:srgbClr val="AEB8C5"/>
            </a:solidFill>
            <a:prstDash val="solid"/>
          </a:ln>
        </p:spPr>
      </p:sp>
      <p:sp>
        <p:nvSpPr>
          <p:cNvPr id="22" name="Shape 20"/>
          <p:cNvSpPr/>
          <p:nvPr/>
        </p:nvSpPr>
        <p:spPr>
          <a:xfrm>
            <a:off x="5137596" y="2119561"/>
            <a:ext cx="0" cy="350490"/>
          </a:xfrm>
          <a:prstGeom prst="line">
            <a:avLst/>
          </a:prstGeom>
          <a:noFill/>
          <a:ln w="12700">
            <a:solidFill>
              <a:srgbClr val="AEB8C5"/>
            </a:solidFill>
            <a:prstDash val="solid"/>
          </a:ln>
        </p:spPr>
      </p:sp>
      <p:sp>
        <p:nvSpPr>
          <p:cNvPr id="23" name="Shape 21"/>
          <p:cNvSpPr/>
          <p:nvPr/>
        </p:nvSpPr>
        <p:spPr>
          <a:xfrm>
            <a:off x="4595267" y="2451001"/>
            <a:ext cx="548680" cy="0"/>
          </a:xfrm>
          <a:prstGeom prst="line">
            <a:avLst/>
          </a:prstGeom>
          <a:noFill/>
          <a:ln w="38100">
            <a:solidFill>
              <a:srgbClr val="AEB8C5"/>
            </a:solidFill>
            <a:prstDash val="solid"/>
          </a:ln>
        </p:spPr>
      </p:sp>
      <p:sp>
        <p:nvSpPr>
          <p:cNvPr id="24" name="Shape 22"/>
          <p:cNvSpPr/>
          <p:nvPr/>
        </p:nvSpPr>
        <p:spPr>
          <a:xfrm>
            <a:off x="4601617" y="2119561"/>
            <a:ext cx="0" cy="350490"/>
          </a:xfrm>
          <a:prstGeom prst="line">
            <a:avLst/>
          </a:prstGeom>
          <a:noFill/>
          <a:ln w="12700">
            <a:solidFill>
              <a:srgbClr val="AEB8C5"/>
            </a:solidFill>
            <a:prstDash val="solid"/>
          </a:ln>
        </p:spPr>
      </p:sp>
      <p:sp>
        <p:nvSpPr>
          <p:cNvPr id="25" name="Text 23"/>
          <p:cNvSpPr/>
          <p:nvPr/>
        </p:nvSpPr>
        <p:spPr>
          <a:xfrm>
            <a:off x="4709567" y="215766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26" name="Text 24"/>
          <p:cNvSpPr/>
          <p:nvPr/>
        </p:nvSpPr>
        <p:spPr>
          <a:xfrm>
            <a:off x="5207446"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27" name="Shape 25"/>
          <p:cNvSpPr/>
          <p:nvPr/>
        </p:nvSpPr>
        <p:spPr>
          <a:xfrm>
            <a:off x="5378004" y="2119561"/>
            <a:ext cx="655340" cy="350490"/>
          </a:xfrm>
          <a:prstGeom prst="roundRect">
            <a:avLst>
              <a:gd name="adj" fmla="val 18117"/>
            </a:avLst>
          </a:prstGeom>
          <a:solidFill>
            <a:srgbClr val="F3F5F8"/>
          </a:solidFill>
          <a:ln/>
        </p:spPr>
      </p:sp>
      <p:sp>
        <p:nvSpPr>
          <p:cNvPr id="28" name="Shape 26"/>
          <p:cNvSpPr/>
          <p:nvPr/>
        </p:nvSpPr>
        <p:spPr>
          <a:xfrm>
            <a:off x="5378004" y="2125911"/>
            <a:ext cx="655340" cy="0"/>
          </a:xfrm>
          <a:prstGeom prst="line">
            <a:avLst/>
          </a:prstGeom>
          <a:noFill/>
          <a:ln w="12700">
            <a:solidFill>
              <a:srgbClr val="AEB8C5"/>
            </a:solidFill>
            <a:prstDash val="solid"/>
          </a:ln>
        </p:spPr>
      </p:sp>
      <p:sp>
        <p:nvSpPr>
          <p:cNvPr id="29" name="Shape 27"/>
          <p:cNvSpPr/>
          <p:nvPr/>
        </p:nvSpPr>
        <p:spPr>
          <a:xfrm>
            <a:off x="6026993" y="2119561"/>
            <a:ext cx="0" cy="350490"/>
          </a:xfrm>
          <a:prstGeom prst="line">
            <a:avLst/>
          </a:prstGeom>
          <a:noFill/>
          <a:ln w="12700">
            <a:solidFill>
              <a:srgbClr val="AEB8C5"/>
            </a:solidFill>
            <a:prstDash val="solid"/>
          </a:ln>
        </p:spPr>
      </p:sp>
      <p:sp>
        <p:nvSpPr>
          <p:cNvPr id="30" name="Shape 28"/>
          <p:cNvSpPr/>
          <p:nvPr/>
        </p:nvSpPr>
        <p:spPr>
          <a:xfrm>
            <a:off x="5378004" y="2451001"/>
            <a:ext cx="655340" cy="0"/>
          </a:xfrm>
          <a:prstGeom prst="line">
            <a:avLst/>
          </a:prstGeom>
          <a:noFill/>
          <a:ln w="38100">
            <a:solidFill>
              <a:srgbClr val="AEB8C5"/>
            </a:solidFill>
            <a:prstDash val="solid"/>
          </a:ln>
        </p:spPr>
      </p:sp>
      <p:sp>
        <p:nvSpPr>
          <p:cNvPr id="31" name="Shape 29"/>
          <p:cNvSpPr/>
          <p:nvPr/>
        </p:nvSpPr>
        <p:spPr>
          <a:xfrm>
            <a:off x="5384354" y="2119561"/>
            <a:ext cx="0" cy="350490"/>
          </a:xfrm>
          <a:prstGeom prst="line">
            <a:avLst/>
          </a:prstGeom>
          <a:noFill/>
          <a:ln w="12700">
            <a:solidFill>
              <a:srgbClr val="AEB8C5"/>
            </a:solidFill>
            <a:prstDash val="solid"/>
          </a:ln>
        </p:spPr>
      </p:sp>
      <p:sp>
        <p:nvSpPr>
          <p:cNvPr id="32" name="Text 30"/>
          <p:cNvSpPr/>
          <p:nvPr/>
        </p:nvSpPr>
        <p:spPr>
          <a:xfrm>
            <a:off x="5492304" y="2157661"/>
            <a:ext cx="47754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Ctrl</a:t>
            </a:r>
            <a:endParaRPr lang="en-US" sz="1400" dirty="0"/>
          </a:p>
        </p:txBody>
      </p:sp>
      <p:sp>
        <p:nvSpPr>
          <p:cNvPr id="33" name="Text 31"/>
          <p:cNvSpPr/>
          <p:nvPr/>
        </p:nvSpPr>
        <p:spPr>
          <a:xfrm>
            <a:off x="6096843"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34" name="Shape 32"/>
          <p:cNvSpPr/>
          <p:nvPr/>
        </p:nvSpPr>
        <p:spPr>
          <a:xfrm>
            <a:off x="6267400" y="2119561"/>
            <a:ext cx="335310" cy="350490"/>
          </a:xfrm>
          <a:prstGeom prst="roundRect">
            <a:avLst>
              <a:gd name="adj" fmla="val 18938"/>
            </a:avLst>
          </a:prstGeom>
          <a:solidFill>
            <a:srgbClr val="F3F5F8"/>
          </a:solidFill>
          <a:ln/>
        </p:spPr>
      </p:sp>
      <p:sp>
        <p:nvSpPr>
          <p:cNvPr id="35" name="Shape 33"/>
          <p:cNvSpPr/>
          <p:nvPr/>
        </p:nvSpPr>
        <p:spPr>
          <a:xfrm>
            <a:off x="6267400" y="2125911"/>
            <a:ext cx="335310" cy="0"/>
          </a:xfrm>
          <a:prstGeom prst="line">
            <a:avLst/>
          </a:prstGeom>
          <a:noFill/>
          <a:ln w="12700">
            <a:solidFill>
              <a:srgbClr val="AEB8C5"/>
            </a:solidFill>
            <a:prstDash val="solid"/>
          </a:ln>
        </p:spPr>
      </p:sp>
      <p:sp>
        <p:nvSpPr>
          <p:cNvPr id="36" name="Shape 34"/>
          <p:cNvSpPr/>
          <p:nvPr/>
        </p:nvSpPr>
        <p:spPr>
          <a:xfrm>
            <a:off x="6596360" y="2119561"/>
            <a:ext cx="0" cy="350490"/>
          </a:xfrm>
          <a:prstGeom prst="line">
            <a:avLst/>
          </a:prstGeom>
          <a:noFill/>
          <a:ln w="12700">
            <a:solidFill>
              <a:srgbClr val="AEB8C5"/>
            </a:solidFill>
            <a:prstDash val="solid"/>
          </a:ln>
        </p:spPr>
      </p:sp>
      <p:sp>
        <p:nvSpPr>
          <p:cNvPr id="37" name="Shape 35"/>
          <p:cNvSpPr/>
          <p:nvPr/>
        </p:nvSpPr>
        <p:spPr>
          <a:xfrm>
            <a:off x="6267400" y="2451001"/>
            <a:ext cx="335310" cy="0"/>
          </a:xfrm>
          <a:prstGeom prst="line">
            <a:avLst/>
          </a:prstGeom>
          <a:noFill/>
          <a:ln w="38100">
            <a:solidFill>
              <a:srgbClr val="AEB8C5"/>
            </a:solidFill>
            <a:prstDash val="solid"/>
          </a:ln>
        </p:spPr>
      </p:sp>
      <p:sp>
        <p:nvSpPr>
          <p:cNvPr id="38" name="Shape 36"/>
          <p:cNvSpPr/>
          <p:nvPr/>
        </p:nvSpPr>
        <p:spPr>
          <a:xfrm>
            <a:off x="6273750" y="2119561"/>
            <a:ext cx="0" cy="350490"/>
          </a:xfrm>
          <a:prstGeom prst="line">
            <a:avLst/>
          </a:prstGeom>
          <a:noFill/>
          <a:ln w="12700">
            <a:solidFill>
              <a:srgbClr val="AEB8C5"/>
            </a:solidFill>
            <a:prstDash val="solid"/>
          </a:ln>
        </p:spPr>
      </p:sp>
      <p:sp>
        <p:nvSpPr>
          <p:cNvPr id="39" name="Text 37"/>
          <p:cNvSpPr/>
          <p:nvPr/>
        </p:nvSpPr>
        <p:spPr>
          <a:xfrm>
            <a:off x="6381700" y="215766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L</a:t>
            </a:r>
            <a:endParaRPr lang="en-US" sz="1400" dirty="0"/>
          </a:p>
        </p:txBody>
      </p:sp>
      <p:sp>
        <p:nvSpPr>
          <p:cNvPr id="40" name="Text 38"/>
          <p:cNvSpPr/>
          <p:nvPr/>
        </p:nvSpPr>
        <p:spPr>
          <a:xfrm>
            <a:off x="4595267" y="2571651"/>
            <a:ext cx="30914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Live captions for any audio, including recordings</a:t>
            </a:r>
            <a:endParaRPr lang="en-US" sz="1500" dirty="0"/>
          </a:p>
        </p:txBody>
      </p:sp>
      <p:sp>
        <p:nvSpPr>
          <p:cNvPr id="41" name="Shape 39"/>
          <p:cNvSpPr/>
          <p:nvPr/>
        </p:nvSpPr>
        <p:spPr>
          <a:xfrm>
            <a:off x="7961809" y="1913186"/>
            <a:ext cx="3414216" cy="1398240"/>
          </a:xfrm>
          <a:prstGeom prst="roundRect">
            <a:avLst>
              <a:gd name="adj" fmla="val 7039"/>
            </a:avLst>
          </a:prstGeom>
          <a:solidFill>
            <a:srgbClr val="FCFDFE"/>
          </a:solidFill>
          <a:ln w="6350">
            <a:solidFill>
              <a:srgbClr val="D6DCE4"/>
            </a:solidFill>
            <a:prstDash val="solid"/>
          </a:ln>
        </p:spPr>
      </p:sp>
      <p:sp>
        <p:nvSpPr>
          <p:cNvPr id="42" name="Shape 40"/>
          <p:cNvSpPr/>
          <p:nvPr/>
        </p:nvSpPr>
        <p:spPr>
          <a:xfrm>
            <a:off x="8168184" y="2119561"/>
            <a:ext cx="548680" cy="350490"/>
          </a:xfrm>
          <a:prstGeom prst="roundRect">
            <a:avLst>
              <a:gd name="adj" fmla="val 18117"/>
            </a:avLst>
          </a:prstGeom>
          <a:solidFill>
            <a:srgbClr val="F3F5F8"/>
          </a:solidFill>
          <a:ln/>
        </p:spPr>
      </p:sp>
      <p:sp>
        <p:nvSpPr>
          <p:cNvPr id="43" name="Shape 41"/>
          <p:cNvSpPr/>
          <p:nvPr/>
        </p:nvSpPr>
        <p:spPr>
          <a:xfrm>
            <a:off x="8168184" y="2125911"/>
            <a:ext cx="548680" cy="0"/>
          </a:xfrm>
          <a:prstGeom prst="line">
            <a:avLst/>
          </a:prstGeom>
          <a:noFill/>
          <a:ln w="12700">
            <a:solidFill>
              <a:srgbClr val="AEB8C5"/>
            </a:solidFill>
            <a:prstDash val="solid"/>
          </a:ln>
        </p:spPr>
      </p:sp>
      <p:sp>
        <p:nvSpPr>
          <p:cNvPr id="44" name="Shape 42"/>
          <p:cNvSpPr/>
          <p:nvPr/>
        </p:nvSpPr>
        <p:spPr>
          <a:xfrm>
            <a:off x="8710513" y="2119561"/>
            <a:ext cx="0" cy="350490"/>
          </a:xfrm>
          <a:prstGeom prst="line">
            <a:avLst/>
          </a:prstGeom>
          <a:noFill/>
          <a:ln w="12700">
            <a:solidFill>
              <a:srgbClr val="AEB8C5"/>
            </a:solidFill>
            <a:prstDash val="solid"/>
          </a:ln>
        </p:spPr>
      </p:sp>
      <p:sp>
        <p:nvSpPr>
          <p:cNvPr id="45" name="Shape 43"/>
          <p:cNvSpPr/>
          <p:nvPr/>
        </p:nvSpPr>
        <p:spPr>
          <a:xfrm>
            <a:off x="8168184" y="2451001"/>
            <a:ext cx="548680" cy="0"/>
          </a:xfrm>
          <a:prstGeom prst="line">
            <a:avLst/>
          </a:prstGeom>
          <a:noFill/>
          <a:ln w="38100">
            <a:solidFill>
              <a:srgbClr val="AEB8C5"/>
            </a:solidFill>
            <a:prstDash val="solid"/>
          </a:ln>
        </p:spPr>
      </p:sp>
      <p:sp>
        <p:nvSpPr>
          <p:cNvPr id="46" name="Shape 44"/>
          <p:cNvSpPr/>
          <p:nvPr/>
        </p:nvSpPr>
        <p:spPr>
          <a:xfrm>
            <a:off x="8174534" y="2119561"/>
            <a:ext cx="0" cy="350490"/>
          </a:xfrm>
          <a:prstGeom prst="line">
            <a:avLst/>
          </a:prstGeom>
          <a:noFill/>
          <a:ln w="12700">
            <a:solidFill>
              <a:srgbClr val="AEB8C5"/>
            </a:solidFill>
            <a:prstDash val="solid"/>
          </a:ln>
        </p:spPr>
      </p:sp>
      <p:sp>
        <p:nvSpPr>
          <p:cNvPr id="47" name="Text 45"/>
          <p:cNvSpPr/>
          <p:nvPr/>
        </p:nvSpPr>
        <p:spPr>
          <a:xfrm>
            <a:off x="8282484" y="215766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48" name="Text 46"/>
          <p:cNvSpPr/>
          <p:nvPr/>
        </p:nvSpPr>
        <p:spPr>
          <a:xfrm>
            <a:off x="8780363" y="217036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49" name="Shape 47"/>
          <p:cNvSpPr/>
          <p:nvPr/>
        </p:nvSpPr>
        <p:spPr>
          <a:xfrm>
            <a:off x="8950920" y="2119561"/>
            <a:ext cx="335310" cy="350490"/>
          </a:xfrm>
          <a:prstGeom prst="roundRect">
            <a:avLst>
              <a:gd name="adj" fmla="val 18938"/>
            </a:avLst>
          </a:prstGeom>
          <a:solidFill>
            <a:srgbClr val="F3F5F8"/>
          </a:solidFill>
          <a:ln/>
        </p:spPr>
      </p:sp>
      <p:sp>
        <p:nvSpPr>
          <p:cNvPr id="50" name="Shape 48"/>
          <p:cNvSpPr/>
          <p:nvPr/>
        </p:nvSpPr>
        <p:spPr>
          <a:xfrm>
            <a:off x="8950920" y="2125911"/>
            <a:ext cx="335310" cy="0"/>
          </a:xfrm>
          <a:prstGeom prst="line">
            <a:avLst/>
          </a:prstGeom>
          <a:noFill/>
          <a:ln w="12700">
            <a:solidFill>
              <a:srgbClr val="AEB8C5"/>
            </a:solidFill>
            <a:prstDash val="solid"/>
          </a:ln>
        </p:spPr>
      </p:sp>
      <p:sp>
        <p:nvSpPr>
          <p:cNvPr id="51" name="Shape 49"/>
          <p:cNvSpPr/>
          <p:nvPr/>
        </p:nvSpPr>
        <p:spPr>
          <a:xfrm>
            <a:off x="9279880" y="2119561"/>
            <a:ext cx="0" cy="350490"/>
          </a:xfrm>
          <a:prstGeom prst="line">
            <a:avLst/>
          </a:prstGeom>
          <a:noFill/>
          <a:ln w="12700">
            <a:solidFill>
              <a:srgbClr val="AEB8C5"/>
            </a:solidFill>
            <a:prstDash val="solid"/>
          </a:ln>
        </p:spPr>
      </p:sp>
      <p:sp>
        <p:nvSpPr>
          <p:cNvPr id="52" name="Shape 50"/>
          <p:cNvSpPr/>
          <p:nvPr/>
        </p:nvSpPr>
        <p:spPr>
          <a:xfrm>
            <a:off x="8950920" y="2451001"/>
            <a:ext cx="335310" cy="0"/>
          </a:xfrm>
          <a:prstGeom prst="line">
            <a:avLst/>
          </a:prstGeom>
          <a:noFill/>
          <a:ln w="38100">
            <a:solidFill>
              <a:srgbClr val="AEB8C5"/>
            </a:solidFill>
            <a:prstDash val="solid"/>
          </a:ln>
        </p:spPr>
      </p:sp>
      <p:sp>
        <p:nvSpPr>
          <p:cNvPr id="53" name="Shape 51"/>
          <p:cNvSpPr/>
          <p:nvPr/>
        </p:nvSpPr>
        <p:spPr>
          <a:xfrm>
            <a:off x="8957270" y="2119561"/>
            <a:ext cx="0" cy="350490"/>
          </a:xfrm>
          <a:prstGeom prst="line">
            <a:avLst/>
          </a:prstGeom>
          <a:noFill/>
          <a:ln w="12700">
            <a:solidFill>
              <a:srgbClr val="AEB8C5"/>
            </a:solidFill>
            <a:prstDash val="solid"/>
          </a:ln>
        </p:spPr>
      </p:sp>
      <p:sp>
        <p:nvSpPr>
          <p:cNvPr id="54" name="Text 52"/>
          <p:cNvSpPr/>
          <p:nvPr/>
        </p:nvSpPr>
        <p:spPr>
          <a:xfrm>
            <a:off x="9065220" y="215766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H</a:t>
            </a:r>
            <a:endParaRPr lang="en-US" sz="1400" dirty="0"/>
          </a:p>
        </p:txBody>
      </p:sp>
      <p:sp>
        <p:nvSpPr>
          <p:cNvPr id="55" name="Text 53"/>
          <p:cNvSpPr/>
          <p:nvPr/>
        </p:nvSpPr>
        <p:spPr>
          <a:xfrm>
            <a:off x="8168184" y="2571651"/>
            <a:ext cx="30915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Voice typing into any text box</a:t>
            </a:r>
            <a:endParaRPr lang="en-US" sz="1500" dirty="0"/>
          </a:p>
        </p:txBody>
      </p:sp>
      <p:sp>
        <p:nvSpPr>
          <p:cNvPr id="56" name="Shape 54"/>
          <p:cNvSpPr/>
          <p:nvPr/>
        </p:nvSpPr>
        <p:spPr>
          <a:xfrm>
            <a:off x="815975" y="3470176"/>
            <a:ext cx="3414167" cy="1398240"/>
          </a:xfrm>
          <a:prstGeom prst="roundRect">
            <a:avLst>
              <a:gd name="adj" fmla="val 7039"/>
            </a:avLst>
          </a:prstGeom>
          <a:solidFill>
            <a:srgbClr val="FCFDFE"/>
          </a:solidFill>
          <a:ln w="6350">
            <a:solidFill>
              <a:srgbClr val="D6DCE4"/>
            </a:solidFill>
            <a:prstDash val="solid"/>
          </a:ln>
        </p:spPr>
      </p:sp>
      <p:sp>
        <p:nvSpPr>
          <p:cNvPr id="57" name="Shape 55"/>
          <p:cNvSpPr/>
          <p:nvPr/>
        </p:nvSpPr>
        <p:spPr>
          <a:xfrm>
            <a:off x="1022350" y="3676551"/>
            <a:ext cx="548680" cy="350490"/>
          </a:xfrm>
          <a:prstGeom prst="roundRect">
            <a:avLst>
              <a:gd name="adj" fmla="val 18117"/>
            </a:avLst>
          </a:prstGeom>
          <a:solidFill>
            <a:srgbClr val="F3F5F8"/>
          </a:solidFill>
          <a:ln/>
        </p:spPr>
      </p:sp>
      <p:sp>
        <p:nvSpPr>
          <p:cNvPr id="58" name="Shape 56"/>
          <p:cNvSpPr/>
          <p:nvPr/>
        </p:nvSpPr>
        <p:spPr>
          <a:xfrm>
            <a:off x="1022350" y="3682901"/>
            <a:ext cx="548680" cy="0"/>
          </a:xfrm>
          <a:prstGeom prst="line">
            <a:avLst/>
          </a:prstGeom>
          <a:noFill/>
          <a:ln w="12700">
            <a:solidFill>
              <a:srgbClr val="AEB8C5"/>
            </a:solidFill>
            <a:prstDash val="solid"/>
          </a:ln>
        </p:spPr>
      </p:sp>
      <p:sp>
        <p:nvSpPr>
          <p:cNvPr id="59" name="Shape 57"/>
          <p:cNvSpPr/>
          <p:nvPr/>
        </p:nvSpPr>
        <p:spPr>
          <a:xfrm>
            <a:off x="1564680" y="3676551"/>
            <a:ext cx="0" cy="350490"/>
          </a:xfrm>
          <a:prstGeom prst="line">
            <a:avLst/>
          </a:prstGeom>
          <a:noFill/>
          <a:ln w="12700">
            <a:solidFill>
              <a:srgbClr val="AEB8C5"/>
            </a:solidFill>
            <a:prstDash val="solid"/>
          </a:ln>
        </p:spPr>
      </p:sp>
      <p:sp>
        <p:nvSpPr>
          <p:cNvPr id="60" name="Shape 58"/>
          <p:cNvSpPr/>
          <p:nvPr/>
        </p:nvSpPr>
        <p:spPr>
          <a:xfrm>
            <a:off x="1022350" y="4007991"/>
            <a:ext cx="548680" cy="0"/>
          </a:xfrm>
          <a:prstGeom prst="line">
            <a:avLst/>
          </a:prstGeom>
          <a:noFill/>
          <a:ln w="38100">
            <a:solidFill>
              <a:srgbClr val="AEB8C5"/>
            </a:solidFill>
            <a:prstDash val="solid"/>
          </a:ln>
        </p:spPr>
      </p:sp>
      <p:sp>
        <p:nvSpPr>
          <p:cNvPr id="61" name="Shape 59"/>
          <p:cNvSpPr/>
          <p:nvPr/>
        </p:nvSpPr>
        <p:spPr>
          <a:xfrm>
            <a:off x="1028700" y="3676551"/>
            <a:ext cx="0" cy="350490"/>
          </a:xfrm>
          <a:prstGeom prst="line">
            <a:avLst/>
          </a:prstGeom>
          <a:noFill/>
          <a:ln w="12700">
            <a:solidFill>
              <a:srgbClr val="AEB8C5"/>
            </a:solidFill>
            <a:prstDash val="solid"/>
          </a:ln>
        </p:spPr>
      </p:sp>
      <p:sp>
        <p:nvSpPr>
          <p:cNvPr id="62" name="Text 60"/>
          <p:cNvSpPr/>
          <p:nvPr/>
        </p:nvSpPr>
        <p:spPr>
          <a:xfrm>
            <a:off x="1136650" y="371465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63" name="Text 61"/>
          <p:cNvSpPr/>
          <p:nvPr/>
        </p:nvSpPr>
        <p:spPr>
          <a:xfrm>
            <a:off x="1634530"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64" name="Shape 62"/>
          <p:cNvSpPr/>
          <p:nvPr/>
        </p:nvSpPr>
        <p:spPr>
          <a:xfrm>
            <a:off x="1805087" y="3676551"/>
            <a:ext cx="655340" cy="350490"/>
          </a:xfrm>
          <a:prstGeom prst="roundRect">
            <a:avLst>
              <a:gd name="adj" fmla="val 18117"/>
            </a:avLst>
          </a:prstGeom>
          <a:solidFill>
            <a:srgbClr val="F3F5F8"/>
          </a:solidFill>
          <a:ln/>
        </p:spPr>
      </p:sp>
      <p:sp>
        <p:nvSpPr>
          <p:cNvPr id="65" name="Shape 63"/>
          <p:cNvSpPr/>
          <p:nvPr/>
        </p:nvSpPr>
        <p:spPr>
          <a:xfrm>
            <a:off x="1805087" y="3682901"/>
            <a:ext cx="655340" cy="0"/>
          </a:xfrm>
          <a:prstGeom prst="line">
            <a:avLst/>
          </a:prstGeom>
          <a:noFill/>
          <a:ln w="12700">
            <a:solidFill>
              <a:srgbClr val="AEB8C5"/>
            </a:solidFill>
            <a:prstDash val="solid"/>
          </a:ln>
        </p:spPr>
      </p:sp>
      <p:sp>
        <p:nvSpPr>
          <p:cNvPr id="66" name="Shape 64"/>
          <p:cNvSpPr/>
          <p:nvPr/>
        </p:nvSpPr>
        <p:spPr>
          <a:xfrm>
            <a:off x="2454077" y="3676551"/>
            <a:ext cx="0" cy="350490"/>
          </a:xfrm>
          <a:prstGeom prst="line">
            <a:avLst/>
          </a:prstGeom>
          <a:noFill/>
          <a:ln w="12700">
            <a:solidFill>
              <a:srgbClr val="AEB8C5"/>
            </a:solidFill>
            <a:prstDash val="solid"/>
          </a:ln>
        </p:spPr>
      </p:sp>
      <p:sp>
        <p:nvSpPr>
          <p:cNvPr id="67" name="Shape 65"/>
          <p:cNvSpPr/>
          <p:nvPr/>
        </p:nvSpPr>
        <p:spPr>
          <a:xfrm>
            <a:off x="1805087" y="4007991"/>
            <a:ext cx="655340" cy="0"/>
          </a:xfrm>
          <a:prstGeom prst="line">
            <a:avLst/>
          </a:prstGeom>
          <a:noFill/>
          <a:ln w="38100">
            <a:solidFill>
              <a:srgbClr val="AEB8C5"/>
            </a:solidFill>
            <a:prstDash val="solid"/>
          </a:ln>
        </p:spPr>
      </p:sp>
      <p:sp>
        <p:nvSpPr>
          <p:cNvPr id="68" name="Shape 66"/>
          <p:cNvSpPr/>
          <p:nvPr/>
        </p:nvSpPr>
        <p:spPr>
          <a:xfrm>
            <a:off x="1811437" y="3676551"/>
            <a:ext cx="0" cy="350490"/>
          </a:xfrm>
          <a:prstGeom prst="line">
            <a:avLst/>
          </a:prstGeom>
          <a:noFill/>
          <a:ln w="12700">
            <a:solidFill>
              <a:srgbClr val="AEB8C5"/>
            </a:solidFill>
            <a:prstDash val="solid"/>
          </a:ln>
        </p:spPr>
      </p:sp>
      <p:sp>
        <p:nvSpPr>
          <p:cNvPr id="69" name="Text 67"/>
          <p:cNvSpPr/>
          <p:nvPr/>
        </p:nvSpPr>
        <p:spPr>
          <a:xfrm>
            <a:off x="1919387" y="3714651"/>
            <a:ext cx="47754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Ctrl</a:t>
            </a:r>
            <a:endParaRPr lang="en-US" sz="1400" dirty="0"/>
          </a:p>
        </p:txBody>
      </p:sp>
      <p:sp>
        <p:nvSpPr>
          <p:cNvPr id="70" name="Text 68"/>
          <p:cNvSpPr/>
          <p:nvPr/>
        </p:nvSpPr>
        <p:spPr>
          <a:xfrm>
            <a:off x="2523927"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71" name="Shape 69"/>
          <p:cNvSpPr/>
          <p:nvPr/>
        </p:nvSpPr>
        <p:spPr>
          <a:xfrm>
            <a:off x="2694484" y="3676551"/>
            <a:ext cx="762000" cy="350490"/>
          </a:xfrm>
          <a:prstGeom prst="roundRect">
            <a:avLst>
              <a:gd name="adj" fmla="val 18117"/>
            </a:avLst>
          </a:prstGeom>
          <a:solidFill>
            <a:srgbClr val="F3F5F8"/>
          </a:solidFill>
          <a:ln/>
        </p:spPr>
      </p:sp>
      <p:sp>
        <p:nvSpPr>
          <p:cNvPr id="72" name="Shape 70"/>
          <p:cNvSpPr/>
          <p:nvPr/>
        </p:nvSpPr>
        <p:spPr>
          <a:xfrm>
            <a:off x="2694484" y="3682901"/>
            <a:ext cx="762000" cy="0"/>
          </a:xfrm>
          <a:prstGeom prst="line">
            <a:avLst/>
          </a:prstGeom>
          <a:noFill/>
          <a:ln w="12700">
            <a:solidFill>
              <a:srgbClr val="AEB8C5"/>
            </a:solidFill>
            <a:prstDash val="solid"/>
          </a:ln>
        </p:spPr>
      </p:sp>
      <p:sp>
        <p:nvSpPr>
          <p:cNvPr id="73" name="Shape 71"/>
          <p:cNvSpPr/>
          <p:nvPr/>
        </p:nvSpPr>
        <p:spPr>
          <a:xfrm>
            <a:off x="3450134" y="3676551"/>
            <a:ext cx="0" cy="350490"/>
          </a:xfrm>
          <a:prstGeom prst="line">
            <a:avLst/>
          </a:prstGeom>
          <a:noFill/>
          <a:ln w="12700">
            <a:solidFill>
              <a:srgbClr val="AEB8C5"/>
            </a:solidFill>
            <a:prstDash val="solid"/>
          </a:ln>
        </p:spPr>
      </p:sp>
      <p:sp>
        <p:nvSpPr>
          <p:cNvPr id="74" name="Shape 72"/>
          <p:cNvSpPr/>
          <p:nvPr/>
        </p:nvSpPr>
        <p:spPr>
          <a:xfrm>
            <a:off x="2694484" y="4007991"/>
            <a:ext cx="762000" cy="0"/>
          </a:xfrm>
          <a:prstGeom prst="line">
            <a:avLst/>
          </a:prstGeom>
          <a:noFill/>
          <a:ln w="38100">
            <a:solidFill>
              <a:srgbClr val="AEB8C5"/>
            </a:solidFill>
            <a:prstDash val="solid"/>
          </a:ln>
        </p:spPr>
      </p:sp>
      <p:sp>
        <p:nvSpPr>
          <p:cNvPr id="75" name="Shape 73"/>
          <p:cNvSpPr/>
          <p:nvPr/>
        </p:nvSpPr>
        <p:spPr>
          <a:xfrm>
            <a:off x="2700834" y="3676551"/>
            <a:ext cx="0" cy="350490"/>
          </a:xfrm>
          <a:prstGeom prst="line">
            <a:avLst/>
          </a:prstGeom>
          <a:noFill/>
          <a:ln w="12700">
            <a:solidFill>
              <a:srgbClr val="AEB8C5"/>
            </a:solidFill>
            <a:prstDash val="solid"/>
          </a:ln>
        </p:spPr>
      </p:sp>
      <p:sp>
        <p:nvSpPr>
          <p:cNvPr id="76" name="Text 74"/>
          <p:cNvSpPr/>
          <p:nvPr/>
        </p:nvSpPr>
        <p:spPr>
          <a:xfrm>
            <a:off x="2808784" y="3714651"/>
            <a:ext cx="58420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Enter</a:t>
            </a:r>
            <a:endParaRPr lang="en-US" sz="1400" dirty="0"/>
          </a:p>
        </p:txBody>
      </p:sp>
      <p:sp>
        <p:nvSpPr>
          <p:cNvPr id="77" name="Text 75"/>
          <p:cNvSpPr/>
          <p:nvPr/>
        </p:nvSpPr>
        <p:spPr>
          <a:xfrm>
            <a:off x="1022350" y="4128641"/>
            <a:ext cx="309145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Narrator reads the screen aloud</a:t>
            </a:r>
            <a:endParaRPr lang="en-US" sz="1500" dirty="0"/>
          </a:p>
        </p:txBody>
      </p:sp>
      <p:sp>
        <p:nvSpPr>
          <p:cNvPr id="78" name="Shape 76"/>
          <p:cNvSpPr/>
          <p:nvPr/>
        </p:nvSpPr>
        <p:spPr>
          <a:xfrm>
            <a:off x="4388892" y="3470176"/>
            <a:ext cx="3414167" cy="1398240"/>
          </a:xfrm>
          <a:prstGeom prst="roundRect">
            <a:avLst>
              <a:gd name="adj" fmla="val 7039"/>
            </a:avLst>
          </a:prstGeom>
          <a:solidFill>
            <a:srgbClr val="FCFDFE"/>
          </a:solidFill>
          <a:ln w="6350">
            <a:solidFill>
              <a:srgbClr val="D6DCE4"/>
            </a:solidFill>
            <a:prstDash val="solid"/>
          </a:ln>
        </p:spPr>
      </p:sp>
      <p:sp>
        <p:nvSpPr>
          <p:cNvPr id="79" name="Shape 77"/>
          <p:cNvSpPr/>
          <p:nvPr/>
        </p:nvSpPr>
        <p:spPr>
          <a:xfrm>
            <a:off x="4595267" y="3676551"/>
            <a:ext cx="548680" cy="350490"/>
          </a:xfrm>
          <a:prstGeom prst="roundRect">
            <a:avLst>
              <a:gd name="adj" fmla="val 18117"/>
            </a:avLst>
          </a:prstGeom>
          <a:solidFill>
            <a:srgbClr val="F3F5F8"/>
          </a:solidFill>
          <a:ln/>
        </p:spPr>
      </p:sp>
      <p:sp>
        <p:nvSpPr>
          <p:cNvPr id="80" name="Shape 78"/>
          <p:cNvSpPr/>
          <p:nvPr/>
        </p:nvSpPr>
        <p:spPr>
          <a:xfrm>
            <a:off x="4595267" y="3682901"/>
            <a:ext cx="548680" cy="0"/>
          </a:xfrm>
          <a:prstGeom prst="line">
            <a:avLst/>
          </a:prstGeom>
          <a:noFill/>
          <a:ln w="12700">
            <a:solidFill>
              <a:srgbClr val="AEB8C5"/>
            </a:solidFill>
            <a:prstDash val="solid"/>
          </a:ln>
        </p:spPr>
      </p:sp>
      <p:sp>
        <p:nvSpPr>
          <p:cNvPr id="81" name="Shape 79"/>
          <p:cNvSpPr/>
          <p:nvPr/>
        </p:nvSpPr>
        <p:spPr>
          <a:xfrm>
            <a:off x="5137596" y="3676551"/>
            <a:ext cx="0" cy="350490"/>
          </a:xfrm>
          <a:prstGeom prst="line">
            <a:avLst/>
          </a:prstGeom>
          <a:noFill/>
          <a:ln w="12700">
            <a:solidFill>
              <a:srgbClr val="AEB8C5"/>
            </a:solidFill>
            <a:prstDash val="solid"/>
          </a:ln>
        </p:spPr>
      </p:sp>
      <p:sp>
        <p:nvSpPr>
          <p:cNvPr id="82" name="Shape 80"/>
          <p:cNvSpPr/>
          <p:nvPr/>
        </p:nvSpPr>
        <p:spPr>
          <a:xfrm>
            <a:off x="4595267" y="4007991"/>
            <a:ext cx="548680" cy="0"/>
          </a:xfrm>
          <a:prstGeom prst="line">
            <a:avLst/>
          </a:prstGeom>
          <a:noFill/>
          <a:ln w="38100">
            <a:solidFill>
              <a:srgbClr val="AEB8C5"/>
            </a:solidFill>
            <a:prstDash val="solid"/>
          </a:ln>
        </p:spPr>
      </p:sp>
      <p:sp>
        <p:nvSpPr>
          <p:cNvPr id="83" name="Shape 81"/>
          <p:cNvSpPr/>
          <p:nvPr/>
        </p:nvSpPr>
        <p:spPr>
          <a:xfrm>
            <a:off x="4601617" y="3676551"/>
            <a:ext cx="0" cy="350490"/>
          </a:xfrm>
          <a:prstGeom prst="line">
            <a:avLst/>
          </a:prstGeom>
          <a:noFill/>
          <a:ln w="12700">
            <a:solidFill>
              <a:srgbClr val="AEB8C5"/>
            </a:solidFill>
            <a:prstDash val="solid"/>
          </a:ln>
        </p:spPr>
      </p:sp>
      <p:sp>
        <p:nvSpPr>
          <p:cNvPr id="84" name="Text 82"/>
          <p:cNvSpPr/>
          <p:nvPr/>
        </p:nvSpPr>
        <p:spPr>
          <a:xfrm>
            <a:off x="4709567" y="3714651"/>
            <a:ext cx="37088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Win</a:t>
            </a:r>
            <a:endParaRPr lang="en-US" sz="1400" dirty="0"/>
          </a:p>
        </p:txBody>
      </p:sp>
      <p:sp>
        <p:nvSpPr>
          <p:cNvPr id="85" name="Text 83"/>
          <p:cNvSpPr/>
          <p:nvPr/>
        </p:nvSpPr>
        <p:spPr>
          <a:xfrm>
            <a:off x="5207446"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86" name="Shape 84"/>
          <p:cNvSpPr/>
          <p:nvPr/>
        </p:nvSpPr>
        <p:spPr>
          <a:xfrm>
            <a:off x="5378004" y="3676551"/>
            <a:ext cx="655340" cy="350490"/>
          </a:xfrm>
          <a:prstGeom prst="roundRect">
            <a:avLst>
              <a:gd name="adj" fmla="val 18117"/>
            </a:avLst>
          </a:prstGeom>
          <a:solidFill>
            <a:srgbClr val="F3F5F8"/>
          </a:solidFill>
          <a:ln/>
        </p:spPr>
      </p:sp>
      <p:sp>
        <p:nvSpPr>
          <p:cNvPr id="87" name="Shape 85"/>
          <p:cNvSpPr/>
          <p:nvPr/>
        </p:nvSpPr>
        <p:spPr>
          <a:xfrm>
            <a:off x="5378004" y="3682901"/>
            <a:ext cx="655340" cy="0"/>
          </a:xfrm>
          <a:prstGeom prst="line">
            <a:avLst/>
          </a:prstGeom>
          <a:noFill/>
          <a:ln w="12700">
            <a:solidFill>
              <a:srgbClr val="AEB8C5"/>
            </a:solidFill>
            <a:prstDash val="solid"/>
          </a:ln>
        </p:spPr>
      </p:sp>
      <p:sp>
        <p:nvSpPr>
          <p:cNvPr id="88" name="Shape 86"/>
          <p:cNvSpPr/>
          <p:nvPr/>
        </p:nvSpPr>
        <p:spPr>
          <a:xfrm>
            <a:off x="6026993" y="3676551"/>
            <a:ext cx="0" cy="350490"/>
          </a:xfrm>
          <a:prstGeom prst="line">
            <a:avLst/>
          </a:prstGeom>
          <a:noFill/>
          <a:ln w="12700">
            <a:solidFill>
              <a:srgbClr val="AEB8C5"/>
            </a:solidFill>
            <a:prstDash val="solid"/>
          </a:ln>
        </p:spPr>
      </p:sp>
      <p:sp>
        <p:nvSpPr>
          <p:cNvPr id="89" name="Shape 87"/>
          <p:cNvSpPr/>
          <p:nvPr/>
        </p:nvSpPr>
        <p:spPr>
          <a:xfrm>
            <a:off x="5378004" y="4007991"/>
            <a:ext cx="655340" cy="0"/>
          </a:xfrm>
          <a:prstGeom prst="line">
            <a:avLst/>
          </a:prstGeom>
          <a:noFill/>
          <a:ln w="38100">
            <a:solidFill>
              <a:srgbClr val="AEB8C5"/>
            </a:solidFill>
            <a:prstDash val="solid"/>
          </a:ln>
        </p:spPr>
      </p:sp>
      <p:sp>
        <p:nvSpPr>
          <p:cNvPr id="90" name="Shape 88"/>
          <p:cNvSpPr/>
          <p:nvPr/>
        </p:nvSpPr>
        <p:spPr>
          <a:xfrm>
            <a:off x="5384354" y="3676551"/>
            <a:ext cx="0" cy="350490"/>
          </a:xfrm>
          <a:prstGeom prst="line">
            <a:avLst/>
          </a:prstGeom>
          <a:noFill/>
          <a:ln w="12700">
            <a:solidFill>
              <a:srgbClr val="AEB8C5"/>
            </a:solidFill>
            <a:prstDash val="solid"/>
          </a:ln>
        </p:spPr>
      </p:sp>
      <p:sp>
        <p:nvSpPr>
          <p:cNvPr id="91" name="Text 89"/>
          <p:cNvSpPr/>
          <p:nvPr/>
        </p:nvSpPr>
        <p:spPr>
          <a:xfrm>
            <a:off x="5492304" y="3714651"/>
            <a:ext cx="47754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Ctrl</a:t>
            </a:r>
            <a:endParaRPr lang="en-US" sz="1400" dirty="0"/>
          </a:p>
        </p:txBody>
      </p:sp>
      <p:sp>
        <p:nvSpPr>
          <p:cNvPr id="92" name="Text 90"/>
          <p:cNvSpPr/>
          <p:nvPr/>
        </p:nvSpPr>
        <p:spPr>
          <a:xfrm>
            <a:off x="6096843" y="3727351"/>
            <a:ext cx="15785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E5B6B"/>
                </a:solidFill>
                <a:latin typeface="Atkinson Hyperlegible" pitchFamily="34" charset="0"/>
                <a:ea typeface="Atkinson Hyperlegible" pitchFamily="34" charset="-122"/>
                <a:cs typeface="Atkinson Hyperlegible" pitchFamily="34" charset="-120"/>
              </a:rPr>
              <a:t>+</a:t>
            </a:r>
            <a:endParaRPr lang="en-US" sz="1400" dirty="0"/>
          </a:p>
        </p:txBody>
      </p:sp>
      <p:sp>
        <p:nvSpPr>
          <p:cNvPr id="93" name="Shape 91"/>
          <p:cNvSpPr/>
          <p:nvPr/>
        </p:nvSpPr>
        <p:spPr>
          <a:xfrm>
            <a:off x="6267400" y="3676551"/>
            <a:ext cx="335310" cy="350490"/>
          </a:xfrm>
          <a:prstGeom prst="roundRect">
            <a:avLst>
              <a:gd name="adj" fmla="val 18938"/>
            </a:avLst>
          </a:prstGeom>
          <a:solidFill>
            <a:srgbClr val="F3F5F8"/>
          </a:solidFill>
          <a:ln/>
        </p:spPr>
      </p:sp>
      <p:sp>
        <p:nvSpPr>
          <p:cNvPr id="94" name="Shape 92"/>
          <p:cNvSpPr/>
          <p:nvPr/>
        </p:nvSpPr>
        <p:spPr>
          <a:xfrm>
            <a:off x="6267400" y="3682901"/>
            <a:ext cx="335310" cy="0"/>
          </a:xfrm>
          <a:prstGeom prst="line">
            <a:avLst/>
          </a:prstGeom>
          <a:noFill/>
          <a:ln w="12700">
            <a:solidFill>
              <a:srgbClr val="AEB8C5"/>
            </a:solidFill>
            <a:prstDash val="solid"/>
          </a:ln>
        </p:spPr>
      </p:sp>
      <p:sp>
        <p:nvSpPr>
          <p:cNvPr id="95" name="Shape 93"/>
          <p:cNvSpPr/>
          <p:nvPr/>
        </p:nvSpPr>
        <p:spPr>
          <a:xfrm>
            <a:off x="6596360" y="3676551"/>
            <a:ext cx="0" cy="350490"/>
          </a:xfrm>
          <a:prstGeom prst="line">
            <a:avLst/>
          </a:prstGeom>
          <a:noFill/>
          <a:ln w="12700">
            <a:solidFill>
              <a:srgbClr val="AEB8C5"/>
            </a:solidFill>
            <a:prstDash val="solid"/>
          </a:ln>
        </p:spPr>
      </p:sp>
      <p:sp>
        <p:nvSpPr>
          <p:cNvPr id="96" name="Shape 94"/>
          <p:cNvSpPr/>
          <p:nvPr/>
        </p:nvSpPr>
        <p:spPr>
          <a:xfrm>
            <a:off x="6267400" y="4007991"/>
            <a:ext cx="335310" cy="0"/>
          </a:xfrm>
          <a:prstGeom prst="line">
            <a:avLst/>
          </a:prstGeom>
          <a:noFill/>
          <a:ln w="38100">
            <a:solidFill>
              <a:srgbClr val="AEB8C5"/>
            </a:solidFill>
            <a:prstDash val="solid"/>
          </a:ln>
        </p:spPr>
      </p:sp>
      <p:sp>
        <p:nvSpPr>
          <p:cNvPr id="97" name="Shape 95"/>
          <p:cNvSpPr/>
          <p:nvPr/>
        </p:nvSpPr>
        <p:spPr>
          <a:xfrm>
            <a:off x="6273750" y="3676551"/>
            <a:ext cx="0" cy="350490"/>
          </a:xfrm>
          <a:prstGeom prst="line">
            <a:avLst/>
          </a:prstGeom>
          <a:noFill/>
          <a:ln w="12700">
            <a:solidFill>
              <a:srgbClr val="AEB8C5"/>
            </a:solidFill>
            <a:prstDash val="solid"/>
          </a:ln>
        </p:spPr>
      </p:sp>
      <p:sp>
        <p:nvSpPr>
          <p:cNvPr id="98" name="Text 96"/>
          <p:cNvSpPr/>
          <p:nvPr/>
        </p:nvSpPr>
        <p:spPr>
          <a:xfrm>
            <a:off x="6381700" y="3714651"/>
            <a:ext cx="15751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O</a:t>
            </a:r>
            <a:endParaRPr lang="en-US" sz="1400" dirty="0"/>
          </a:p>
        </p:txBody>
      </p:sp>
      <p:sp>
        <p:nvSpPr>
          <p:cNvPr id="99" name="Text 97"/>
          <p:cNvSpPr/>
          <p:nvPr/>
        </p:nvSpPr>
        <p:spPr>
          <a:xfrm>
            <a:off x="4595267" y="4128641"/>
            <a:ext cx="309145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On-Screen Keyboard, no touchscreen needed</a:t>
            </a:r>
            <a:endParaRPr lang="en-US" sz="1500" dirty="0"/>
          </a:p>
        </p:txBody>
      </p:sp>
      <p:sp>
        <p:nvSpPr>
          <p:cNvPr id="100" name="Shape 98"/>
          <p:cNvSpPr/>
          <p:nvPr/>
        </p:nvSpPr>
        <p:spPr>
          <a:xfrm>
            <a:off x="7961809" y="3470176"/>
            <a:ext cx="3414216" cy="1398240"/>
          </a:xfrm>
          <a:prstGeom prst="roundRect">
            <a:avLst>
              <a:gd name="adj" fmla="val 7039"/>
            </a:avLst>
          </a:prstGeom>
          <a:solidFill>
            <a:srgbClr val="FCFDFE"/>
          </a:solidFill>
          <a:ln w="6350">
            <a:solidFill>
              <a:srgbClr val="D6DCE4"/>
            </a:solidFill>
            <a:prstDash val="solid"/>
          </a:ln>
        </p:spPr>
      </p:sp>
      <p:sp>
        <p:nvSpPr>
          <p:cNvPr id="101" name="Shape 99"/>
          <p:cNvSpPr/>
          <p:nvPr/>
        </p:nvSpPr>
        <p:spPr>
          <a:xfrm>
            <a:off x="8168184" y="3676551"/>
            <a:ext cx="1082030" cy="350490"/>
          </a:xfrm>
          <a:prstGeom prst="roundRect">
            <a:avLst>
              <a:gd name="adj" fmla="val 18117"/>
            </a:avLst>
          </a:prstGeom>
          <a:solidFill>
            <a:srgbClr val="F3F5F8"/>
          </a:solidFill>
          <a:ln/>
        </p:spPr>
      </p:sp>
      <p:sp>
        <p:nvSpPr>
          <p:cNvPr id="102" name="Shape 100"/>
          <p:cNvSpPr/>
          <p:nvPr/>
        </p:nvSpPr>
        <p:spPr>
          <a:xfrm>
            <a:off x="8168184" y="3682901"/>
            <a:ext cx="1082030" cy="0"/>
          </a:xfrm>
          <a:prstGeom prst="line">
            <a:avLst/>
          </a:prstGeom>
          <a:noFill/>
          <a:ln w="12700">
            <a:solidFill>
              <a:srgbClr val="AEB8C5"/>
            </a:solidFill>
            <a:prstDash val="solid"/>
          </a:ln>
        </p:spPr>
      </p:sp>
      <p:sp>
        <p:nvSpPr>
          <p:cNvPr id="103" name="Shape 101"/>
          <p:cNvSpPr/>
          <p:nvPr/>
        </p:nvSpPr>
        <p:spPr>
          <a:xfrm>
            <a:off x="9243864" y="3676551"/>
            <a:ext cx="0" cy="350490"/>
          </a:xfrm>
          <a:prstGeom prst="line">
            <a:avLst/>
          </a:prstGeom>
          <a:noFill/>
          <a:ln w="12700">
            <a:solidFill>
              <a:srgbClr val="AEB8C5"/>
            </a:solidFill>
            <a:prstDash val="solid"/>
          </a:ln>
        </p:spPr>
      </p:sp>
      <p:sp>
        <p:nvSpPr>
          <p:cNvPr id="104" name="Shape 102"/>
          <p:cNvSpPr/>
          <p:nvPr/>
        </p:nvSpPr>
        <p:spPr>
          <a:xfrm>
            <a:off x="8168184" y="4007991"/>
            <a:ext cx="1082030" cy="0"/>
          </a:xfrm>
          <a:prstGeom prst="line">
            <a:avLst/>
          </a:prstGeom>
          <a:noFill/>
          <a:ln w="38100">
            <a:solidFill>
              <a:srgbClr val="AEB8C5"/>
            </a:solidFill>
            <a:prstDash val="solid"/>
          </a:ln>
        </p:spPr>
      </p:sp>
      <p:sp>
        <p:nvSpPr>
          <p:cNvPr id="105" name="Shape 103"/>
          <p:cNvSpPr/>
          <p:nvPr/>
        </p:nvSpPr>
        <p:spPr>
          <a:xfrm>
            <a:off x="8174534" y="3676551"/>
            <a:ext cx="0" cy="350490"/>
          </a:xfrm>
          <a:prstGeom prst="line">
            <a:avLst/>
          </a:prstGeom>
          <a:noFill/>
          <a:ln w="12700">
            <a:solidFill>
              <a:srgbClr val="AEB8C5"/>
            </a:solidFill>
            <a:prstDash val="solid"/>
          </a:ln>
        </p:spPr>
      </p:sp>
      <p:sp>
        <p:nvSpPr>
          <p:cNvPr id="106" name="Text 104"/>
          <p:cNvSpPr/>
          <p:nvPr/>
        </p:nvSpPr>
        <p:spPr>
          <a:xfrm>
            <a:off x="8282484" y="3714651"/>
            <a:ext cx="904230"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16202C"/>
                </a:solidFill>
                <a:latin typeface="JetBrains Mono" pitchFamily="34" charset="0"/>
                <a:ea typeface="JetBrains Mono" pitchFamily="34" charset="-122"/>
                <a:cs typeface="JetBrains Mono" pitchFamily="34" charset="-120"/>
              </a:rPr>
              <a:t>Shift ×5</a:t>
            </a:r>
            <a:endParaRPr lang="en-US" sz="1400" dirty="0"/>
          </a:p>
        </p:txBody>
      </p:sp>
      <p:sp>
        <p:nvSpPr>
          <p:cNvPr id="107" name="Text 105"/>
          <p:cNvSpPr/>
          <p:nvPr/>
        </p:nvSpPr>
        <p:spPr>
          <a:xfrm>
            <a:off x="8168184" y="4128641"/>
            <a:ext cx="309151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C"/>
                </a:solidFill>
                <a:latin typeface="Atkinson Hyperlegible" pitchFamily="34" charset="0"/>
                <a:ea typeface="Atkinson Hyperlegible" pitchFamily="34" charset="-122"/>
                <a:cs typeface="Atkinson Hyperlegible" pitchFamily="34" charset="-120"/>
              </a:rPr>
              <a:t>Sticky Keys: press shortcut keys one at a time</a:t>
            </a:r>
            <a:endParaRPr lang="en-US" sz="1500" dirty="0"/>
          </a:p>
        </p:txBody>
      </p:sp>
      <p:sp>
        <p:nvSpPr>
          <p:cNvPr id="108" name="Text 106"/>
          <p:cNvSpPr/>
          <p:nvPr/>
        </p:nvSpPr>
        <p:spPr>
          <a:xfrm>
            <a:off x="812800" y="517639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E5B6B"/>
                </a:solidFill>
                <a:latin typeface="Atkinson Hyperlegible" pitchFamily="34" charset="0"/>
                <a:ea typeface="Atkinson Hyperlegible" pitchFamily="34" charset="-122"/>
                <a:cs typeface="Atkinson Hyperlegible" pitchFamily="34" charset="-120"/>
              </a:rPr>
              <a:t>All of them live in </a:t>
            </a:r>
            <a:r>
              <a:rPr lang="en-US" sz="1600" b="1" dirty="0">
                <a:solidFill>
                  <a:srgbClr val="4E5B6B"/>
                </a:solidFill>
                <a:latin typeface="Atkinson Hyperlegible" pitchFamily="34" charset="0"/>
                <a:ea typeface="Atkinson Hyperlegible" pitchFamily="34" charset="-122"/>
                <a:cs typeface="Atkinson Hyperlegible" pitchFamily="34" charset="-120"/>
              </a:rPr>
              <a:t>Settings › Accessibility</a:t>
            </a:r>
            <a:r>
              <a:rPr lang="en-US" sz="1600" dirty="0">
                <a:solidFill>
                  <a:srgbClr val="4E5B6B"/>
                </a:solidFill>
                <a:latin typeface="Atkinson Hyperlegible" pitchFamily="34" charset="0"/>
                <a:ea typeface="Atkinson Hyperlegible" pitchFamily="34" charset="-122"/>
                <a:cs typeface="Atkinson Hyperlegible" pitchFamily="34" charset="-120"/>
              </a:rPr>
              <a:t>, which the chapter calls Ease of Access.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3F5F8"/>
                </a:solidFill>
                <a:latin typeface="Atkinson Hyperlegible" pitchFamily="34" charset="0"/>
                <a:ea typeface="Atkinson Hyperlegible" pitchFamily="34" charset="-122"/>
                <a:cs typeface="Atkinson Hyperlegible" pitchFamily="34" charset="-120"/>
              </a:rPr>
              <a:t>Try these five before next week</a:t>
            </a:r>
            <a:endParaRPr lang="en-US" sz="3600" dirty="0"/>
          </a:p>
        </p:txBody>
      </p:sp>
      <p:sp>
        <p:nvSpPr>
          <p:cNvPr id="3" name="Shape 1"/>
          <p:cNvSpPr/>
          <p:nvPr/>
        </p:nvSpPr>
        <p:spPr>
          <a:xfrm>
            <a:off x="812800" y="2211040"/>
            <a:ext cx="10566400" cy="0"/>
          </a:xfrm>
          <a:prstGeom prst="line">
            <a:avLst/>
          </a:prstGeom>
          <a:noFill/>
          <a:ln w="12700">
            <a:solidFill>
              <a:srgbClr val="2A3A52"/>
            </a:solidFill>
            <a:prstDash val="solid"/>
          </a:ln>
        </p:spPr>
      </p:sp>
      <p:sp>
        <p:nvSpPr>
          <p:cNvPr id="4" name="Text 2"/>
          <p:cNvSpPr/>
          <p:nvPr/>
        </p:nvSpPr>
        <p:spPr>
          <a:xfrm>
            <a:off x="812800" y="1752550"/>
            <a:ext cx="287782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B54B"/>
                </a:solidFill>
                <a:latin typeface="JetBrains Mono" pitchFamily="34" charset="0"/>
                <a:ea typeface="JetBrains Mono" pitchFamily="34" charset="-122"/>
                <a:cs typeface="JetBrains Mono" pitchFamily="34" charset="-120"/>
              </a:rPr>
              <a:t>Win + V</a:t>
            </a:r>
            <a:endParaRPr lang="en-US" sz="1800" dirty="0"/>
          </a:p>
        </p:txBody>
      </p:sp>
      <p:sp>
        <p:nvSpPr>
          <p:cNvPr id="5" name="Text 3"/>
          <p:cNvSpPr/>
          <p:nvPr/>
        </p:nvSpPr>
        <p:spPr>
          <a:xfrm>
            <a:off x="3860800" y="1734790"/>
            <a:ext cx="2861878"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F5F8"/>
                </a:solidFill>
                <a:latin typeface="Atkinson Hyperlegible" pitchFamily="34" charset="0"/>
                <a:ea typeface="Atkinson Hyperlegible" pitchFamily="34" charset="-122"/>
                <a:cs typeface="Atkinson Hyperlegible" pitchFamily="34" charset="-120"/>
              </a:rPr>
              <a:t>Turn on clipboard history</a:t>
            </a:r>
            <a:endParaRPr lang="en-US" sz="2000" dirty="0"/>
          </a:p>
        </p:txBody>
      </p:sp>
      <p:sp>
        <p:nvSpPr>
          <p:cNvPr id="6" name="Shape 4"/>
          <p:cNvSpPr/>
          <p:nvPr/>
        </p:nvSpPr>
        <p:spPr>
          <a:xfrm>
            <a:off x="812800" y="2807940"/>
            <a:ext cx="10566400" cy="0"/>
          </a:xfrm>
          <a:prstGeom prst="line">
            <a:avLst/>
          </a:prstGeom>
          <a:noFill/>
          <a:ln w="12700">
            <a:solidFill>
              <a:srgbClr val="2A3A52"/>
            </a:solidFill>
            <a:prstDash val="solid"/>
          </a:ln>
        </p:spPr>
      </p:sp>
      <p:sp>
        <p:nvSpPr>
          <p:cNvPr id="7" name="Text 5"/>
          <p:cNvSpPr/>
          <p:nvPr/>
        </p:nvSpPr>
        <p:spPr>
          <a:xfrm>
            <a:off x="812800" y="2349450"/>
            <a:ext cx="287782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B54B"/>
                </a:solidFill>
                <a:latin typeface="JetBrains Mono" pitchFamily="34" charset="0"/>
                <a:ea typeface="JetBrains Mono" pitchFamily="34" charset="-122"/>
                <a:cs typeface="JetBrains Mono" pitchFamily="34" charset="-120"/>
              </a:rPr>
              <a:t>Win + Shift + S</a:t>
            </a:r>
            <a:endParaRPr lang="en-US" sz="1800" dirty="0"/>
          </a:p>
        </p:txBody>
      </p:sp>
      <p:sp>
        <p:nvSpPr>
          <p:cNvPr id="8" name="Text 6"/>
          <p:cNvSpPr/>
          <p:nvPr/>
        </p:nvSpPr>
        <p:spPr>
          <a:xfrm>
            <a:off x="3860800" y="2331690"/>
            <a:ext cx="2078346"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F5F8"/>
                </a:solidFill>
                <a:latin typeface="Atkinson Hyperlegible" pitchFamily="34" charset="0"/>
                <a:ea typeface="Atkinson Hyperlegible" pitchFamily="34" charset="-122"/>
                <a:cs typeface="Atkinson Hyperlegible" pitchFamily="34" charset="-120"/>
              </a:rPr>
              <a:t>Take a screenshot</a:t>
            </a:r>
            <a:endParaRPr lang="en-US" sz="2000" dirty="0"/>
          </a:p>
        </p:txBody>
      </p:sp>
      <p:sp>
        <p:nvSpPr>
          <p:cNvPr id="9" name="Shape 7"/>
          <p:cNvSpPr/>
          <p:nvPr/>
        </p:nvSpPr>
        <p:spPr>
          <a:xfrm>
            <a:off x="812800" y="3404840"/>
            <a:ext cx="10566400" cy="0"/>
          </a:xfrm>
          <a:prstGeom prst="line">
            <a:avLst/>
          </a:prstGeom>
          <a:noFill/>
          <a:ln w="12700">
            <a:solidFill>
              <a:srgbClr val="2A3A52"/>
            </a:solidFill>
            <a:prstDash val="solid"/>
          </a:ln>
        </p:spPr>
      </p:sp>
      <p:sp>
        <p:nvSpPr>
          <p:cNvPr id="10" name="Text 8"/>
          <p:cNvSpPr/>
          <p:nvPr/>
        </p:nvSpPr>
        <p:spPr>
          <a:xfrm>
            <a:off x="812800" y="2946350"/>
            <a:ext cx="287782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B54B"/>
                </a:solidFill>
                <a:latin typeface="JetBrains Mono" pitchFamily="34" charset="0"/>
                <a:ea typeface="JetBrains Mono" pitchFamily="34" charset="-122"/>
                <a:cs typeface="JetBrains Mono" pitchFamily="34" charset="-120"/>
              </a:rPr>
              <a:t>Win + Z</a:t>
            </a:r>
            <a:endParaRPr lang="en-US" sz="1800" dirty="0"/>
          </a:p>
        </p:txBody>
      </p:sp>
      <p:sp>
        <p:nvSpPr>
          <p:cNvPr id="11" name="Text 9"/>
          <p:cNvSpPr/>
          <p:nvPr/>
        </p:nvSpPr>
        <p:spPr>
          <a:xfrm>
            <a:off x="3860800" y="2928590"/>
            <a:ext cx="210134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F5F8"/>
                </a:solidFill>
                <a:latin typeface="Atkinson Hyperlegible" pitchFamily="34" charset="0"/>
                <a:ea typeface="Atkinson Hyperlegible" pitchFamily="34" charset="-122"/>
                <a:cs typeface="Atkinson Hyperlegible" pitchFamily="34" charset="-120"/>
              </a:rPr>
              <a:t>Snap two windows</a:t>
            </a:r>
            <a:endParaRPr lang="en-US" sz="2000" dirty="0"/>
          </a:p>
        </p:txBody>
      </p:sp>
      <p:sp>
        <p:nvSpPr>
          <p:cNvPr id="12" name="Shape 10"/>
          <p:cNvSpPr/>
          <p:nvPr/>
        </p:nvSpPr>
        <p:spPr>
          <a:xfrm>
            <a:off x="812800" y="4001740"/>
            <a:ext cx="10566400" cy="0"/>
          </a:xfrm>
          <a:prstGeom prst="line">
            <a:avLst/>
          </a:prstGeom>
          <a:noFill/>
          <a:ln w="12700">
            <a:solidFill>
              <a:srgbClr val="2A3A52"/>
            </a:solidFill>
            <a:prstDash val="solid"/>
          </a:ln>
        </p:spPr>
      </p:sp>
      <p:sp>
        <p:nvSpPr>
          <p:cNvPr id="13" name="Text 11"/>
          <p:cNvSpPr/>
          <p:nvPr/>
        </p:nvSpPr>
        <p:spPr>
          <a:xfrm>
            <a:off x="812800" y="3543250"/>
            <a:ext cx="287782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B54B"/>
                </a:solidFill>
                <a:latin typeface="JetBrains Mono" pitchFamily="34" charset="0"/>
                <a:ea typeface="JetBrains Mono" pitchFamily="34" charset="-122"/>
                <a:cs typeface="JetBrains Mono" pitchFamily="34" charset="-120"/>
              </a:rPr>
              <a:t>View › Show</a:t>
            </a:r>
            <a:endParaRPr lang="en-US" sz="1800" dirty="0"/>
          </a:p>
        </p:txBody>
      </p:sp>
      <p:sp>
        <p:nvSpPr>
          <p:cNvPr id="14" name="Text 12"/>
          <p:cNvSpPr/>
          <p:nvPr/>
        </p:nvSpPr>
        <p:spPr>
          <a:xfrm>
            <a:off x="3860800" y="3525490"/>
            <a:ext cx="2604448"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F5F8"/>
                </a:solidFill>
                <a:latin typeface="Atkinson Hyperlegible" pitchFamily="34" charset="0"/>
                <a:ea typeface="Atkinson Hyperlegible" pitchFamily="34" charset="-122"/>
                <a:cs typeface="Atkinson Hyperlegible" pitchFamily="34" charset="-120"/>
              </a:rPr>
              <a:t>Turn on file extensions</a:t>
            </a:r>
            <a:endParaRPr lang="en-US" sz="2000" dirty="0"/>
          </a:p>
        </p:txBody>
      </p:sp>
      <p:sp>
        <p:nvSpPr>
          <p:cNvPr id="15" name="Shape 13"/>
          <p:cNvSpPr/>
          <p:nvPr/>
        </p:nvSpPr>
        <p:spPr>
          <a:xfrm>
            <a:off x="812800" y="4598640"/>
            <a:ext cx="10566400" cy="0"/>
          </a:xfrm>
          <a:prstGeom prst="line">
            <a:avLst/>
          </a:prstGeom>
          <a:noFill/>
          <a:ln w="12700">
            <a:solidFill>
              <a:srgbClr val="2A3A52"/>
            </a:solidFill>
            <a:prstDash val="solid"/>
          </a:ln>
        </p:spPr>
      </p:sp>
      <p:sp>
        <p:nvSpPr>
          <p:cNvPr id="16" name="Text 14"/>
          <p:cNvSpPr/>
          <p:nvPr/>
        </p:nvSpPr>
        <p:spPr>
          <a:xfrm>
            <a:off x="812800" y="4140150"/>
            <a:ext cx="287782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2B54B"/>
                </a:solidFill>
                <a:latin typeface="JetBrains Mono" pitchFamily="34" charset="0"/>
                <a:ea typeface="JetBrains Mono" pitchFamily="34" charset="-122"/>
                <a:cs typeface="JetBrains Mono" pitchFamily="34" charset="-120"/>
              </a:rPr>
              <a:t>File Explorer</a:t>
            </a:r>
            <a:endParaRPr lang="en-US" sz="1800" dirty="0"/>
          </a:p>
        </p:txBody>
      </p:sp>
      <p:sp>
        <p:nvSpPr>
          <p:cNvPr id="17" name="Text 15"/>
          <p:cNvSpPr/>
          <p:nvPr/>
        </p:nvSpPr>
        <p:spPr>
          <a:xfrm>
            <a:off x="3860800" y="4122390"/>
            <a:ext cx="3863647"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3F5F8"/>
                </a:solidFill>
                <a:latin typeface="Atkinson Hyperlegible" pitchFamily="34" charset="0"/>
                <a:ea typeface="Atkinson Hyperlegible" pitchFamily="34" charset="-122"/>
                <a:cs typeface="Atkinson Hyperlegible" pitchFamily="34" charset="-120"/>
              </a:rPr>
              <a:t>Check your OneDrive status icons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11: What You'll Actually Use</dc:title>
  <dc:subject>PptxGenJS Presentation</dc:subject>
  <dc:creator>PptxGenJS</dc:creator>
  <cp:lastModifiedBy>PptxGenJS</cp:lastModifiedBy>
  <cp:revision>1</cp:revision>
  <dcterms:created xsi:type="dcterms:W3CDTF">2026-09-16T19:07:31Z</dcterms:created>
  <dcterms:modified xsi:type="dcterms:W3CDTF">2026-09-16T19:07:31Z</dcterms:modified>
</cp:coreProperties>
</file>