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 about 20 minutes on file management, a 6-minute activity, 15 minutes on digital identity, a 5-minute activity, then wrap. Both chapters are wide and shallow in the book, so this session picks the parts students get wrong in real life. Tell them the two questions we are answering: where is my file, and who else can see my life?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idea everything else depends on. Students who cannot answer "where is it?" lose work. DEMO: Win+E, walk down Documents into a class folder, then click the blank part of the address bar to reveal the typed path. Point out that a folder name can be up to 255 characters but long names get cut off in some views. Also note the path tells you whether a file is local (C:\Users\you\Documents) or synced to OneDrive (C:\Users\you\OneDrive\Documents) — that distinction comes back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common cause of lost work is not knowing which of the two happened. DEMO: in Word, Save a file, then Save As into a different folder, then show both copies in File Explorer and ask which one the next edit changes. Mention the Downloads trap; it is the single most useful warning in this chapter. Also point out Save a Copy, which appears instead of Save As for files stored in OneDrive.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drag behavior is the part nobody is taught: within the same drive a drag moves, across drives it copies, which is why dragging to a USB leaves the original behind. Ctrl and Shift override it, and Windows shows a small tooltip saying Move to or Copy to while you drag — point that out. DEMO: drag a file between two folders on C:, then to a USB drive or a second drive if available, watching the tooltip. Then demo Shift+click and Ctrl+click selections. Mention that cutting a file and then copying something else loses the cut.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ideas: the extension tells Windows which app to use, and hidden extensions are how a program disguises itself as a homework file. Renaming a file does not convert it: changing .docx to .pdf just breaks it. If the wrong app opens a file, right-click › Open with › Choose another app, and check Always use this app only if you mean it. Executables are the practical warning here, and it connects to the download risks later in the session. DEMO: turn on extensions, then right-click a file and use Open with.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brisk but do not skip lossy vs lossless: it explains why a photo looks worse after being emailed and re-saved a few times, and why a PNG screenshot of text stays crisp. Practical rules: send several files as one zip; save photos as JPEG, screenshots and logos as PNG. Note that zipping is also how students get a folder of files into a single Canvas submission. DEMO: right-click a folder of documents, Compress to ZIP, compare the sizes in the Size column.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USB row is the one students learn the hard way and the textbook does not mention. Also worth saying: the Recycle Bin has a size limit, so very large files may not fit and Windows warns that they will be deleted permanently. DEMO: delete a file, open the Recycle Bin, restore it, and show that it returns to its original folder. Then show Shift+Delete and the confirmation wording, which is the only warning you 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already use cloud storage without the vocabulary. Two things to land: the difference between a share link and a named invitation, which is the actual privacy decision, and online-only files, which explains half of the "my file disappeared" complaints. Google Drive gives 15 GB free with a Google account; OneDrive comes with a Microsoft account and is what MDC provides. Both keep version history, so a file overwritten yesterday can usually be recovered from the web interface. DEMO: share a file from OneDrive in the browser and show the Anyone with the link versus Specific people options and the can-edit toggle.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this as a working activity with mics off and cameras optional; ask students to post in chat as they finish so you can see progress. Read two or three pasted paths out loud and decode them: a path containing OneDrive means synced and available on other devices; one under C:\Users\name\Documents without OneDrive is local only; one containing Downloads is the trap from earlier. If someone is on a Mac or a Chromebook, have them create the same folders in Finder or Drive and post the location instead. Budget six minutes and move on even if a few are unfinished; tell them the same steps are the first SimNet exercises.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the second half of the session with the framing: this is not about avoiding the internet, it is about knowing what is being recorded and choosing deliberately. The permanence point is the one to repeat. Two illustrations that land with students: employers and admissions offices search names, and a deleted tweet lives on in screenshots. Ask them in chat: what is the oldest account you still have that you have forgotten about? That gets at abandoned accounts holding real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contrast matters more than the acronyms: the EU starts from "this is your data and you must consent", the US from "data is collectible unless a specific law says otherwise". HIPAA and FERPA are the two that touch students directly, and the HIPAA caveat is the memorable part: it regulates covered entities, meaning providers, insurers, clearinghouses and their business associates, not health data in general. That is exactly why the DNA testing point on the One-way doors slide works. FERPA is worth ten seconds because it is why MDC will not discuss their grades with a parent without written consent. GDPR in more depth: it applies extraterritorially, so a US company with EU customers complies or stops serving them; rights include access, correction, deletion, portability and objecting to automated decisions; breaches must be reported within 72 hours; fines run to the greater of 20 million euros or 4% of global annual revenue. Most large US firms built one global privacy program rather than two, which is why Americans get GDPR-style privacy dashboards. Transfers from the EU to the US now run under the EU-US Data Privacy Framework, an adequacy decision that replaced two earlier arrangements struck down in court. Explaining the EU: a single market of 27 countries where goods, services, capital and people move without tariffs or customs paperwork, with shared rules so a product approved in one country is sellable in all of them, and for most members a shared currency. The business framing lands well: it is closer to how US states relate to each other than to how separate countries usually do. Brexit: worth about sixty seconds if the EU discussion is going well, because it makes the single market concrete by showing what leaving costs. The UK left in 2020; goods moving between the UK and the EU now face customs declarations and checks, and workers no longer move freely. On privacy, the UK copied GDPR into UK law, and the EU granted an adequacy decision so data can still flow. Keep it mechanical rather than political: describe the trade and data consequences, let students draw their own conclusions, and move on if the room turns partisan.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mostly ask two questions: can I use this image in my presentation, and why did my video get taken down. Answer both here. Creative Commons licenses vary, so have them read the letters: BY means credit, NC means non-commercial, SA means share alike, ND means no changes. Point them at openly licensed sources for the final project: Creative Commons Search, Wikimedia Commons, Unsplash, and Microsoft stock images inside Office. Also mention that crediting a source is not the same as having permission, and that fair use exists but is a case-by-case legal test, not a rule they can rely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honest version of this topic: the risk is not mainly legal for an individual student, it is malware and the loss of the machine they need for school. Make the alternative concrete by pointing at the student software available through MDC and free tools like LibreOffice and GIMP. PUPs are worth 30 seconds because students meet them constantly: show what a pre-checked box in an installer looks like. If someone asks about streaming sites, keep it factual rather than moralizing: unlicensed sites are a common malware and card-fraud vector.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case because it makes the abstract concrete: the leak came through friends, not through anything those 87 million people did. Then move straight to the three things they can actually change tonight, which is also the setup for the second activity. Where to look: on Facebook, Settings › Apps and Websites; on Instagram, Settings › Website Permissions; on Google, the Security page's third-party access section. Mention that signing in with Google or Facebook everywhere is convenient and also builds one of these lists.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this as the discussion starter the publisher suggests: play two short clips, one real and one deepfake, and poll the class before revealing. The point is not that students can reliably spot fakes, because increasingly they cannot, but that verification has to shift from the video to the source. Connect it to the algorithm discussion: personalization means two students searching the same term see different results, which is the practical version of a filter bubble. If a student raises AI-generated images in schoolwork, note that the same detection problem now applies to text and images, and that citing a source is the defense.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Group these because they share one shape: an action that cannot be reversed. DNA is the one students underestimate, and the details land: direct-to-consumer testing companies are not HIPAA-covered entities, several have shared data with pharmaceutical partners, and investigators have used genealogy databases to identify suspects, including in the 2022 Idaho student murders case. Ask the small-group question from the publisher guide: does anyone know someone who used 23andMe or Ancestry, and what did they hope to learn? On P2P apps, the practical rule is to treat a transfer like handing over cash, and to check the recipient before sending. On VPNs, be accurate rather than promotional: it protects traffic in transit, it does not defeat account tracking, and free VPNs pay for themselves by selling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students bring home to their families. Keep it factual: the difference between debit and credit is not fraud rates, it is who holds the money while the dispute is sorted out. P2P apps are the newer risk and the publisher guide is right to flag them: the money moves instantly, it is not insured, and the common scam is a stranger who asks to be paid by Zelle. Practical habits: credit card or wallet for online purchases, transaction alerts on, statements checked monthly. On RFID, stay measured; payment cards use dynamic codes and a very short range, so sleeves are optional, while a passport sleeve is reasonable. If asked: EFT is the umbrella term for moving money electronically, and EDI is the standard format businesses use to exchange orders and invoices.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 the two halves together: netiquette is the version of you that arrives in writing, and branding is the version that arrives before you do. Use student email as the example, since they email instructors with no subject and no name constantly. The AI line matters now that drafting assistants are built into Outlook and Gmail: the sender owns the mistakes, and monitoring software at work may also be AI-assisted, scoring tone and productivity. On branding, keep the advice cheap and specific: consistent handle and photo, one professional profile, privacy settings on the personal accounts, and a periodic search of their own name. If time allows, mention defamation: a false statement of fact published about someone can be libel, and a post is published.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use it if the earlier material runs short, or save it for the discussion board. It works well as a Teams poll because the vote gives quieter students a way in, and the split is usually real rather than lopsided. Keep your own position out of it and make both sides argue. If it goes to the discussion board instead, the prompt writes itself: vote, then respond to one classmate who voted the other way. Related prompts from the publisher guide if you want more: is it appropriate for minors to post images online, and what are the consequences?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up front that nothing personal needs to be shared, and that some students will find nothing, which is also a result. Keep it to five minutes, then read a few chat answers and name the patterns: forgotten accounts, old photos, connected apps nobody remembers approving, and public friends lists. If the chat is quiet, use a Teams poll instead: ask how many found something they wanted removed. Close the activity by pointing out that the audit is worth repeating once a semester, and that it is the same instinct as knowing where your files are: know what exists and where it lives.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connecting the two halves: both chapters are about knowing where your things are, whether those things are files or facts about you. Remind them of the reading in Connect and that this week's assignment opens today and is due in two weeks. If time remains, take questions on the final project, which is where the copyright and Creative Commons material becomes practical.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02A"/>
        </a:solidFill>
      </p:bgPr>
    </p:bg>
    <p:spTree>
      <p:nvGrpSpPr>
        <p:cNvPr id="1" name=""/>
        <p:cNvGrpSpPr/>
        <p:nvPr/>
      </p:nvGrpSpPr>
      <p:grpSpPr>
        <a:xfrm>
          <a:off x="0" y="0"/>
          <a:ext cx="0" cy="0"/>
          <a:chOff x="0" y="0"/>
          <a:chExt cx="0" cy="0"/>
        </a:xfrm>
      </p:grpSpPr>
      <p:sp>
        <p:nvSpPr>
          <p:cNvPr id="2" name="Shape 0"/>
          <p:cNvSpPr/>
          <p:nvPr/>
        </p:nvSpPr>
        <p:spPr>
          <a:xfrm>
            <a:off x="0" y="0"/>
            <a:ext cx="127000" cy="6858000"/>
          </a:xfrm>
          <a:prstGeom prst="rect">
            <a:avLst/>
          </a:prstGeom>
          <a:solidFill>
            <a:srgbClr val="0F6E6E"/>
          </a:solidFill>
          <a:ln/>
        </p:spPr>
      </p:sp>
      <p:sp>
        <p:nvSpPr>
          <p:cNvPr id="3" name="Text 1"/>
          <p:cNvSpPr/>
          <p:nvPr/>
        </p:nvSpPr>
        <p:spPr>
          <a:xfrm>
            <a:off x="812800" y="1566019"/>
            <a:ext cx="10883392" cy="25653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C9B08A"/>
                </a:solidFill>
                <a:latin typeface="Arial" pitchFamily="34" charset="0"/>
                <a:ea typeface="Arial" pitchFamily="34" charset="-122"/>
                <a:cs typeface="Arial" pitchFamily="34" charset="-120"/>
              </a:rPr>
              <a:t>CGS 1060C · FILE MANAGEMENT + DIGITAL IDENTITY</a:t>
            </a:r>
            <a:endParaRPr lang="en-US" sz="1300" dirty="0"/>
          </a:p>
        </p:txBody>
      </p:sp>
      <p:sp>
        <p:nvSpPr>
          <p:cNvPr id="4" name="Text 2"/>
          <p:cNvSpPr/>
          <p:nvPr/>
        </p:nvSpPr>
        <p:spPr>
          <a:xfrm>
            <a:off x="812800" y="2051149"/>
            <a:ext cx="7717790" cy="2105571"/>
          </a:xfrm>
          <a:prstGeom prst="rect">
            <a:avLst/>
          </a:prstGeom>
          <a:noFill/>
          <a:ln/>
        </p:spPr>
        <p:txBody>
          <a:bodyPr wrap="square" lIns="0" tIns="0" rIns="0" bIns="0" rtlCol="0" anchor="t">
            <a:normAutofit/>
          </a:bodyPr>
          <a:lstStyle/>
          <a:p>
            <a:pPr algn="l" indent="0" marL="0">
              <a:lnSpc>
                <a:spcPts val="5460"/>
              </a:lnSpc>
              <a:buNone/>
            </a:pPr>
            <a:r>
              <a:rPr lang="en-US" sz="5200" b="1" dirty="0">
                <a:solidFill>
                  <a:srgbClr val="F4F3EF"/>
                </a:solidFill>
                <a:latin typeface="Arial" pitchFamily="34" charset="0"/>
                <a:ea typeface="Arial" pitchFamily="34" charset="-122"/>
                <a:cs typeface="Arial" pitchFamily="34" charset="-120"/>
              </a:rPr>
              <a:t>Where your files live, and where your life leaks</a:t>
            </a:r>
            <a:endParaRPr lang="en-US" sz="5200" dirty="0"/>
          </a:p>
        </p:txBody>
      </p:sp>
      <p:sp>
        <p:nvSpPr>
          <p:cNvPr id="5" name="Text 3"/>
          <p:cNvSpPr/>
          <p:nvPr/>
        </p:nvSpPr>
        <p:spPr>
          <a:xfrm>
            <a:off x="812800" y="4385320"/>
            <a:ext cx="7063740" cy="932061"/>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BCC6CF"/>
                </a:solidFill>
                <a:latin typeface="Arial" pitchFamily="34" charset="0"/>
                <a:ea typeface="Arial" pitchFamily="34" charset="-122"/>
                <a:cs typeface="Arial" pitchFamily="34" charset="-120"/>
              </a:rPr>
              <a:t>Forty-five minutes on the two skills that cause the most lost work and the most regret: knowing where a file actually is, and knowing what the internet keeps.</a:t>
            </a:r>
            <a:endParaRPr lang="en-US" sz="1700" dirty="0"/>
          </a:p>
        </p:txBody>
      </p:sp>
      <p:sp>
        <p:nvSpPr>
          <p:cNvPr id="6" name="Text 4"/>
          <p:cNvSpPr/>
          <p:nvPr/>
        </p:nvSpPr>
        <p:spPr>
          <a:xfrm>
            <a:off x="7874000" y="4064000"/>
            <a:ext cx="3401060" cy="1593800"/>
          </a:xfrm>
          <a:prstGeom prst="rect">
            <a:avLst/>
          </a:prstGeom>
          <a:noFill/>
          <a:ln/>
        </p:spPr>
        <p:txBody>
          <a:bodyPr wrap="square" lIns="0" tIns="0" rIns="0" bIns="0" rtlCol="0" anchor="t">
            <a:normAutofit/>
          </a:bodyPr>
          <a:lstStyle/>
          <a:p>
            <a:pPr algn="l" indent="0" marL="0">
              <a:lnSpc>
                <a:spcPts val="2470"/>
              </a:lnSpc>
              <a:buNone/>
            </a:pPr>
            <a:r>
              <a:rPr lang="en-US" sz="1300" dirty="0">
                <a:solidFill>
                  <a:srgbClr val="7F98A8"/>
                </a:solidFill>
                <a:latin typeface="Courier New" pitchFamily="34" charset="0"/>
                <a:ea typeface="Courier New" pitchFamily="34" charset="-122"/>
                <a:cs typeface="Courier New" pitchFamily="34" charset="-120"/>
              </a:rPr>
              <a:t>C:\Users\you\</a:t>
            </a:r>
            <a:endParaRPr lang="en-US" sz="1300" dirty="0"/>
          </a:p>
          <a:p>
            <a:pPr algn="l" indent="0" marL="0">
              <a:lnSpc>
                <a:spcPts val="2470"/>
              </a:lnSpc>
              <a:buNone/>
            </a:pPr>
            <a:r>
              <a:rPr lang="en-US" sz="1300" dirty="0">
                <a:solidFill>
                  <a:srgbClr val="7F98A8"/>
                </a:solidFill>
                <a:latin typeface="Courier New" pitchFamily="34" charset="0"/>
                <a:ea typeface="Courier New" pitchFamily="34" charset="-122"/>
                <a:cs typeface="Courier New" pitchFamily="34" charset="-120"/>
              </a:rPr>
              <a:t>  OneDrive\</a:t>
            </a:r>
            <a:endParaRPr lang="en-US" sz="1300" dirty="0"/>
          </a:p>
          <a:p>
            <a:pPr algn="l" indent="0" marL="0">
              <a:lnSpc>
                <a:spcPts val="2470"/>
              </a:lnSpc>
              <a:buNone/>
            </a:pPr>
            <a:r>
              <a:rPr lang="en-US" sz="1300" dirty="0">
                <a:solidFill>
                  <a:srgbClr val="7F98A8"/>
                </a:solidFill>
                <a:latin typeface="Courier New" pitchFamily="34" charset="0"/>
                <a:ea typeface="Courier New" pitchFamily="34" charset="-122"/>
                <a:cs typeface="Courier New" pitchFamily="34" charset="-120"/>
              </a:rPr>
              <a:t>    Documents\</a:t>
            </a:r>
            <a:endParaRPr lang="en-US" sz="1300" dirty="0"/>
          </a:p>
          <a:p>
            <a:pPr algn="l" indent="0" marL="0">
              <a:lnSpc>
                <a:spcPts val="2470"/>
              </a:lnSpc>
              <a:buNone/>
            </a:pPr>
            <a:r>
              <a:rPr lang="en-US" sz="1300" dirty="0">
                <a:solidFill>
                  <a:srgbClr val="7F98A8"/>
                </a:solidFill>
                <a:latin typeface="Courier New" pitchFamily="34" charset="0"/>
                <a:ea typeface="Courier New" pitchFamily="34" charset="-122"/>
                <a:cs typeface="Courier New" pitchFamily="34" charset="-120"/>
              </a:rPr>
              <a:t>      CGS1060\</a:t>
            </a:r>
            <a:endParaRPr lang="en-US" sz="1300" dirty="0"/>
          </a:p>
          <a:p>
            <a:pPr algn="l" indent="0" marL="0">
              <a:lnSpc>
                <a:spcPts val="2470"/>
              </a:lnSpc>
              <a:buNone/>
            </a:pPr>
            <a:r>
              <a:rPr lang="en-US" sz="1300" dirty="0">
                <a:solidFill>
                  <a:srgbClr val="7F98A8"/>
                </a:solidFill>
                <a:latin typeface="Courier New" pitchFamily="34" charset="0"/>
                <a:ea typeface="Courier New" pitchFamily="34" charset="-122"/>
                <a:cs typeface="Courier New" pitchFamily="34" charset="-120"/>
              </a:rPr>
              <a:t>        essay.docx</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3EF"/>
        </a:solidFill>
      </p:bgPr>
    </p:bg>
    <p:spTree>
      <p:nvGrpSpPr>
        <p:cNvPr id="1" name=""/>
        <p:cNvGrpSpPr/>
        <p:nvPr/>
      </p:nvGrpSpPr>
      <p:grpSpPr>
        <a:xfrm>
          <a:off x="0" y="0"/>
          <a:ext cx="0" cy="0"/>
          <a:chOff x="0" y="0"/>
          <a:chExt cx="0" cy="0"/>
        </a:xfrm>
      </p:grpSpPr>
      <p:sp>
        <p:nvSpPr>
          <p:cNvPr id="2" name="Text 0"/>
          <p:cNvSpPr/>
          <p:nvPr/>
        </p:nvSpPr>
        <p:spPr>
          <a:xfrm>
            <a:off x="812800" y="711200"/>
            <a:ext cx="10883392" cy="500360"/>
          </a:xfrm>
          <a:prstGeom prst="rect">
            <a:avLst/>
          </a:prstGeom>
          <a:noFill/>
          <a:ln/>
        </p:spPr>
        <p:txBody>
          <a:bodyPr wrap="square" lIns="0" tIns="0" rIns="0" bIns="0" rtlCol="0" anchor="t">
            <a:normAutofit/>
          </a:bodyPr>
          <a:lstStyle/>
          <a:p>
            <a:pPr algn="l" indent="0" marL="0">
              <a:lnSpc>
                <a:spcPts val="3740"/>
              </a:lnSpc>
              <a:buNone/>
            </a:pPr>
            <a:r>
              <a:rPr lang="en-US" sz="3400" b="1" dirty="0">
                <a:solidFill>
                  <a:srgbClr val="1E2430"/>
                </a:solidFill>
                <a:latin typeface="Arial" pitchFamily="34" charset="0"/>
                <a:ea typeface="Arial" pitchFamily="34" charset="-122"/>
                <a:cs typeface="Arial" pitchFamily="34" charset="-120"/>
              </a:rPr>
              <a:t>Every file has an address</a:t>
            </a:r>
            <a:endParaRPr lang="en-US" sz="3400" dirty="0"/>
          </a:p>
        </p:txBody>
      </p:sp>
      <p:pic>
        <p:nvPicPr>
          <p:cNvPr id="3" name="Image 0" descr="preencoded.png">    </p:cNvPr>
          <p:cNvPicPr>
            <a:picLocks noChangeAspect="1"/>
          </p:cNvPicPr>
          <p:nvPr/>
        </p:nvPicPr>
        <p:blipFill>
          <a:blip r:embed="rId1"/>
          <a:srcRect l="0" r="0" t="0" b="0"/>
          <a:stretch/>
        </p:blipFill>
        <p:spPr>
          <a:xfrm>
            <a:off x="812800" y="1440160"/>
            <a:ext cx="4699000" cy="2667000"/>
          </a:xfrm>
          <a:prstGeom prst="rect">
            <a:avLst/>
          </a:prstGeom>
        </p:spPr>
      </p:pic>
      <p:sp>
        <p:nvSpPr>
          <p:cNvPr id="4" name="Text 1"/>
          <p:cNvSpPr/>
          <p:nvPr/>
        </p:nvSpPr>
        <p:spPr>
          <a:xfrm>
            <a:off x="1574800" y="1770360"/>
            <a:ext cx="637927"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E2430"/>
                </a:solidFill>
                <a:latin typeface="Arial" pitchFamily="34" charset="0"/>
                <a:ea typeface="Arial" pitchFamily="34" charset="-122"/>
                <a:cs typeface="Arial" pitchFamily="34" charset="-120"/>
              </a:rPr>
              <a:t>This PC</a:t>
            </a:r>
            <a:endParaRPr lang="en-US" sz="1300" dirty="0"/>
          </a:p>
        </p:txBody>
      </p:sp>
      <p:sp>
        <p:nvSpPr>
          <p:cNvPr id="5" name="Text 2"/>
          <p:cNvSpPr/>
          <p:nvPr/>
        </p:nvSpPr>
        <p:spPr>
          <a:xfrm>
            <a:off x="1955800" y="2151360"/>
            <a:ext cx="885825"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E2430"/>
                </a:solidFill>
                <a:latin typeface="Arial" pitchFamily="34" charset="0"/>
                <a:ea typeface="Arial" pitchFamily="34" charset="-122"/>
                <a:cs typeface="Arial" pitchFamily="34" charset="-120"/>
              </a:rPr>
              <a:t>Documents</a:t>
            </a:r>
            <a:endParaRPr lang="en-US" sz="1300" dirty="0"/>
          </a:p>
        </p:txBody>
      </p:sp>
      <p:sp>
        <p:nvSpPr>
          <p:cNvPr id="6" name="Text 3"/>
          <p:cNvSpPr/>
          <p:nvPr/>
        </p:nvSpPr>
        <p:spPr>
          <a:xfrm>
            <a:off x="2336800" y="2532360"/>
            <a:ext cx="775891"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E2430"/>
                </a:solidFill>
                <a:latin typeface="Arial" pitchFamily="34" charset="0"/>
                <a:ea typeface="Arial" pitchFamily="34" charset="-122"/>
                <a:cs typeface="Arial" pitchFamily="34" charset="-120"/>
              </a:rPr>
              <a:t>CGS1060</a:t>
            </a:r>
            <a:endParaRPr lang="en-US" sz="1300" dirty="0"/>
          </a:p>
        </p:txBody>
      </p:sp>
      <p:sp>
        <p:nvSpPr>
          <p:cNvPr id="7" name="Text 4"/>
          <p:cNvSpPr/>
          <p:nvPr/>
        </p:nvSpPr>
        <p:spPr>
          <a:xfrm>
            <a:off x="2717800" y="2913360"/>
            <a:ext cx="653504"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E2430"/>
                </a:solidFill>
                <a:latin typeface="Arial" pitchFamily="34" charset="0"/>
                <a:ea typeface="Arial" pitchFamily="34" charset="-122"/>
                <a:cs typeface="Arial" pitchFamily="34" charset="-120"/>
              </a:rPr>
              <a:t>Week07</a:t>
            </a:r>
            <a:endParaRPr lang="en-US" sz="1300" dirty="0"/>
          </a:p>
        </p:txBody>
      </p:sp>
      <p:sp>
        <p:nvSpPr>
          <p:cNvPr id="8" name="Text 5"/>
          <p:cNvSpPr/>
          <p:nvPr/>
        </p:nvSpPr>
        <p:spPr>
          <a:xfrm>
            <a:off x="3048000" y="3332460"/>
            <a:ext cx="864493"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E2430"/>
                </a:solidFill>
                <a:latin typeface="Arial" pitchFamily="34" charset="0"/>
                <a:ea typeface="Arial" pitchFamily="34" charset="-122"/>
                <a:cs typeface="Arial" pitchFamily="34" charset="-120"/>
              </a:rPr>
              <a:t>essay.docx</a:t>
            </a:r>
            <a:endParaRPr lang="en-US" sz="1300" dirty="0"/>
          </a:p>
        </p:txBody>
      </p:sp>
      <p:sp>
        <p:nvSpPr>
          <p:cNvPr id="9" name="Text 6"/>
          <p:cNvSpPr/>
          <p:nvPr/>
        </p:nvSpPr>
        <p:spPr>
          <a:xfrm>
            <a:off x="5867400" y="1789460"/>
            <a:ext cx="5677154"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E2430"/>
                </a:solidFill>
                <a:latin typeface="Arial" pitchFamily="34" charset="0"/>
                <a:ea typeface="Arial" pitchFamily="34" charset="-122"/>
                <a:cs typeface="Arial" pitchFamily="34" charset="-120"/>
              </a:rPr>
              <a:t>A </a:t>
            </a:r>
            <a:r>
              <a:rPr lang="en-US" sz="1400" b="1" dirty="0">
                <a:solidFill>
                  <a:srgbClr val="1E2430"/>
                </a:solidFill>
                <a:latin typeface="Arial" pitchFamily="34" charset="0"/>
                <a:ea typeface="Arial" pitchFamily="34" charset="-122"/>
                <a:cs typeface="Arial" pitchFamily="34" charset="-120"/>
              </a:rPr>
              <a:t>folder</a:t>
            </a:r>
            <a:r>
              <a:rPr lang="en-US" sz="1400" dirty="0">
                <a:solidFill>
                  <a:srgbClr val="1E2430"/>
                </a:solidFill>
                <a:latin typeface="Arial" pitchFamily="34" charset="0"/>
                <a:ea typeface="Arial" pitchFamily="34" charset="-122"/>
                <a:cs typeface="Arial" pitchFamily="34" charset="-120"/>
              </a:rPr>
              <a:t> holds files. A folder inside another folder is a </a:t>
            </a:r>
            <a:r>
              <a:rPr lang="en-US" sz="1400" b="1" dirty="0">
                <a:solidFill>
                  <a:srgbClr val="1E2430"/>
                </a:solidFill>
                <a:latin typeface="Arial" pitchFamily="34" charset="0"/>
                <a:ea typeface="Arial" pitchFamily="34" charset="-122"/>
                <a:cs typeface="Arial" pitchFamily="34" charset="-120"/>
              </a:rPr>
              <a:t>subfolder</a:t>
            </a:r>
            <a:r>
              <a:rPr lang="en-US" sz="1400" dirty="0">
                <a:solidFill>
                  <a:srgbClr val="1E2430"/>
                </a:solidFill>
                <a:latin typeface="Arial" pitchFamily="34" charset="0"/>
                <a:ea typeface="Arial" pitchFamily="34" charset="-122"/>
                <a:cs typeface="Arial" pitchFamily="34" charset="-120"/>
              </a:rPr>
              <a:t>. The whole structure is a </a:t>
            </a:r>
            <a:r>
              <a:rPr lang="en-US" sz="1400" b="1" dirty="0">
                <a:solidFill>
                  <a:srgbClr val="1E2430"/>
                </a:solidFill>
                <a:latin typeface="Arial" pitchFamily="34" charset="0"/>
                <a:ea typeface="Arial" pitchFamily="34" charset="-122"/>
                <a:cs typeface="Arial" pitchFamily="34" charset="-120"/>
              </a:rPr>
              <a:t>directory</a:t>
            </a:r>
            <a:r>
              <a:rPr lang="en-US" sz="1400" dirty="0">
                <a:solidFill>
                  <a:srgbClr val="1E2430"/>
                </a:solidFill>
                <a:latin typeface="Arial" pitchFamily="34" charset="0"/>
                <a:ea typeface="Arial" pitchFamily="34" charset="-122"/>
                <a:cs typeface="Arial" pitchFamily="34" charset="-120"/>
              </a:rPr>
              <a:t>.</a:t>
            </a:r>
            <a:endParaRPr lang="en-US" sz="1400" dirty="0"/>
          </a:p>
        </p:txBody>
      </p:sp>
      <p:sp>
        <p:nvSpPr>
          <p:cNvPr id="10" name="Text 7"/>
          <p:cNvSpPr/>
          <p:nvPr/>
        </p:nvSpPr>
        <p:spPr>
          <a:xfrm>
            <a:off x="5867400" y="2426940"/>
            <a:ext cx="5677154"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E2430"/>
                </a:solidFill>
                <a:latin typeface="Arial" pitchFamily="34" charset="0"/>
                <a:ea typeface="Arial" pitchFamily="34" charset="-122"/>
                <a:cs typeface="Arial" pitchFamily="34" charset="-120"/>
              </a:rPr>
              <a:t>The </a:t>
            </a:r>
            <a:r>
              <a:rPr lang="en-US" sz="1400" b="1" dirty="0">
                <a:solidFill>
                  <a:srgbClr val="1E2430"/>
                </a:solidFill>
                <a:latin typeface="Arial" pitchFamily="34" charset="0"/>
                <a:ea typeface="Arial" pitchFamily="34" charset="-122"/>
                <a:cs typeface="Arial" pitchFamily="34" charset="-120"/>
              </a:rPr>
              <a:t>path</a:t>
            </a:r>
            <a:r>
              <a:rPr lang="en-US" sz="1400" dirty="0">
                <a:solidFill>
                  <a:srgbClr val="1E2430"/>
                </a:solidFill>
                <a:latin typeface="Arial" pitchFamily="34" charset="0"/>
                <a:ea typeface="Arial" pitchFamily="34" charset="-122"/>
                <a:cs typeface="Arial" pitchFamily="34" charset="-120"/>
              </a:rPr>
              <a:t> is the file's address: every folder you would open, in order.</a:t>
            </a:r>
            <a:endParaRPr lang="en-US" sz="1400" dirty="0"/>
          </a:p>
        </p:txBody>
      </p:sp>
      <p:sp>
        <p:nvSpPr>
          <p:cNvPr id="11" name="Shape 8"/>
          <p:cNvSpPr/>
          <p:nvPr/>
        </p:nvSpPr>
        <p:spPr>
          <a:xfrm>
            <a:off x="5867400" y="2815530"/>
            <a:ext cx="5511800" cy="340320"/>
          </a:xfrm>
          <a:prstGeom prst="roundRect">
            <a:avLst>
              <a:gd name="adj" fmla="val 14927"/>
            </a:avLst>
          </a:prstGeom>
          <a:solidFill>
            <a:srgbClr val="E3ECEA"/>
          </a:solidFill>
          <a:ln/>
        </p:spPr>
      </p:sp>
      <p:sp>
        <p:nvSpPr>
          <p:cNvPr id="12" name="Text 9"/>
          <p:cNvSpPr/>
          <p:nvPr/>
        </p:nvSpPr>
        <p:spPr>
          <a:xfrm>
            <a:off x="5981700" y="2879030"/>
            <a:ext cx="544169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E2430"/>
                </a:solidFill>
                <a:latin typeface="Courier New" pitchFamily="34" charset="0"/>
                <a:ea typeface="Courier New" pitchFamily="34" charset="-122"/>
                <a:cs typeface="Courier New" pitchFamily="34" charset="-120"/>
              </a:rPr>
              <a:t>C:\Users\you\Documents\CGS1060\Week07\essay.docx</a:t>
            </a:r>
            <a:endParaRPr lang="en-US" sz="1200" dirty="0"/>
          </a:p>
        </p:txBody>
      </p:sp>
      <p:sp>
        <p:nvSpPr>
          <p:cNvPr id="13" name="Text 10"/>
          <p:cNvSpPr/>
          <p:nvPr/>
        </p:nvSpPr>
        <p:spPr>
          <a:xfrm>
            <a:off x="5867400" y="3295551"/>
            <a:ext cx="5677154"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A6472"/>
                </a:solidFill>
                <a:latin typeface="Arial" pitchFamily="34" charset="0"/>
                <a:ea typeface="Arial" pitchFamily="34" charset="-122"/>
                <a:cs typeface="Arial" pitchFamily="34" charset="-120"/>
              </a:rPr>
              <a:t>Click the empty space in File Explorer's address bar to see the path of wherever you are.</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3EF"/>
        </a:solidFill>
      </p:bgPr>
    </p:bg>
    <p:spTree>
      <p:nvGrpSpPr>
        <p:cNvPr id="1" name=""/>
        <p:cNvGrpSpPr/>
        <p:nvPr/>
      </p:nvGrpSpPr>
      <p:grpSpPr>
        <a:xfrm>
          <a:off x="0" y="0"/>
          <a:ext cx="0" cy="0"/>
          <a:chOff x="0" y="0"/>
          <a:chExt cx="0" cy="0"/>
        </a:xfrm>
      </p:grpSpPr>
      <p:sp>
        <p:nvSpPr>
          <p:cNvPr id="2" name="Text 0"/>
          <p:cNvSpPr/>
          <p:nvPr/>
        </p:nvSpPr>
        <p:spPr>
          <a:xfrm>
            <a:off x="812800" y="711200"/>
            <a:ext cx="10883392" cy="500360"/>
          </a:xfrm>
          <a:prstGeom prst="rect">
            <a:avLst/>
          </a:prstGeom>
          <a:noFill/>
          <a:ln/>
        </p:spPr>
        <p:txBody>
          <a:bodyPr wrap="square" lIns="0" tIns="0" rIns="0" bIns="0" rtlCol="0" anchor="t">
            <a:normAutofit/>
          </a:bodyPr>
          <a:lstStyle/>
          <a:p>
            <a:pPr algn="l" indent="0" marL="0">
              <a:lnSpc>
                <a:spcPts val="3740"/>
              </a:lnSpc>
              <a:buNone/>
            </a:pPr>
            <a:r>
              <a:rPr lang="en-US" sz="3400" b="1" dirty="0">
                <a:solidFill>
                  <a:srgbClr val="1E2430"/>
                </a:solidFill>
                <a:latin typeface="Arial" pitchFamily="34" charset="0"/>
                <a:ea typeface="Arial" pitchFamily="34" charset="-122"/>
                <a:cs typeface="Arial" pitchFamily="34" charset="-120"/>
              </a:rPr>
              <a:t>Save, Save As, and the folder you didn't choose</a:t>
            </a:r>
            <a:endParaRPr lang="en-US" sz="3400" dirty="0"/>
          </a:p>
        </p:txBody>
      </p:sp>
      <p:sp>
        <p:nvSpPr>
          <p:cNvPr id="3" name="Shape 1"/>
          <p:cNvSpPr/>
          <p:nvPr/>
        </p:nvSpPr>
        <p:spPr>
          <a:xfrm>
            <a:off x="815975" y="1443335"/>
            <a:ext cx="3414167" cy="1987352"/>
          </a:xfrm>
          <a:prstGeom prst="roundRect">
            <a:avLst>
              <a:gd name="adj" fmla="val 4314"/>
            </a:avLst>
          </a:prstGeom>
          <a:solidFill>
            <a:srgbClr val="FBFAF7"/>
          </a:solidFill>
          <a:ln w="6350">
            <a:solidFill>
              <a:srgbClr val="DCD8CF"/>
            </a:solidFill>
            <a:prstDash val="solid"/>
          </a:ln>
        </p:spPr>
      </p:sp>
      <p:sp>
        <p:nvSpPr>
          <p:cNvPr id="4" name="Text 2"/>
          <p:cNvSpPr/>
          <p:nvPr/>
        </p:nvSpPr>
        <p:spPr>
          <a:xfrm>
            <a:off x="1022350" y="1624310"/>
            <a:ext cx="3091459"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E2430"/>
                </a:solidFill>
                <a:latin typeface="Arial" pitchFamily="34" charset="0"/>
                <a:ea typeface="Arial" pitchFamily="34" charset="-122"/>
                <a:cs typeface="Arial" pitchFamily="34" charset="-120"/>
              </a:rPr>
              <a:t>Save</a:t>
            </a:r>
            <a:endParaRPr lang="en-US" sz="1800" dirty="0"/>
          </a:p>
        </p:txBody>
      </p:sp>
      <p:sp>
        <p:nvSpPr>
          <p:cNvPr id="5" name="Text 3"/>
          <p:cNvSpPr/>
          <p:nvPr/>
        </p:nvSpPr>
        <p:spPr>
          <a:xfrm>
            <a:off x="1022350" y="1987500"/>
            <a:ext cx="3091459" cy="52318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E2430"/>
                </a:solidFill>
                <a:latin typeface="Arial" pitchFamily="34" charset="0"/>
                <a:ea typeface="Arial" pitchFamily="34" charset="-122"/>
                <a:cs typeface="Arial" pitchFamily="34" charset="-120"/>
              </a:rPr>
              <a:t>Ctrl+S.</a:t>
            </a:r>
            <a:r>
              <a:rPr lang="en-US" sz="1400" dirty="0">
                <a:solidFill>
                  <a:srgbClr val="1E2430"/>
                </a:solidFill>
                <a:latin typeface="Arial" pitchFamily="34" charset="0"/>
                <a:ea typeface="Arial" pitchFamily="34" charset="-122"/>
                <a:cs typeface="Arial" pitchFamily="34" charset="-120"/>
              </a:rPr>
              <a:t> Writes over the same file, in the same place. No questions asked.</a:t>
            </a:r>
            <a:endParaRPr lang="en-US" sz="1400" dirty="0"/>
          </a:p>
        </p:txBody>
      </p:sp>
      <p:sp>
        <p:nvSpPr>
          <p:cNvPr id="6" name="Text 4"/>
          <p:cNvSpPr/>
          <p:nvPr/>
        </p:nvSpPr>
        <p:spPr>
          <a:xfrm>
            <a:off x="1022350" y="2574181"/>
            <a:ext cx="3091459"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472"/>
                </a:solidFill>
                <a:latin typeface="Arial" pitchFamily="34" charset="0"/>
                <a:ea typeface="Arial" pitchFamily="34" charset="-122"/>
                <a:cs typeface="Arial" pitchFamily="34" charset="-120"/>
              </a:rPr>
              <a:t>The first Save of a new file acts like Save As.</a:t>
            </a:r>
            <a:endParaRPr lang="en-US" sz="1200" dirty="0"/>
          </a:p>
        </p:txBody>
      </p:sp>
      <p:sp>
        <p:nvSpPr>
          <p:cNvPr id="7" name="Shape 5"/>
          <p:cNvSpPr/>
          <p:nvPr/>
        </p:nvSpPr>
        <p:spPr>
          <a:xfrm>
            <a:off x="4388892" y="1443335"/>
            <a:ext cx="3414167" cy="1987352"/>
          </a:xfrm>
          <a:prstGeom prst="roundRect">
            <a:avLst>
              <a:gd name="adj" fmla="val 4314"/>
            </a:avLst>
          </a:prstGeom>
          <a:solidFill>
            <a:srgbClr val="FBFAF7"/>
          </a:solidFill>
          <a:ln w="6350">
            <a:solidFill>
              <a:srgbClr val="DCD8CF"/>
            </a:solidFill>
            <a:prstDash val="solid"/>
          </a:ln>
        </p:spPr>
      </p:sp>
      <p:sp>
        <p:nvSpPr>
          <p:cNvPr id="8" name="Text 6"/>
          <p:cNvSpPr/>
          <p:nvPr/>
        </p:nvSpPr>
        <p:spPr>
          <a:xfrm>
            <a:off x="4595267" y="1624310"/>
            <a:ext cx="3091459"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E2430"/>
                </a:solidFill>
                <a:latin typeface="Arial" pitchFamily="34" charset="0"/>
                <a:ea typeface="Arial" pitchFamily="34" charset="-122"/>
                <a:cs typeface="Arial" pitchFamily="34" charset="-120"/>
              </a:rPr>
              <a:t>Save As</a:t>
            </a:r>
            <a:endParaRPr lang="en-US" sz="1800" dirty="0"/>
          </a:p>
        </p:txBody>
      </p:sp>
      <p:sp>
        <p:nvSpPr>
          <p:cNvPr id="9" name="Text 7"/>
          <p:cNvSpPr/>
          <p:nvPr/>
        </p:nvSpPr>
        <p:spPr>
          <a:xfrm>
            <a:off x="4595267" y="1987500"/>
            <a:ext cx="3091459" cy="77207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E2430"/>
                </a:solidFill>
                <a:latin typeface="Arial" pitchFamily="34" charset="0"/>
                <a:ea typeface="Arial" pitchFamily="34" charset="-122"/>
                <a:cs typeface="Arial" pitchFamily="34" charset="-120"/>
              </a:rPr>
              <a:t>F12.</a:t>
            </a:r>
            <a:r>
              <a:rPr lang="en-US" sz="1400" dirty="0">
                <a:solidFill>
                  <a:srgbClr val="1E2430"/>
                </a:solidFill>
                <a:latin typeface="Arial" pitchFamily="34" charset="0"/>
                <a:ea typeface="Arial" pitchFamily="34" charset="-122"/>
                <a:cs typeface="Arial" pitchFamily="34" charset="-120"/>
              </a:rPr>
              <a:t> Makes a second copy somewhere you choose. The original stays where it was.</a:t>
            </a:r>
            <a:endParaRPr lang="en-US" sz="1400" dirty="0"/>
          </a:p>
        </p:txBody>
      </p:sp>
      <p:sp>
        <p:nvSpPr>
          <p:cNvPr id="10" name="Text 8"/>
          <p:cNvSpPr/>
          <p:nvPr/>
        </p:nvSpPr>
        <p:spPr>
          <a:xfrm>
            <a:off x="4595267" y="2823071"/>
            <a:ext cx="3091459"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472"/>
                </a:solidFill>
                <a:latin typeface="Arial" pitchFamily="34" charset="0"/>
                <a:ea typeface="Arial" pitchFamily="34" charset="-122"/>
                <a:cs typeface="Arial" pitchFamily="34" charset="-120"/>
              </a:rPr>
              <a:t>This is how one assignment ends up in four places.</a:t>
            </a:r>
            <a:endParaRPr lang="en-US" sz="1200" dirty="0"/>
          </a:p>
        </p:txBody>
      </p:sp>
      <p:sp>
        <p:nvSpPr>
          <p:cNvPr id="11" name="Shape 9"/>
          <p:cNvSpPr/>
          <p:nvPr/>
        </p:nvSpPr>
        <p:spPr>
          <a:xfrm>
            <a:off x="7961809" y="1443335"/>
            <a:ext cx="3414216" cy="1987352"/>
          </a:xfrm>
          <a:prstGeom prst="roundRect">
            <a:avLst>
              <a:gd name="adj" fmla="val 4314"/>
            </a:avLst>
          </a:prstGeom>
          <a:solidFill>
            <a:srgbClr val="FBFAF7"/>
          </a:solidFill>
          <a:ln w="6350">
            <a:solidFill>
              <a:srgbClr val="DCD8CF"/>
            </a:solidFill>
            <a:prstDash val="solid"/>
          </a:ln>
        </p:spPr>
      </p:sp>
      <p:sp>
        <p:nvSpPr>
          <p:cNvPr id="12" name="Text 10"/>
          <p:cNvSpPr/>
          <p:nvPr/>
        </p:nvSpPr>
        <p:spPr>
          <a:xfrm>
            <a:off x="8168184" y="1624310"/>
            <a:ext cx="3091510"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E2430"/>
                </a:solidFill>
                <a:latin typeface="Arial" pitchFamily="34" charset="0"/>
                <a:ea typeface="Arial" pitchFamily="34" charset="-122"/>
                <a:cs typeface="Arial" pitchFamily="34" charset="-120"/>
              </a:rPr>
              <a:t>In the dialog</a:t>
            </a:r>
            <a:endParaRPr lang="en-US" sz="1800" dirty="0"/>
          </a:p>
        </p:txBody>
      </p:sp>
      <p:sp>
        <p:nvSpPr>
          <p:cNvPr id="13" name="Text 11"/>
          <p:cNvSpPr/>
          <p:nvPr/>
        </p:nvSpPr>
        <p:spPr>
          <a:xfrm>
            <a:off x="8168184" y="1987500"/>
            <a:ext cx="3091510" cy="77207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E2430"/>
                </a:solidFill>
                <a:latin typeface="Arial" pitchFamily="34" charset="0"/>
                <a:ea typeface="Arial" pitchFamily="34" charset="-122"/>
                <a:cs typeface="Arial" pitchFamily="34" charset="-120"/>
              </a:rPr>
              <a:t>Pick the folder </a:t>
            </a:r>
            <a:r>
              <a:rPr lang="en-US" sz="1400" b="1" dirty="0">
                <a:solidFill>
                  <a:srgbClr val="1E2430"/>
                </a:solidFill>
                <a:latin typeface="Arial" pitchFamily="34" charset="0"/>
                <a:ea typeface="Arial" pitchFamily="34" charset="-122"/>
                <a:cs typeface="Arial" pitchFamily="34" charset="-120"/>
              </a:rPr>
              <a:t>first</a:t>
            </a:r>
            <a:r>
              <a:rPr lang="en-US" sz="1400" dirty="0">
                <a:solidFill>
                  <a:srgbClr val="1E2430"/>
                </a:solidFill>
                <a:latin typeface="Arial" pitchFamily="34" charset="0"/>
                <a:ea typeface="Arial" pitchFamily="34" charset="-122"/>
                <a:cs typeface="Arial" pitchFamily="34" charset="-120"/>
              </a:rPr>
              <a:t>, then type the file name. </a:t>
            </a:r>
            <a:r>
              <a:rPr lang="en-US" sz="1400" b="1" dirty="0">
                <a:solidFill>
                  <a:srgbClr val="1E2430"/>
                </a:solidFill>
                <a:latin typeface="Arial" pitchFamily="34" charset="0"/>
                <a:ea typeface="Arial" pitchFamily="34" charset="-122"/>
                <a:cs typeface="Arial" pitchFamily="34" charset="-120"/>
              </a:rPr>
              <a:t>New Folder</a:t>
            </a:r>
            <a:r>
              <a:rPr lang="en-US" sz="1400" dirty="0">
                <a:solidFill>
                  <a:srgbClr val="1E2430"/>
                </a:solidFill>
                <a:latin typeface="Arial" pitchFamily="34" charset="0"/>
                <a:ea typeface="Arial" pitchFamily="34" charset="-122"/>
                <a:cs typeface="Arial" pitchFamily="34" charset="-120"/>
              </a:rPr>
              <a:t> creates a folder without leaving the dialog.</a:t>
            </a:r>
            <a:endParaRPr lang="en-US" sz="1400" dirty="0"/>
          </a:p>
        </p:txBody>
      </p:sp>
      <p:sp>
        <p:nvSpPr>
          <p:cNvPr id="14" name="Text 12"/>
          <p:cNvSpPr/>
          <p:nvPr/>
        </p:nvSpPr>
        <p:spPr>
          <a:xfrm>
            <a:off x="8168184" y="2823071"/>
            <a:ext cx="309151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472"/>
                </a:solidFill>
                <a:latin typeface="Arial" pitchFamily="34" charset="0"/>
                <a:ea typeface="Arial" pitchFamily="34" charset="-122"/>
                <a:cs typeface="Arial" pitchFamily="34" charset="-120"/>
              </a:rPr>
              <a:t>Note the file type box: it decides the extension.</a:t>
            </a:r>
            <a:endParaRPr lang="en-US" sz="1200" dirty="0"/>
          </a:p>
        </p:txBody>
      </p:sp>
      <p:sp>
        <p:nvSpPr>
          <p:cNvPr id="15" name="Shape 13"/>
          <p:cNvSpPr/>
          <p:nvPr/>
        </p:nvSpPr>
        <p:spPr>
          <a:xfrm>
            <a:off x="815975" y="3691037"/>
            <a:ext cx="10560050" cy="895350"/>
          </a:xfrm>
          <a:prstGeom prst="roundRect">
            <a:avLst>
              <a:gd name="adj" fmla="val 9574"/>
            </a:avLst>
          </a:prstGeom>
          <a:solidFill>
            <a:srgbClr val="F6E7D8"/>
          </a:solidFill>
          <a:ln w="6350">
            <a:solidFill>
              <a:srgbClr val="DCD8CF"/>
            </a:solidFill>
            <a:prstDash val="solid"/>
          </a:ln>
        </p:spPr>
      </p:sp>
      <p:sp>
        <p:nvSpPr>
          <p:cNvPr id="16" name="Text 14"/>
          <p:cNvSpPr/>
          <p:nvPr/>
        </p:nvSpPr>
        <p:spPr>
          <a:xfrm>
            <a:off x="1022350" y="3872012"/>
            <a:ext cx="10451719" cy="5588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E2430"/>
                </a:solidFill>
                <a:latin typeface="Arial" pitchFamily="34" charset="0"/>
                <a:ea typeface="Arial" pitchFamily="34" charset="-122"/>
                <a:cs typeface="Arial" pitchFamily="34" charset="-120"/>
              </a:rPr>
              <a:t>Downloaded an attachment, edited it, pressed Save?</a:t>
            </a:r>
            <a:r>
              <a:rPr lang="en-US" sz="1500" dirty="0">
                <a:solidFill>
                  <a:srgbClr val="1E2430"/>
                </a:solidFill>
                <a:latin typeface="Arial" pitchFamily="34" charset="0"/>
                <a:ea typeface="Arial" pitchFamily="34" charset="-122"/>
                <a:cs typeface="Arial" pitchFamily="34" charset="-120"/>
              </a:rPr>
              <a:t> It is still in your Downloads folder, and it may be deleted the next time the computer cleans up. Save As into your class folder before you start working.</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3EF"/>
        </a:solidFill>
      </p:bgPr>
    </p:bg>
    <p:spTree>
      <p:nvGrpSpPr>
        <p:cNvPr id="1" name=""/>
        <p:cNvGrpSpPr/>
        <p:nvPr/>
      </p:nvGrpSpPr>
      <p:grpSpPr>
        <a:xfrm>
          <a:off x="0" y="0"/>
          <a:ext cx="0" cy="0"/>
          <a:chOff x="0" y="0"/>
          <a:chExt cx="0" cy="0"/>
        </a:xfrm>
      </p:grpSpPr>
      <p:sp>
        <p:nvSpPr>
          <p:cNvPr id="2" name="Text 0"/>
          <p:cNvSpPr/>
          <p:nvPr/>
        </p:nvSpPr>
        <p:spPr>
          <a:xfrm>
            <a:off x="812800" y="711200"/>
            <a:ext cx="10883392" cy="500360"/>
          </a:xfrm>
          <a:prstGeom prst="rect">
            <a:avLst/>
          </a:prstGeom>
          <a:noFill/>
          <a:ln/>
        </p:spPr>
        <p:txBody>
          <a:bodyPr wrap="square" lIns="0" tIns="0" rIns="0" bIns="0" rtlCol="0" anchor="t">
            <a:normAutofit/>
          </a:bodyPr>
          <a:lstStyle/>
          <a:p>
            <a:pPr algn="l" indent="0" marL="0">
              <a:lnSpc>
                <a:spcPts val="3740"/>
              </a:lnSpc>
              <a:buNone/>
            </a:pPr>
            <a:r>
              <a:rPr lang="en-US" sz="3400" b="1" dirty="0">
                <a:solidFill>
                  <a:srgbClr val="1E2430"/>
                </a:solidFill>
                <a:latin typeface="Arial" pitchFamily="34" charset="0"/>
                <a:ea typeface="Arial" pitchFamily="34" charset="-122"/>
                <a:cs typeface="Arial" pitchFamily="34" charset="-120"/>
              </a:rPr>
              <a:t>Copy or move? Drag and find out</a:t>
            </a:r>
            <a:endParaRPr lang="en-US" sz="34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12800" y="1440160"/>
          <a:ext cx="5700861" cy="2905671"/>
        </p:xfrm>
        <a:graphic>
          <a:graphicData uri="http://schemas.openxmlformats.org/drawingml/2006/table">
            <a:tbl>
              <a:tblPr/>
              <a:tblGrid>
                <a:gridCol w="1482224"/>
                <a:gridCol w="1482224"/>
                <a:gridCol w="2736413"/>
              </a:tblGrid>
              <a:tr h="396230">
                <a:tc>
                  <a:txBody>
                    <a:bodyPr/>
                    <a:lstStyle/>
                    <a:p>
                      <a:pPr indent="0" marL="0">
                        <a:lnSpc>
                          <a:spcPts val="1820"/>
                        </a:lnSpc>
                        <a:buNone/>
                      </a:pPr>
                      <a:r>
                        <a:rPr lang="en-US" sz="1300" b="1" dirty="0">
                          <a:solidFill>
                            <a:srgbClr val="1E2430"/>
                          </a:solidFill>
                          <a:latin typeface="Arial" pitchFamily="34" charset="0"/>
                          <a:ea typeface="Arial" pitchFamily="34" charset="-122"/>
                          <a:cs typeface="Arial" pitchFamily="34" charset="-120"/>
                        </a:rPr>
                        <a:t>Action</a:t>
                      </a:r>
                      <a:endParaRPr lang="en-US" sz="1300" dirty="0">
                        <a:latin typeface="Arial" charset="0"/>
                        <a:ea typeface="Arial" charset="0"/>
                        <a:cs typeface="Arial" charset="0"/>
                      </a:endParaRPr>
                    </a:p>
                  </a:txBody>
                  <a:tcPr marL="114300" marR="114300" marT="76200" marB="76200" anchor="t">
                    <a:lnL w="12700" cap="flat" cmpd="sng" algn="ctr">
                      <a:solidFill>
                        <a:srgbClr val="C5C5C5"/>
                      </a:solidFill>
                      <a:prstDash val="solid"/>
                      <a:round/>
                      <a:headEnd type="none" w="med" len="med"/>
                      <a:tailEnd type="none" w="med" len="med"/>
                    </a:lnL>
                    <a:lnR w="12700" cap="flat" cmpd="sng" algn="ctr">
                      <a:solidFill>
                        <a:srgbClr val="C5C5C5"/>
                      </a:solidFill>
                      <a:prstDash val="solid"/>
                      <a:round/>
                      <a:headEnd type="none" w="med" len="med"/>
                      <a:tailEnd type="none" w="med" len="med"/>
                    </a:lnR>
                    <a:lnT w="12700" cap="flat" cmpd="sng" algn="ctr">
                      <a:solidFill>
                        <a:srgbClr val="C5C5C5"/>
                      </a:solidFill>
                      <a:prstDash val="solid"/>
                      <a:round/>
                      <a:headEnd type="none" w="med" len="med"/>
                      <a:tailEnd type="none" w="med" len="med"/>
                    </a:lnT>
                    <a:lnB w="12700" cap="flat" cmpd="sng" algn="ctr">
                      <a:solidFill>
                        <a:srgbClr val="C5C5C5"/>
                      </a:solidFill>
                      <a:prstDash val="solid"/>
                      <a:round/>
                      <a:headEnd type="none" w="med" len="med"/>
                      <a:tailEnd type="none" w="med" len="med"/>
                    </a:lnB>
                    <a:solidFill>
                      <a:srgbClr val="E7E4DC"/>
                    </a:solidFill>
                  </a:tcPr>
                </a:tc>
                <a:tc>
                  <a:txBody>
                    <a:bodyPr/>
                    <a:lstStyle/>
                    <a:p>
                      <a:pPr indent="0" marL="0">
                        <a:lnSpc>
                          <a:spcPts val="1820"/>
                        </a:lnSpc>
                        <a:buNone/>
                      </a:pPr>
                      <a:r>
                        <a:rPr lang="en-US" sz="1300" b="1" dirty="0">
                          <a:solidFill>
                            <a:srgbClr val="1E2430"/>
                          </a:solidFill>
                          <a:latin typeface="Arial" pitchFamily="34" charset="0"/>
                          <a:ea typeface="Arial" pitchFamily="34" charset="-122"/>
                          <a:cs typeface="Arial" pitchFamily="34" charset="-120"/>
                        </a:rPr>
                        <a:t>Keyboard</a:t>
                      </a:r>
                      <a:endParaRPr lang="en-US" sz="1300" dirty="0">
                        <a:latin typeface="Arial" charset="0"/>
                        <a:ea typeface="Arial" charset="0"/>
                        <a:cs typeface="Arial" charset="0"/>
                      </a:endParaRPr>
                    </a:p>
                  </a:txBody>
                  <a:tcPr marL="114300" marR="114300" marT="76200" marB="76200" anchor="t">
                    <a:lnL w="12700" cap="flat" cmpd="sng" algn="ctr">
                      <a:solidFill>
                        <a:srgbClr val="C5C5C5"/>
                      </a:solidFill>
                      <a:prstDash val="solid"/>
                      <a:round/>
                      <a:headEnd type="none" w="med" len="med"/>
                      <a:tailEnd type="none" w="med" len="med"/>
                    </a:lnL>
                    <a:lnR w="12700" cap="flat" cmpd="sng" algn="ctr">
                      <a:solidFill>
                        <a:srgbClr val="C5C5C5"/>
                      </a:solidFill>
                      <a:prstDash val="solid"/>
                      <a:round/>
                      <a:headEnd type="none" w="med" len="med"/>
                      <a:tailEnd type="none" w="med" len="med"/>
                    </a:lnR>
                    <a:lnT w="12700" cap="flat" cmpd="sng" algn="ctr">
                      <a:solidFill>
                        <a:srgbClr val="C5C5C5"/>
                      </a:solidFill>
                      <a:prstDash val="solid"/>
                      <a:round/>
                      <a:headEnd type="none" w="med" len="med"/>
                      <a:tailEnd type="none" w="med" len="med"/>
                    </a:lnT>
                    <a:lnB w="12700" cap="flat" cmpd="sng" algn="ctr">
                      <a:solidFill>
                        <a:srgbClr val="C5C5C5"/>
                      </a:solidFill>
                      <a:prstDash val="solid"/>
                      <a:round/>
                      <a:headEnd type="none" w="med" len="med"/>
                      <a:tailEnd type="none" w="med" len="med"/>
                    </a:lnB>
                    <a:solidFill>
                      <a:srgbClr val="E7E4DC"/>
                    </a:solidFill>
                  </a:tcPr>
                </a:tc>
                <a:tc>
                  <a:txBody>
                    <a:bodyPr/>
                    <a:lstStyle/>
                    <a:p>
                      <a:pPr indent="0" marL="0">
                        <a:lnSpc>
                          <a:spcPts val="1820"/>
                        </a:lnSpc>
                        <a:buNone/>
                      </a:pPr>
                      <a:r>
                        <a:rPr lang="en-US" sz="1300" b="1" dirty="0">
                          <a:solidFill>
                            <a:srgbClr val="1E2430"/>
                          </a:solidFill>
                          <a:latin typeface="Arial" pitchFamily="34" charset="0"/>
                          <a:ea typeface="Arial" pitchFamily="34" charset="-122"/>
                          <a:cs typeface="Arial" pitchFamily="34" charset="-120"/>
                        </a:rPr>
                        <a:t>What happens</a:t>
                      </a:r>
                      <a:endParaRPr lang="en-US" sz="1300" dirty="0">
                        <a:latin typeface="Arial" charset="0"/>
                        <a:ea typeface="Arial" charset="0"/>
                        <a:cs typeface="Arial" charset="0"/>
                      </a:endParaRPr>
                    </a:p>
                  </a:txBody>
                  <a:tcPr marL="114300" marR="114300" marT="76200" marB="76200" anchor="t">
                    <a:lnL w="12700" cap="flat" cmpd="sng" algn="ctr">
                      <a:solidFill>
                        <a:srgbClr val="C5C5C5"/>
                      </a:solidFill>
                      <a:prstDash val="solid"/>
                      <a:round/>
                      <a:headEnd type="none" w="med" len="med"/>
                      <a:tailEnd type="none" w="med" len="med"/>
                    </a:lnL>
                    <a:lnR w="12700" cap="flat" cmpd="sng" algn="ctr">
                      <a:solidFill>
                        <a:srgbClr val="C5C5C5"/>
                      </a:solidFill>
                      <a:prstDash val="solid"/>
                      <a:round/>
                      <a:headEnd type="none" w="med" len="med"/>
                      <a:tailEnd type="none" w="med" len="med"/>
                    </a:lnR>
                    <a:lnT w="12700" cap="flat" cmpd="sng" algn="ctr">
                      <a:solidFill>
                        <a:srgbClr val="C5C5C5"/>
                      </a:solidFill>
                      <a:prstDash val="solid"/>
                      <a:round/>
                      <a:headEnd type="none" w="med" len="med"/>
                      <a:tailEnd type="none" w="med" len="med"/>
                    </a:lnT>
                    <a:lnB w="12700" cap="flat" cmpd="sng" algn="ctr">
                      <a:solidFill>
                        <a:srgbClr val="C5C5C5"/>
                      </a:solidFill>
                      <a:prstDash val="solid"/>
                      <a:round/>
                      <a:headEnd type="none" w="med" len="med"/>
                      <a:tailEnd type="none" w="med" len="med"/>
                    </a:lnB>
                    <a:solidFill>
                      <a:srgbClr val="E7E4DC"/>
                    </a:solidFill>
                  </a:tcPr>
                </a:tc>
              </a:tr>
              <a:tr h="627360">
                <a:tc>
                  <a:txBody>
                    <a:bodyPr/>
                    <a:lstStyle/>
                    <a:p>
                      <a:pPr indent="0" marL="0">
                        <a:lnSpc>
                          <a:spcPts val="1820"/>
                        </a:lnSpc>
                        <a:buNone/>
                      </a:pPr>
                      <a:r>
                        <a:rPr lang="en-US" sz="1300" dirty="0">
                          <a:solidFill>
                            <a:srgbClr val="1E2430"/>
                          </a:solidFill>
                          <a:latin typeface="Arial" pitchFamily="34" charset="0"/>
                          <a:ea typeface="Arial" pitchFamily="34" charset="-122"/>
                          <a:cs typeface="Arial" pitchFamily="34" charset="-120"/>
                        </a:rPr>
                        <a:t>Copy</a:t>
                      </a:r>
                      <a:endParaRPr lang="en-US" sz="1300" dirty="0">
                        <a:latin typeface="Arial" charset="0"/>
                        <a:ea typeface="Arial" charset="0"/>
                        <a:cs typeface="Arial" charset="0"/>
                      </a:endParaRPr>
                    </a:p>
                  </a:txBody>
                  <a:tcPr marL="114300" marR="114300" marT="76200" marB="76200" anchor="t">
                    <a:lnL w="12700" cap="flat" cmpd="sng" algn="ctr">
                      <a:solidFill>
                        <a:srgbClr val="C5C5C5"/>
                      </a:solidFill>
                      <a:prstDash val="solid"/>
                      <a:round/>
                      <a:headEnd type="none" w="med" len="med"/>
                      <a:tailEnd type="none" w="med" len="med"/>
                    </a:lnL>
                    <a:lnR w="12700" cap="flat" cmpd="sng" algn="ctr">
                      <a:solidFill>
                        <a:srgbClr val="C5C5C5"/>
                      </a:solidFill>
                      <a:prstDash val="solid"/>
                      <a:round/>
                      <a:headEnd type="none" w="med" len="med"/>
                      <a:tailEnd type="none" w="med" len="med"/>
                    </a:lnR>
                    <a:lnT w="12700" cap="flat" cmpd="sng" algn="ctr">
                      <a:solidFill>
                        <a:srgbClr val="C5C5C5"/>
                      </a:solidFill>
                      <a:prstDash val="solid"/>
                      <a:round/>
                      <a:headEnd type="none" w="med" len="med"/>
                      <a:tailEnd type="none" w="med" len="med"/>
                    </a:lnT>
                    <a:lnB w="12700" cap="flat" cmpd="sng" algn="ctr">
                      <a:solidFill>
                        <a:srgbClr val="C5C5C5"/>
                      </a:solidFill>
                      <a:prstDash val="solid"/>
                      <a:round/>
                      <a:headEnd type="none" w="med" len="med"/>
                      <a:tailEnd type="none" w="med" len="med"/>
                    </a:lnB>
                    <a:solidFill>
                      <a:srgbClr val="FBFAF7"/>
                    </a:solidFill>
                  </a:tcPr>
                </a:tc>
                <a:tc>
                  <a:txBody>
                    <a:bodyPr/>
                    <a:lstStyle/>
                    <a:p>
                      <a:pPr indent="0" marL="0">
                        <a:lnSpc>
                          <a:spcPts val="1820"/>
                        </a:lnSpc>
                        <a:buNone/>
                      </a:pPr>
                      <a:r>
                        <a:rPr lang="en-US" sz="1300" dirty="0">
                          <a:solidFill>
                            <a:srgbClr val="1E2430"/>
                          </a:solidFill>
                          <a:latin typeface="Arial" pitchFamily="34" charset="0"/>
                          <a:ea typeface="Arial" pitchFamily="34" charset="-122"/>
                          <a:cs typeface="Arial" pitchFamily="34" charset="-120"/>
                        </a:rPr>
                        <a:t>Ctrl+C then Ctrl+V</a:t>
                      </a:r>
                      <a:endParaRPr lang="en-US" sz="1300" dirty="0">
                        <a:latin typeface="Arial" charset="0"/>
                        <a:ea typeface="Arial" charset="0"/>
                        <a:cs typeface="Arial" charset="0"/>
                      </a:endParaRPr>
                    </a:p>
                  </a:txBody>
                  <a:tcPr marL="114300" marR="114300" marT="76200" marB="76200" anchor="t">
                    <a:lnL w="12700" cap="flat" cmpd="sng" algn="ctr">
                      <a:solidFill>
                        <a:srgbClr val="C5C5C5"/>
                      </a:solidFill>
                      <a:prstDash val="solid"/>
                      <a:round/>
                      <a:headEnd type="none" w="med" len="med"/>
                      <a:tailEnd type="none" w="med" len="med"/>
                    </a:lnL>
                    <a:lnR w="12700" cap="flat" cmpd="sng" algn="ctr">
                      <a:solidFill>
                        <a:srgbClr val="C5C5C5"/>
                      </a:solidFill>
                      <a:prstDash val="solid"/>
                      <a:round/>
                      <a:headEnd type="none" w="med" len="med"/>
                      <a:tailEnd type="none" w="med" len="med"/>
                    </a:lnR>
                    <a:lnT w="12700" cap="flat" cmpd="sng" algn="ctr">
                      <a:solidFill>
                        <a:srgbClr val="C5C5C5"/>
                      </a:solidFill>
                      <a:prstDash val="solid"/>
                      <a:round/>
                      <a:headEnd type="none" w="med" len="med"/>
                      <a:tailEnd type="none" w="med" len="med"/>
                    </a:lnT>
                    <a:lnB w="12700" cap="flat" cmpd="sng" algn="ctr">
                      <a:solidFill>
                        <a:srgbClr val="C5C5C5"/>
                      </a:solidFill>
                      <a:prstDash val="solid"/>
                      <a:round/>
                      <a:headEnd type="none" w="med" len="med"/>
                      <a:tailEnd type="none" w="med" len="med"/>
                    </a:lnB>
                    <a:solidFill>
                      <a:srgbClr val="FBFAF7"/>
                    </a:solidFill>
                  </a:tcPr>
                </a:tc>
                <a:tc>
                  <a:txBody>
                    <a:bodyPr/>
                    <a:lstStyle/>
                    <a:p>
                      <a:pPr indent="0" marL="0">
                        <a:lnSpc>
                          <a:spcPts val="1820"/>
                        </a:lnSpc>
                        <a:buNone/>
                      </a:pPr>
                      <a:r>
                        <a:rPr lang="en-US" sz="1300" dirty="0">
                          <a:solidFill>
                            <a:srgbClr val="1E2430"/>
                          </a:solidFill>
                          <a:latin typeface="Arial" pitchFamily="34" charset="0"/>
                          <a:ea typeface="Arial" pitchFamily="34" charset="-122"/>
                          <a:cs typeface="Arial" pitchFamily="34" charset="-120"/>
                        </a:rPr>
                        <a:t>Two files now exist. Editing one does not change the other</a:t>
                      </a:r>
                      <a:endParaRPr lang="en-US" sz="1300" dirty="0">
                        <a:latin typeface="Arial" charset="0"/>
                        <a:ea typeface="Arial" charset="0"/>
                        <a:cs typeface="Arial" charset="0"/>
                      </a:endParaRPr>
                    </a:p>
                  </a:txBody>
                  <a:tcPr marL="114300" marR="114300" marT="76200" marB="76200" anchor="t">
                    <a:lnL w="12700" cap="flat" cmpd="sng" algn="ctr">
                      <a:solidFill>
                        <a:srgbClr val="C5C5C5"/>
                      </a:solidFill>
                      <a:prstDash val="solid"/>
                      <a:round/>
                      <a:headEnd type="none" w="med" len="med"/>
                      <a:tailEnd type="none" w="med" len="med"/>
                    </a:lnL>
                    <a:lnR w="12700" cap="flat" cmpd="sng" algn="ctr">
                      <a:solidFill>
                        <a:srgbClr val="C5C5C5"/>
                      </a:solidFill>
                      <a:prstDash val="solid"/>
                      <a:round/>
                      <a:headEnd type="none" w="med" len="med"/>
                      <a:tailEnd type="none" w="med" len="med"/>
                    </a:lnR>
                    <a:lnT w="12700" cap="flat" cmpd="sng" algn="ctr">
                      <a:solidFill>
                        <a:srgbClr val="C5C5C5"/>
                      </a:solidFill>
                      <a:prstDash val="solid"/>
                      <a:round/>
                      <a:headEnd type="none" w="med" len="med"/>
                      <a:tailEnd type="none" w="med" len="med"/>
                    </a:lnT>
                    <a:lnB w="12700" cap="flat" cmpd="sng" algn="ctr">
                      <a:solidFill>
                        <a:srgbClr val="C5C5C5"/>
                      </a:solidFill>
                      <a:prstDash val="solid"/>
                      <a:round/>
                      <a:headEnd type="none" w="med" len="med"/>
                      <a:tailEnd type="none" w="med" len="med"/>
                    </a:lnB>
                    <a:solidFill>
                      <a:srgbClr val="FBFAF7"/>
                    </a:solidFill>
                  </a:tcPr>
                </a:tc>
              </a:tr>
              <a:tr h="627360">
                <a:tc>
                  <a:txBody>
                    <a:bodyPr/>
                    <a:lstStyle/>
                    <a:p>
                      <a:pPr indent="0" marL="0">
                        <a:lnSpc>
                          <a:spcPts val="1820"/>
                        </a:lnSpc>
                        <a:buNone/>
                      </a:pPr>
                      <a:r>
                        <a:rPr lang="en-US" sz="1300" dirty="0">
                          <a:solidFill>
                            <a:srgbClr val="1E2430"/>
                          </a:solidFill>
                          <a:latin typeface="Arial" pitchFamily="34" charset="0"/>
                          <a:ea typeface="Arial" pitchFamily="34" charset="-122"/>
                          <a:cs typeface="Arial" pitchFamily="34" charset="-120"/>
                        </a:rPr>
                        <a:t>Move</a:t>
                      </a:r>
                      <a:endParaRPr lang="en-US" sz="1300" dirty="0">
                        <a:latin typeface="Arial" charset="0"/>
                        <a:ea typeface="Arial" charset="0"/>
                        <a:cs typeface="Arial" charset="0"/>
                      </a:endParaRPr>
                    </a:p>
                  </a:txBody>
                  <a:tcPr marL="114300" marR="114300" marT="76200" marB="76200" anchor="t">
                    <a:lnL w="12700" cap="flat" cmpd="sng" algn="ctr">
                      <a:solidFill>
                        <a:srgbClr val="C5C5C5"/>
                      </a:solidFill>
                      <a:prstDash val="solid"/>
                      <a:round/>
                      <a:headEnd type="none" w="med" len="med"/>
                      <a:tailEnd type="none" w="med" len="med"/>
                    </a:lnL>
                    <a:lnR w="12700" cap="flat" cmpd="sng" algn="ctr">
                      <a:solidFill>
                        <a:srgbClr val="C5C5C5"/>
                      </a:solidFill>
                      <a:prstDash val="solid"/>
                      <a:round/>
                      <a:headEnd type="none" w="med" len="med"/>
                      <a:tailEnd type="none" w="med" len="med"/>
                    </a:lnR>
                    <a:lnT w="12700" cap="flat" cmpd="sng" algn="ctr">
                      <a:solidFill>
                        <a:srgbClr val="C5C5C5"/>
                      </a:solidFill>
                      <a:prstDash val="solid"/>
                      <a:round/>
                      <a:headEnd type="none" w="med" len="med"/>
                      <a:tailEnd type="none" w="med" len="med"/>
                    </a:lnT>
                    <a:lnB w="12700" cap="flat" cmpd="sng" algn="ctr">
                      <a:solidFill>
                        <a:srgbClr val="C5C5C5"/>
                      </a:solidFill>
                      <a:prstDash val="solid"/>
                      <a:round/>
                      <a:headEnd type="none" w="med" len="med"/>
                      <a:tailEnd type="none" w="med" len="med"/>
                    </a:lnB>
                    <a:solidFill>
                      <a:srgbClr val="F4F3EF"/>
                    </a:solidFill>
                  </a:tcPr>
                </a:tc>
                <a:tc>
                  <a:txBody>
                    <a:bodyPr/>
                    <a:lstStyle/>
                    <a:p>
                      <a:pPr indent="0" marL="0">
                        <a:lnSpc>
                          <a:spcPts val="1820"/>
                        </a:lnSpc>
                        <a:buNone/>
                      </a:pPr>
                      <a:r>
                        <a:rPr lang="en-US" sz="1300" dirty="0">
                          <a:solidFill>
                            <a:srgbClr val="1E2430"/>
                          </a:solidFill>
                          <a:latin typeface="Arial" pitchFamily="34" charset="0"/>
                          <a:ea typeface="Arial" pitchFamily="34" charset="-122"/>
                          <a:cs typeface="Arial" pitchFamily="34" charset="-120"/>
                        </a:rPr>
                        <a:t>Ctrl+X then Ctrl+V</a:t>
                      </a:r>
                      <a:endParaRPr lang="en-US" sz="1300" dirty="0">
                        <a:latin typeface="Arial" charset="0"/>
                        <a:ea typeface="Arial" charset="0"/>
                        <a:cs typeface="Arial" charset="0"/>
                      </a:endParaRPr>
                    </a:p>
                  </a:txBody>
                  <a:tcPr marL="114300" marR="114300" marT="76200" marB="76200" anchor="t">
                    <a:lnL w="12700" cap="flat" cmpd="sng" algn="ctr">
                      <a:solidFill>
                        <a:srgbClr val="C5C5C5"/>
                      </a:solidFill>
                      <a:prstDash val="solid"/>
                      <a:round/>
                      <a:headEnd type="none" w="med" len="med"/>
                      <a:tailEnd type="none" w="med" len="med"/>
                    </a:lnL>
                    <a:lnR w="12700" cap="flat" cmpd="sng" algn="ctr">
                      <a:solidFill>
                        <a:srgbClr val="C5C5C5"/>
                      </a:solidFill>
                      <a:prstDash val="solid"/>
                      <a:round/>
                      <a:headEnd type="none" w="med" len="med"/>
                      <a:tailEnd type="none" w="med" len="med"/>
                    </a:lnR>
                    <a:lnT w="12700" cap="flat" cmpd="sng" algn="ctr">
                      <a:solidFill>
                        <a:srgbClr val="C5C5C5"/>
                      </a:solidFill>
                      <a:prstDash val="solid"/>
                      <a:round/>
                      <a:headEnd type="none" w="med" len="med"/>
                      <a:tailEnd type="none" w="med" len="med"/>
                    </a:lnT>
                    <a:lnB w="12700" cap="flat" cmpd="sng" algn="ctr">
                      <a:solidFill>
                        <a:srgbClr val="C5C5C5"/>
                      </a:solidFill>
                      <a:prstDash val="solid"/>
                      <a:round/>
                      <a:headEnd type="none" w="med" len="med"/>
                      <a:tailEnd type="none" w="med" len="med"/>
                    </a:lnB>
                    <a:solidFill>
                      <a:srgbClr val="F4F3EF"/>
                    </a:solidFill>
                  </a:tcPr>
                </a:tc>
                <a:tc>
                  <a:txBody>
                    <a:bodyPr/>
                    <a:lstStyle/>
                    <a:p>
                      <a:pPr indent="0" marL="0">
                        <a:lnSpc>
                          <a:spcPts val="1820"/>
                        </a:lnSpc>
                        <a:buNone/>
                      </a:pPr>
                      <a:r>
                        <a:rPr lang="en-US" sz="1300" dirty="0">
                          <a:solidFill>
                            <a:srgbClr val="1E2430"/>
                          </a:solidFill>
                          <a:latin typeface="Arial" pitchFamily="34" charset="0"/>
                          <a:ea typeface="Arial" pitchFamily="34" charset="-122"/>
                          <a:cs typeface="Arial" pitchFamily="34" charset="-120"/>
                        </a:rPr>
                        <a:t>One file, new location</a:t>
                      </a:r>
                      <a:endParaRPr lang="en-US" sz="1300" dirty="0">
                        <a:latin typeface="Arial" charset="0"/>
                        <a:ea typeface="Arial" charset="0"/>
                        <a:cs typeface="Arial" charset="0"/>
                      </a:endParaRPr>
                    </a:p>
                  </a:txBody>
                  <a:tcPr marL="114300" marR="114300" marT="76200" marB="76200" anchor="t">
                    <a:lnL w="12700" cap="flat" cmpd="sng" algn="ctr">
                      <a:solidFill>
                        <a:srgbClr val="C5C5C5"/>
                      </a:solidFill>
                      <a:prstDash val="solid"/>
                      <a:round/>
                      <a:headEnd type="none" w="med" len="med"/>
                      <a:tailEnd type="none" w="med" len="med"/>
                    </a:lnL>
                    <a:lnR w="12700" cap="flat" cmpd="sng" algn="ctr">
                      <a:solidFill>
                        <a:srgbClr val="C5C5C5"/>
                      </a:solidFill>
                      <a:prstDash val="solid"/>
                      <a:round/>
                      <a:headEnd type="none" w="med" len="med"/>
                      <a:tailEnd type="none" w="med" len="med"/>
                    </a:lnR>
                    <a:lnT w="12700" cap="flat" cmpd="sng" algn="ctr">
                      <a:solidFill>
                        <a:srgbClr val="C5C5C5"/>
                      </a:solidFill>
                      <a:prstDash val="solid"/>
                      <a:round/>
                      <a:headEnd type="none" w="med" len="med"/>
                      <a:tailEnd type="none" w="med" len="med"/>
                    </a:lnT>
                    <a:lnB w="12700" cap="flat" cmpd="sng" algn="ctr">
                      <a:solidFill>
                        <a:srgbClr val="C5C5C5"/>
                      </a:solidFill>
                      <a:prstDash val="solid"/>
                      <a:round/>
                      <a:headEnd type="none" w="med" len="med"/>
                      <a:tailEnd type="none" w="med" len="med"/>
                    </a:lnB>
                    <a:solidFill>
                      <a:srgbClr val="F4F3EF"/>
                    </a:solidFill>
                  </a:tcPr>
                </a:tc>
              </a:tr>
              <a:tr h="627360">
                <a:tc>
                  <a:txBody>
                    <a:bodyPr/>
                    <a:lstStyle/>
                    <a:p>
                      <a:pPr indent="0" marL="0">
                        <a:lnSpc>
                          <a:spcPts val="1820"/>
                        </a:lnSpc>
                        <a:buNone/>
                      </a:pPr>
                      <a:r>
                        <a:rPr lang="en-US" sz="1300" dirty="0">
                          <a:solidFill>
                            <a:srgbClr val="1E2430"/>
                          </a:solidFill>
                          <a:latin typeface="Arial" pitchFamily="34" charset="0"/>
                          <a:ea typeface="Arial" pitchFamily="34" charset="-122"/>
                          <a:cs typeface="Arial" pitchFamily="34" charset="-120"/>
                        </a:rPr>
                        <a:t>Drag</a:t>
                      </a:r>
                      <a:endParaRPr lang="en-US" sz="1300" dirty="0">
                        <a:latin typeface="Arial" charset="0"/>
                        <a:ea typeface="Arial" charset="0"/>
                        <a:cs typeface="Arial" charset="0"/>
                      </a:endParaRPr>
                    </a:p>
                  </a:txBody>
                  <a:tcPr marL="114300" marR="114300" marT="76200" marB="76200" anchor="t">
                    <a:lnL w="12700" cap="flat" cmpd="sng" algn="ctr">
                      <a:solidFill>
                        <a:srgbClr val="C5C5C5"/>
                      </a:solidFill>
                      <a:prstDash val="solid"/>
                      <a:round/>
                      <a:headEnd type="none" w="med" len="med"/>
                      <a:tailEnd type="none" w="med" len="med"/>
                    </a:lnL>
                    <a:lnR w="12700" cap="flat" cmpd="sng" algn="ctr">
                      <a:solidFill>
                        <a:srgbClr val="C5C5C5"/>
                      </a:solidFill>
                      <a:prstDash val="solid"/>
                      <a:round/>
                      <a:headEnd type="none" w="med" len="med"/>
                      <a:tailEnd type="none" w="med" len="med"/>
                    </a:lnR>
                    <a:lnT w="12700" cap="flat" cmpd="sng" algn="ctr">
                      <a:solidFill>
                        <a:srgbClr val="C5C5C5"/>
                      </a:solidFill>
                      <a:prstDash val="solid"/>
                      <a:round/>
                      <a:headEnd type="none" w="med" len="med"/>
                      <a:tailEnd type="none" w="med" len="med"/>
                    </a:lnT>
                    <a:lnB w="12700" cap="flat" cmpd="sng" algn="ctr">
                      <a:solidFill>
                        <a:srgbClr val="C5C5C5"/>
                      </a:solidFill>
                      <a:prstDash val="solid"/>
                      <a:round/>
                      <a:headEnd type="none" w="med" len="med"/>
                      <a:tailEnd type="none" w="med" len="med"/>
                    </a:lnB>
                    <a:solidFill>
                      <a:srgbClr val="FBFAF7"/>
                    </a:solidFill>
                  </a:tcPr>
                </a:tc>
                <a:tc>
                  <a:txBody>
                    <a:bodyPr/>
                    <a:lstStyle/>
                    <a:p>
                      <a:pPr indent="0" marL="0">
                        <a:lnSpc>
                          <a:spcPts val="1820"/>
                        </a:lnSpc>
                        <a:buNone/>
                      </a:pPr>
                      <a:r>
                        <a:rPr lang="en-US" sz="1300" dirty="0">
                          <a:solidFill>
                            <a:srgbClr val="1E2430"/>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114300" marR="114300" marT="76200" marB="76200" anchor="t">
                    <a:lnL w="12700" cap="flat" cmpd="sng" algn="ctr">
                      <a:solidFill>
                        <a:srgbClr val="C5C5C5"/>
                      </a:solidFill>
                      <a:prstDash val="solid"/>
                      <a:round/>
                      <a:headEnd type="none" w="med" len="med"/>
                      <a:tailEnd type="none" w="med" len="med"/>
                    </a:lnL>
                    <a:lnR w="12700" cap="flat" cmpd="sng" algn="ctr">
                      <a:solidFill>
                        <a:srgbClr val="C5C5C5"/>
                      </a:solidFill>
                      <a:prstDash val="solid"/>
                      <a:round/>
                      <a:headEnd type="none" w="med" len="med"/>
                      <a:tailEnd type="none" w="med" len="med"/>
                    </a:lnR>
                    <a:lnT w="12700" cap="flat" cmpd="sng" algn="ctr">
                      <a:solidFill>
                        <a:srgbClr val="C5C5C5"/>
                      </a:solidFill>
                      <a:prstDash val="solid"/>
                      <a:round/>
                      <a:headEnd type="none" w="med" len="med"/>
                      <a:tailEnd type="none" w="med" len="med"/>
                    </a:lnT>
                    <a:lnB w="12700" cap="flat" cmpd="sng" algn="ctr">
                      <a:solidFill>
                        <a:srgbClr val="C5C5C5"/>
                      </a:solidFill>
                      <a:prstDash val="solid"/>
                      <a:round/>
                      <a:headEnd type="none" w="med" len="med"/>
                      <a:tailEnd type="none" w="med" len="med"/>
                    </a:lnB>
                    <a:solidFill>
                      <a:srgbClr val="FBFAF7"/>
                    </a:solidFill>
                  </a:tcPr>
                </a:tc>
                <a:tc>
                  <a:txBody>
                    <a:bodyPr/>
                    <a:lstStyle/>
                    <a:p>
                      <a:pPr indent="0" marL="0">
                        <a:lnSpc>
                          <a:spcPts val="1820"/>
                        </a:lnSpc>
                        <a:buNone/>
                      </a:pPr>
                      <a:r>
                        <a:rPr lang="en-US" sz="1300" dirty="0">
                          <a:solidFill>
                            <a:srgbClr val="1E2430"/>
                          </a:solidFill>
                          <a:latin typeface="Arial" pitchFamily="34" charset="0"/>
                          <a:ea typeface="Arial" pitchFamily="34" charset="-122"/>
                          <a:cs typeface="Arial" pitchFamily="34" charset="-120"/>
                        </a:rPr>
                        <a:t>Same drive: moves. Different drive or a USB: copies</a:t>
                      </a:r>
                      <a:endParaRPr lang="en-US" sz="1300" dirty="0">
                        <a:latin typeface="Arial" charset="0"/>
                        <a:ea typeface="Arial" charset="0"/>
                        <a:cs typeface="Arial" charset="0"/>
                      </a:endParaRPr>
                    </a:p>
                  </a:txBody>
                  <a:tcPr marL="114300" marR="114300" marT="76200" marB="76200" anchor="t">
                    <a:lnL w="12700" cap="flat" cmpd="sng" algn="ctr">
                      <a:solidFill>
                        <a:srgbClr val="C5C5C5"/>
                      </a:solidFill>
                      <a:prstDash val="solid"/>
                      <a:round/>
                      <a:headEnd type="none" w="med" len="med"/>
                      <a:tailEnd type="none" w="med" len="med"/>
                    </a:lnL>
                    <a:lnR w="12700" cap="flat" cmpd="sng" algn="ctr">
                      <a:solidFill>
                        <a:srgbClr val="C5C5C5"/>
                      </a:solidFill>
                      <a:prstDash val="solid"/>
                      <a:round/>
                      <a:headEnd type="none" w="med" len="med"/>
                      <a:tailEnd type="none" w="med" len="med"/>
                    </a:lnR>
                    <a:lnT w="12700" cap="flat" cmpd="sng" algn="ctr">
                      <a:solidFill>
                        <a:srgbClr val="C5C5C5"/>
                      </a:solidFill>
                      <a:prstDash val="solid"/>
                      <a:round/>
                      <a:headEnd type="none" w="med" len="med"/>
                      <a:tailEnd type="none" w="med" len="med"/>
                    </a:lnT>
                    <a:lnB w="12700" cap="flat" cmpd="sng" algn="ctr">
                      <a:solidFill>
                        <a:srgbClr val="C5C5C5"/>
                      </a:solidFill>
                      <a:prstDash val="solid"/>
                      <a:round/>
                      <a:headEnd type="none" w="med" len="med"/>
                      <a:tailEnd type="none" w="med" len="med"/>
                    </a:lnB>
                    <a:solidFill>
                      <a:srgbClr val="FBFAF7"/>
                    </a:solidFill>
                  </a:tcPr>
                </a:tc>
              </a:tr>
              <a:tr h="627360">
                <a:tc>
                  <a:txBody>
                    <a:bodyPr/>
                    <a:lstStyle/>
                    <a:p>
                      <a:pPr indent="0" marL="0">
                        <a:lnSpc>
                          <a:spcPts val="1820"/>
                        </a:lnSpc>
                        <a:buNone/>
                      </a:pPr>
                      <a:r>
                        <a:rPr lang="en-US" sz="1300" dirty="0">
                          <a:solidFill>
                            <a:srgbClr val="1E2430"/>
                          </a:solidFill>
                          <a:latin typeface="Arial" pitchFamily="34" charset="0"/>
                          <a:ea typeface="Arial" pitchFamily="34" charset="-122"/>
                          <a:cs typeface="Arial" pitchFamily="34" charset="-120"/>
                        </a:rPr>
                        <a:t>Force it</a:t>
                      </a:r>
                      <a:endParaRPr lang="en-US" sz="1300" dirty="0">
                        <a:latin typeface="Arial" charset="0"/>
                        <a:ea typeface="Arial" charset="0"/>
                        <a:cs typeface="Arial" charset="0"/>
                      </a:endParaRPr>
                    </a:p>
                  </a:txBody>
                  <a:tcPr marL="114300" marR="114300" marT="76200" marB="76200" anchor="t">
                    <a:lnL w="12700" cap="flat" cmpd="sng" algn="ctr">
                      <a:solidFill>
                        <a:srgbClr val="C5C5C5"/>
                      </a:solidFill>
                      <a:prstDash val="solid"/>
                      <a:round/>
                      <a:headEnd type="none" w="med" len="med"/>
                      <a:tailEnd type="none" w="med" len="med"/>
                    </a:lnL>
                    <a:lnR w="12700" cap="flat" cmpd="sng" algn="ctr">
                      <a:solidFill>
                        <a:srgbClr val="C5C5C5"/>
                      </a:solidFill>
                      <a:prstDash val="solid"/>
                      <a:round/>
                      <a:headEnd type="none" w="med" len="med"/>
                      <a:tailEnd type="none" w="med" len="med"/>
                    </a:lnR>
                    <a:lnT w="12700" cap="flat" cmpd="sng" algn="ctr">
                      <a:solidFill>
                        <a:srgbClr val="C5C5C5"/>
                      </a:solidFill>
                      <a:prstDash val="solid"/>
                      <a:round/>
                      <a:headEnd type="none" w="med" len="med"/>
                      <a:tailEnd type="none" w="med" len="med"/>
                    </a:lnT>
                    <a:lnB w="12700" cap="flat" cmpd="sng" algn="ctr">
                      <a:solidFill>
                        <a:srgbClr val="C5C5C5"/>
                      </a:solidFill>
                      <a:prstDash val="solid"/>
                      <a:round/>
                      <a:headEnd type="none" w="med" len="med"/>
                      <a:tailEnd type="none" w="med" len="med"/>
                    </a:lnB>
                    <a:solidFill>
                      <a:srgbClr val="F4F3EF"/>
                    </a:solidFill>
                  </a:tcPr>
                </a:tc>
                <a:tc>
                  <a:txBody>
                    <a:bodyPr/>
                    <a:lstStyle/>
                    <a:p>
                      <a:pPr indent="0" marL="0">
                        <a:lnSpc>
                          <a:spcPts val="1820"/>
                        </a:lnSpc>
                        <a:buNone/>
                      </a:pPr>
                      <a:r>
                        <a:rPr lang="en-US" sz="1300" dirty="0">
                          <a:solidFill>
                            <a:srgbClr val="1E2430"/>
                          </a:solidFill>
                          <a:latin typeface="Arial" pitchFamily="34" charset="0"/>
                          <a:ea typeface="Arial" pitchFamily="34" charset="-122"/>
                          <a:cs typeface="Arial" pitchFamily="34" charset="-120"/>
                        </a:rPr>
                        <a:t>Ctrl+drag / Shift+drag</a:t>
                      </a:r>
                      <a:endParaRPr lang="en-US" sz="1300" dirty="0">
                        <a:latin typeface="Arial" charset="0"/>
                        <a:ea typeface="Arial" charset="0"/>
                        <a:cs typeface="Arial" charset="0"/>
                      </a:endParaRPr>
                    </a:p>
                  </a:txBody>
                  <a:tcPr marL="114300" marR="114300" marT="76200" marB="76200" anchor="t">
                    <a:lnL w="12700" cap="flat" cmpd="sng" algn="ctr">
                      <a:solidFill>
                        <a:srgbClr val="C5C5C5"/>
                      </a:solidFill>
                      <a:prstDash val="solid"/>
                      <a:round/>
                      <a:headEnd type="none" w="med" len="med"/>
                      <a:tailEnd type="none" w="med" len="med"/>
                    </a:lnL>
                    <a:lnR w="12700" cap="flat" cmpd="sng" algn="ctr">
                      <a:solidFill>
                        <a:srgbClr val="C5C5C5"/>
                      </a:solidFill>
                      <a:prstDash val="solid"/>
                      <a:round/>
                      <a:headEnd type="none" w="med" len="med"/>
                      <a:tailEnd type="none" w="med" len="med"/>
                    </a:lnR>
                    <a:lnT w="12700" cap="flat" cmpd="sng" algn="ctr">
                      <a:solidFill>
                        <a:srgbClr val="C5C5C5"/>
                      </a:solidFill>
                      <a:prstDash val="solid"/>
                      <a:round/>
                      <a:headEnd type="none" w="med" len="med"/>
                      <a:tailEnd type="none" w="med" len="med"/>
                    </a:lnT>
                    <a:lnB w="12700" cap="flat" cmpd="sng" algn="ctr">
                      <a:solidFill>
                        <a:srgbClr val="C5C5C5"/>
                      </a:solidFill>
                      <a:prstDash val="solid"/>
                      <a:round/>
                      <a:headEnd type="none" w="med" len="med"/>
                      <a:tailEnd type="none" w="med" len="med"/>
                    </a:lnB>
                    <a:solidFill>
                      <a:srgbClr val="F4F3EF"/>
                    </a:solidFill>
                  </a:tcPr>
                </a:tc>
                <a:tc>
                  <a:txBody>
                    <a:bodyPr/>
                    <a:lstStyle/>
                    <a:p>
                      <a:pPr indent="0" marL="0">
                        <a:lnSpc>
                          <a:spcPts val="1820"/>
                        </a:lnSpc>
                        <a:buNone/>
                      </a:pPr>
                      <a:r>
                        <a:rPr lang="en-US" sz="1300" dirty="0">
                          <a:solidFill>
                            <a:srgbClr val="1E2430"/>
                          </a:solidFill>
                          <a:latin typeface="Arial" pitchFamily="34" charset="0"/>
                          <a:ea typeface="Arial" pitchFamily="34" charset="-122"/>
                          <a:cs typeface="Arial" pitchFamily="34" charset="-120"/>
                        </a:rPr>
                        <a:t>Ctrl+drag copies. Shift+drag moves</a:t>
                      </a:r>
                      <a:endParaRPr lang="en-US" sz="1300" dirty="0">
                        <a:latin typeface="Arial" charset="0"/>
                        <a:ea typeface="Arial" charset="0"/>
                        <a:cs typeface="Arial" charset="0"/>
                      </a:endParaRPr>
                    </a:p>
                  </a:txBody>
                  <a:tcPr marL="114300" marR="114300" marT="76200" marB="76200" anchor="t">
                    <a:lnL w="12700" cap="flat" cmpd="sng" algn="ctr">
                      <a:solidFill>
                        <a:srgbClr val="C5C5C5"/>
                      </a:solidFill>
                      <a:prstDash val="solid"/>
                      <a:round/>
                      <a:headEnd type="none" w="med" len="med"/>
                      <a:tailEnd type="none" w="med" len="med"/>
                    </a:lnL>
                    <a:lnR w="12700" cap="flat" cmpd="sng" algn="ctr">
                      <a:solidFill>
                        <a:srgbClr val="C5C5C5"/>
                      </a:solidFill>
                      <a:prstDash val="solid"/>
                      <a:round/>
                      <a:headEnd type="none" w="med" len="med"/>
                      <a:tailEnd type="none" w="med" len="med"/>
                    </a:lnR>
                    <a:lnT w="12700" cap="flat" cmpd="sng" algn="ctr">
                      <a:solidFill>
                        <a:srgbClr val="C5C5C5"/>
                      </a:solidFill>
                      <a:prstDash val="solid"/>
                      <a:round/>
                      <a:headEnd type="none" w="med" len="med"/>
                      <a:tailEnd type="none" w="med" len="med"/>
                    </a:lnT>
                    <a:lnB w="12700" cap="flat" cmpd="sng" algn="ctr">
                      <a:solidFill>
                        <a:srgbClr val="C5C5C5"/>
                      </a:solidFill>
                      <a:prstDash val="solid"/>
                      <a:round/>
                      <a:headEnd type="none" w="med" len="med"/>
                      <a:tailEnd type="none" w="med" len="med"/>
                    </a:lnB>
                    <a:solidFill>
                      <a:srgbClr val="F4F3EF"/>
                    </a:solidFill>
                  </a:tcPr>
                </a:tc>
              </a:tr>
            </a:tbl>
          </a:graphicData>
        </a:graphic>
      </p:graphicFrame>
      <p:sp>
        <p:nvSpPr>
          <p:cNvPr id="4" name="Shape 1"/>
          <p:cNvSpPr/>
          <p:nvPr/>
        </p:nvSpPr>
        <p:spPr>
          <a:xfrm>
            <a:off x="815975" y="4488706"/>
            <a:ext cx="5694511" cy="859730"/>
          </a:xfrm>
          <a:prstGeom prst="roundRect">
            <a:avLst>
              <a:gd name="adj" fmla="val 9971"/>
            </a:avLst>
          </a:prstGeom>
          <a:solidFill>
            <a:srgbClr val="FBFAF7"/>
          </a:solidFill>
          <a:ln w="6350">
            <a:solidFill>
              <a:srgbClr val="DCD8CF"/>
            </a:solidFill>
            <a:prstDash val="solid"/>
          </a:ln>
        </p:spPr>
      </p:sp>
      <p:sp>
        <p:nvSpPr>
          <p:cNvPr id="5" name="Text 2"/>
          <p:cNvSpPr/>
          <p:nvPr/>
        </p:nvSpPr>
        <p:spPr>
          <a:xfrm>
            <a:off x="1022350" y="4669681"/>
            <a:ext cx="5440214" cy="52318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B5453A"/>
                </a:solidFill>
                <a:latin typeface="Arial" pitchFamily="34" charset="0"/>
                <a:ea typeface="Arial" pitchFamily="34" charset="-122"/>
                <a:cs typeface="Arial" pitchFamily="34" charset="-120"/>
              </a:rPr>
              <a:t>"The action can't be completed because the file is open."</a:t>
            </a:r>
            <a:r>
              <a:rPr lang="en-US" sz="1400" dirty="0">
                <a:solidFill>
                  <a:srgbClr val="1E2430"/>
                </a:solidFill>
                <a:latin typeface="Arial" pitchFamily="34" charset="0"/>
                <a:ea typeface="Arial" pitchFamily="34" charset="-122"/>
                <a:cs typeface="Arial" pitchFamily="34" charset="-120"/>
              </a:rPr>
              <a:t> Word still has it. Close the file, then move it.</a:t>
            </a:r>
            <a:endParaRPr lang="en-US" sz="1400" dirty="0"/>
          </a:p>
        </p:txBody>
      </p:sp>
      <p:sp>
        <p:nvSpPr>
          <p:cNvPr id="6" name="Shape 3"/>
          <p:cNvSpPr/>
          <p:nvPr/>
        </p:nvSpPr>
        <p:spPr>
          <a:xfrm>
            <a:off x="6821636" y="1443335"/>
            <a:ext cx="4554389" cy="1898501"/>
          </a:xfrm>
          <a:prstGeom prst="roundRect">
            <a:avLst>
              <a:gd name="adj" fmla="val 4515"/>
            </a:avLst>
          </a:prstGeom>
          <a:solidFill>
            <a:srgbClr val="FBFAF7"/>
          </a:solidFill>
          <a:ln w="6350">
            <a:solidFill>
              <a:srgbClr val="DCD8CF"/>
            </a:solidFill>
            <a:prstDash val="solid"/>
          </a:ln>
        </p:spPr>
      </p:sp>
      <p:sp>
        <p:nvSpPr>
          <p:cNvPr id="7" name="Text 4"/>
          <p:cNvSpPr/>
          <p:nvPr/>
        </p:nvSpPr>
        <p:spPr>
          <a:xfrm>
            <a:off x="7028011" y="1624310"/>
            <a:ext cx="4265888"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E2430"/>
                </a:solidFill>
                <a:latin typeface="Arial" pitchFamily="34" charset="0"/>
                <a:ea typeface="Arial" pitchFamily="34" charset="-122"/>
                <a:cs typeface="Arial" pitchFamily="34" charset="-120"/>
              </a:rPr>
              <a:t>Selecting several</a:t>
            </a:r>
            <a:endParaRPr lang="en-US" sz="1800" dirty="0"/>
          </a:p>
        </p:txBody>
      </p:sp>
      <p:sp>
        <p:nvSpPr>
          <p:cNvPr id="8" name="Text 5"/>
          <p:cNvSpPr/>
          <p:nvPr/>
        </p:nvSpPr>
        <p:spPr>
          <a:xfrm>
            <a:off x="7028011" y="1987500"/>
            <a:ext cx="4265888" cy="52318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E2430"/>
                </a:solidFill>
                <a:latin typeface="Arial" pitchFamily="34" charset="0"/>
                <a:ea typeface="Arial" pitchFamily="34" charset="-122"/>
                <a:cs typeface="Arial" pitchFamily="34" charset="-120"/>
              </a:rPr>
              <a:t>Shift+click</a:t>
            </a:r>
            <a:r>
              <a:rPr lang="en-US" sz="1400" dirty="0">
                <a:solidFill>
                  <a:srgbClr val="1E2430"/>
                </a:solidFill>
                <a:latin typeface="Arial" pitchFamily="34" charset="0"/>
                <a:ea typeface="Arial" pitchFamily="34" charset="-122"/>
                <a:cs typeface="Arial" pitchFamily="34" charset="-120"/>
              </a:rPr>
              <a:t> for a run of files: click the first, then the last.</a:t>
            </a:r>
            <a:endParaRPr lang="en-US" sz="1400" dirty="0"/>
          </a:p>
        </p:txBody>
      </p:sp>
      <p:sp>
        <p:nvSpPr>
          <p:cNvPr id="9" name="Text 6"/>
          <p:cNvSpPr/>
          <p:nvPr/>
        </p:nvSpPr>
        <p:spPr>
          <a:xfrm>
            <a:off x="7028011" y="2574181"/>
            <a:ext cx="4265888"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E2430"/>
                </a:solidFill>
                <a:latin typeface="Arial" pitchFamily="34" charset="0"/>
                <a:ea typeface="Arial" pitchFamily="34" charset="-122"/>
                <a:cs typeface="Arial" pitchFamily="34" charset="-120"/>
              </a:rPr>
              <a:t>Ctrl+click</a:t>
            </a:r>
            <a:r>
              <a:rPr lang="en-US" sz="1400" dirty="0">
                <a:solidFill>
                  <a:srgbClr val="1E2430"/>
                </a:solidFill>
                <a:latin typeface="Arial" pitchFamily="34" charset="0"/>
                <a:ea typeface="Arial" pitchFamily="34" charset="-122"/>
                <a:cs typeface="Arial" pitchFamily="34" charset="-120"/>
              </a:rPr>
              <a:t> to pick scattered files one at a time.</a:t>
            </a:r>
            <a:endParaRPr lang="en-US" sz="1400" dirty="0"/>
          </a:p>
        </p:txBody>
      </p:sp>
      <p:sp>
        <p:nvSpPr>
          <p:cNvPr id="10" name="Text 7"/>
          <p:cNvSpPr/>
          <p:nvPr/>
        </p:nvSpPr>
        <p:spPr>
          <a:xfrm>
            <a:off x="7028011" y="2911971"/>
            <a:ext cx="4265888"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E2430"/>
                </a:solidFill>
                <a:latin typeface="Arial" pitchFamily="34" charset="0"/>
                <a:ea typeface="Arial" pitchFamily="34" charset="-122"/>
                <a:cs typeface="Arial" pitchFamily="34" charset="-120"/>
              </a:rPr>
              <a:t>Ctrl+A</a:t>
            </a:r>
            <a:r>
              <a:rPr lang="en-US" sz="1400" dirty="0">
                <a:solidFill>
                  <a:srgbClr val="1E2430"/>
                </a:solidFill>
                <a:latin typeface="Arial" pitchFamily="34" charset="0"/>
                <a:ea typeface="Arial" pitchFamily="34" charset="-122"/>
                <a:cs typeface="Arial" pitchFamily="34" charset="-120"/>
              </a:rPr>
              <a:t> for everything in the folder.</a:t>
            </a:r>
            <a:endParaRPr lang="en-US" sz="1400" dirty="0"/>
          </a:p>
        </p:txBody>
      </p:sp>
      <p:sp>
        <p:nvSpPr>
          <p:cNvPr id="11" name="Shape 8"/>
          <p:cNvSpPr/>
          <p:nvPr/>
        </p:nvSpPr>
        <p:spPr>
          <a:xfrm>
            <a:off x="6821636" y="3475186"/>
            <a:ext cx="4554389" cy="859730"/>
          </a:xfrm>
          <a:prstGeom prst="roundRect">
            <a:avLst>
              <a:gd name="adj" fmla="val 9971"/>
            </a:avLst>
          </a:prstGeom>
          <a:solidFill>
            <a:srgbClr val="E3ECEA"/>
          </a:solidFill>
          <a:ln w="6350">
            <a:solidFill>
              <a:srgbClr val="DCD8CF"/>
            </a:solidFill>
            <a:prstDash val="solid"/>
          </a:ln>
        </p:spPr>
      </p:sp>
      <p:sp>
        <p:nvSpPr>
          <p:cNvPr id="12" name="Text 9"/>
          <p:cNvSpPr/>
          <p:nvPr/>
        </p:nvSpPr>
        <p:spPr>
          <a:xfrm>
            <a:off x="7028011" y="3656161"/>
            <a:ext cx="4265888"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E2430"/>
                </a:solidFill>
                <a:latin typeface="Arial" pitchFamily="34" charset="0"/>
                <a:ea typeface="Arial" pitchFamily="34" charset="-122"/>
                <a:cs typeface="Arial" pitchFamily="34" charset="-120"/>
              </a:rPr>
              <a:t>Copy a file </a:t>
            </a:r>
            <a:r>
              <a:rPr lang="en-US" sz="1400" b="1" dirty="0">
                <a:solidFill>
                  <a:srgbClr val="1E2430"/>
                </a:solidFill>
                <a:latin typeface="Arial" pitchFamily="34" charset="0"/>
                <a:ea typeface="Arial" pitchFamily="34" charset="-122"/>
                <a:cs typeface="Arial" pitchFamily="34" charset="-120"/>
              </a:rPr>
              <a:t>before</a:t>
            </a:r>
            <a:r>
              <a:rPr lang="en-US" sz="1400" dirty="0">
                <a:solidFill>
                  <a:srgbClr val="1E2430"/>
                </a:solidFill>
                <a:latin typeface="Arial" pitchFamily="34" charset="0"/>
                <a:ea typeface="Arial" pitchFamily="34" charset="-122"/>
                <a:cs typeface="Arial" pitchFamily="34" charset="-120"/>
              </a:rPr>
              <a:t> a risky edit. It is the cheapest backup there is.</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3EF"/>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F6E6E"/>
                </a:solidFill>
                <a:latin typeface="Arial" pitchFamily="34" charset="0"/>
                <a:ea typeface="Arial" pitchFamily="34" charset="-122"/>
                <a:cs typeface="Arial" pitchFamily="34" charset="-120"/>
              </a:rPr>
              <a:t>TURN THIS ON FIRST</a:t>
            </a:r>
            <a:endParaRPr lang="en-US" sz="1200" dirty="0"/>
          </a:p>
        </p:txBody>
      </p:sp>
      <p:sp>
        <p:nvSpPr>
          <p:cNvPr id="3" name="Text 1"/>
          <p:cNvSpPr/>
          <p:nvPr/>
        </p:nvSpPr>
        <p:spPr>
          <a:xfrm>
            <a:off x="812800" y="1000720"/>
            <a:ext cx="10883392" cy="500360"/>
          </a:xfrm>
          <a:prstGeom prst="rect">
            <a:avLst/>
          </a:prstGeom>
          <a:noFill/>
          <a:ln/>
        </p:spPr>
        <p:txBody>
          <a:bodyPr wrap="square" lIns="0" tIns="0" rIns="0" bIns="0" rtlCol="0" anchor="t">
            <a:normAutofit/>
          </a:bodyPr>
          <a:lstStyle/>
          <a:p>
            <a:pPr algn="l" indent="0" marL="0">
              <a:lnSpc>
                <a:spcPts val="3740"/>
              </a:lnSpc>
              <a:buNone/>
            </a:pPr>
            <a:r>
              <a:rPr lang="en-US" sz="3400" b="1" dirty="0">
                <a:solidFill>
                  <a:srgbClr val="1E2430"/>
                </a:solidFill>
                <a:latin typeface="Arial" pitchFamily="34" charset="0"/>
                <a:ea typeface="Arial" pitchFamily="34" charset="-122"/>
                <a:cs typeface="Arial" pitchFamily="34" charset="-120"/>
              </a:rPr>
              <a:t>The extension decides which app opens it</a:t>
            </a:r>
            <a:endParaRPr lang="en-US" sz="3400" dirty="0"/>
          </a:p>
        </p:txBody>
      </p:sp>
      <p:sp>
        <p:nvSpPr>
          <p:cNvPr id="4" name="Shape 2"/>
          <p:cNvSpPr/>
          <p:nvPr/>
        </p:nvSpPr>
        <p:spPr>
          <a:xfrm>
            <a:off x="815975" y="1732855"/>
            <a:ext cx="5124450" cy="1001961"/>
          </a:xfrm>
          <a:prstGeom prst="roundRect">
            <a:avLst>
              <a:gd name="adj" fmla="val 8556"/>
            </a:avLst>
          </a:prstGeom>
          <a:solidFill>
            <a:srgbClr val="FBFAF7"/>
          </a:solidFill>
          <a:ln w="6350">
            <a:solidFill>
              <a:srgbClr val="DCD8CF"/>
            </a:solidFill>
            <a:prstDash val="solid"/>
          </a:ln>
        </p:spPr>
      </p:sp>
      <p:sp>
        <p:nvSpPr>
          <p:cNvPr id="5" name="Text 3"/>
          <p:cNvSpPr/>
          <p:nvPr/>
        </p:nvSpPr>
        <p:spPr>
          <a:xfrm>
            <a:off x="1022350" y="1913830"/>
            <a:ext cx="485305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472"/>
                </a:solidFill>
                <a:latin typeface="Arial" pitchFamily="34" charset="0"/>
                <a:ea typeface="Arial" pitchFamily="34" charset="-122"/>
                <a:cs typeface="Arial" pitchFamily="34" charset="-120"/>
              </a:rPr>
              <a:t>What you see with extensions hidden</a:t>
            </a:r>
            <a:endParaRPr lang="en-US" sz="1200" dirty="0"/>
          </a:p>
        </p:txBody>
      </p:sp>
      <p:sp>
        <p:nvSpPr>
          <p:cNvPr id="6" name="Text 4"/>
          <p:cNvSpPr/>
          <p:nvPr/>
        </p:nvSpPr>
        <p:spPr>
          <a:xfrm>
            <a:off x="1022350" y="2216051"/>
            <a:ext cx="4853051" cy="363190"/>
          </a:xfrm>
          <a:prstGeom prst="rect">
            <a:avLst/>
          </a:prstGeom>
          <a:noFill/>
          <a:ln/>
        </p:spPr>
        <p:txBody>
          <a:bodyPr wrap="square" lIns="0" tIns="0" rIns="0" bIns="0" rtlCol="0" anchor="t">
            <a:normAutofit/>
          </a:bodyPr>
          <a:lstStyle/>
          <a:p>
            <a:pPr algn="l" indent="0" marL="0">
              <a:lnSpc>
                <a:spcPts val="2660"/>
              </a:lnSpc>
              <a:buNone/>
            </a:pPr>
            <a:r>
              <a:rPr lang="en-US" sz="1900" b="1" dirty="0">
                <a:solidFill>
                  <a:srgbClr val="1E2430"/>
                </a:solidFill>
                <a:latin typeface="Courier New" pitchFamily="34" charset="0"/>
                <a:ea typeface="Courier New" pitchFamily="34" charset="-122"/>
                <a:cs typeface="Courier New" pitchFamily="34" charset="-120"/>
              </a:rPr>
              <a:t>Scholarship_form</a:t>
            </a:r>
            <a:endParaRPr lang="en-US" sz="1900" dirty="0"/>
          </a:p>
        </p:txBody>
      </p:sp>
      <p:sp>
        <p:nvSpPr>
          <p:cNvPr id="7" name="Shape 5"/>
          <p:cNvSpPr/>
          <p:nvPr/>
        </p:nvSpPr>
        <p:spPr>
          <a:xfrm>
            <a:off x="822325" y="2874516"/>
            <a:ext cx="5111750" cy="1334691"/>
          </a:xfrm>
          <a:prstGeom prst="roundRect">
            <a:avLst>
              <a:gd name="adj" fmla="val 5947"/>
            </a:avLst>
          </a:prstGeom>
          <a:solidFill>
            <a:srgbClr val="FBFAF7"/>
          </a:solidFill>
          <a:ln w="19050">
            <a:solidFill>
              <a:srgbClr val="B5453A"/>
            </a:solidFill>
            <a:prstDash val="solid"/>
          </a:ln>
        </p:spPr>
      </p:sp>
      <p:sp>
        <p:nvSpPr>
          <p:cNvPr id="8" name="Text 6"/>
          <p:cNvSpPr/>
          <p:nvPr/>
        </p:nvSpPr>
        <p:spPr>
          <a:xfrm>
            <a:off x="1035050" y="3061841"/>
            <a:ext cx="482688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472"/>
                </a:solidFill>
                <a:latin typeface="Arial" pitchFamily="34" charset="0"/>
                <a:ea typeface="Arial" pitchFamily="34" charset="-122"/>
                <a:cs typeface="Arial" pitchFamily="34" charset="-120"/>
              </a:rPr>
              <a:t>What it really is</a:t>
            </a:r>
            <a:endParaRPr lang="en-US" sz="1200" dirty="0"/>
          </a:p>
        </p:txBody>
      </p:sp>
      <p:sp>
        <p:nvSpPr>
          <p:cNvPr id="9" name="Text 7"/>
          <p:cNvSpPr/>
          <p:nvPr/>
        </p:nvSpPr>
        <p:spPr>
          <a:xfrm>
            <a:off x="1035050" y="3364061"/>
            <a:ext cx="4826889" cy="363190"/>
          </a:xfrm>
          <a:prstGeom prst="rect">
            <a:avLst/>
          </a:prstGeom>
          <a:noFill/>
          <a:ln/>
        </p:spPr>
        <p:txBody>
          <a:bodyPr wrap="square" lIns="0" tIns="0" rIns="0" bIns="0" rtlCol="0" anchor="t">
            <a:normAutofit/>
          </a:bodyPr>
          <a:lstStyle/>
          <a:p>
            <a:pPr algn="l" indent="0" marL="0">
              <a:lnSpc>
                <a:spcPts val="2660"/>
              </a:lnSpc>
              <a:buNone/>
            </a:pPr>
            <a:r>
              <a:rPr lang="en-US" sz="1900" b="1" dirty="0">
                <a:solidFill>
                  <a:srgbClr val="B5453A"/>
                </a:solidFill>
                <a:latin typeface="Courier New" pitchFamily="34" charset="0"/>
                <a:ea typeface="Courier New" pitchFamily="34" charset="-122"/>
                <a:cs typeface="Courier New" pitchFamily="34" charset="-120"/>
              </a:rPr>
              <a:t>Scholarship_form.exe</a:t>
            </a:r>
            <a:endParaRPr lang="en-US" sz="1900" dirty="0"/>
          </a:p>
        </p:txBody>
      </p:sp>
      <p:sp>
        <p:nvSpPr>
          <p:cNvPr id="10" name="Text 8"/>
          <p:cNvSpPr/>
          <p:nvPr/>
        </p:nvSpPr>
        <p:spPr>
          <a:xfrm>
            <a:off x="1035050" y="3790752"/>
            <a:ext cx="4826889"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5453A"/>
                </a:solidFill>
                <a:latin typeface="Arial" pitchFamily="34" charset="0"/>
                <a:ea typeface="Arial" pitchFamily="34" charset="-122"/>
                <a:cs typeface="Arial" pitchFamily="34" charset="-120"/>
              </a:rPr>
              <a:t>A program, not a document.</a:t>
            </a:r>
            <a:endParaRPr lang="en-US" sz="1300" dirty="0"/>
          </a:p>
        </p:txBody>
      </p:sp>
      <p:sp>
        <p:nvSpPr>
          <p:cNvPr id="11" name="Text 9"/>
          <p:cNvSpPr/>
          <p:nvPr/>
        </p:nvSpPr>
        <p:spPr>
          <a:xfrm>
            <a:off x="812800" y="4345732"/>
            <a:ext cx="5284724"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E2430"/>
                </a:solidFill>
                <a:latin typeface="Arial" pitchFamily="34" charset="0"/>
                <a:ea typeface="Arial" pitchFamily="34" charset="-122"/>
                <a:cs typeface="Arial" pitchFamily="34" charset="-120"/>
              </a:rPr>
              <a:t>File Explorer › </a:t>
            </a:r>
            <a:r>
              <a:rPr lang="en-US" sz="1400" b="1" dirty="0">
                <a:solidFill>
                  <a:srgbClr val="1E2430"/>
                </a:solidFill>
                <a:latin typeface="Arial" pitchFamily="34" charset="0"/>
                <a:ea typeface="Arial" pitchFamily="34" charset="-122"/>
                <a:cs typeface="Arial" pitchFamily="34" charset="-120"/>
              </a:rPr>
              <a:t>View › Show › File name extensions</a:t>
            </a:r>
            <a:endParaRPr lang="en-US" sz="14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248400" y="1729680"/>
          <a:ext cx="5130800" cy="3004741"/>
        </p:xfrm>
        <a:graphic>
          <a:graphicData uri="http://schemas.openxmlformats.org/drawingml/2006/table">
            <a:tbl>
              <a:tblPr/>
              <a:tblGrid>
                <a:gridCol w="1744472"/>
                <a:gridCol w="3386328"/>
              </a:tblGrid>
              <a:tr h="396230">
                <a:tc>
                  <a:txBody>
                    <a:bodyPr/>
                    <a:lstStyle/>
                    <a:p>
                      <a:pPr indent="0" marL="0">
                        <a:lnSpc>
                          <a:spcPts val="1820"/>
                        </a:lnSpc>
                        <a:buNone/>
                      </a:pPr>
                      <a:r>
                        <a:rPr lang="en-US" sz="1300" b="1" dirty="0">
                          <a:solidFill>
                            <a:srgbClr val="1E2430"/>
                          </a:solidFill>
                          <a:latin typeface="Arial" pitchFamily="34" charset="0"/>
                          <a:ea typeface="Arial" pitchFamily="34" charset="-122"/>
                          <a:cs typeface="Arial" pitchFamily="34" charset="-120"/>
                        </a:rPr>
                        <a:t>Extension</a:t>
                      </a:r>
                      <a:endParaRPr lang="en-US" sz="1300" dirty="0">
                        <a:latin typeface="Arial" charset="0"/>
                        <a:ea typeface="Arial" charset="0"/>
                        <a:cs typeface="Arial" charset="0"/>
                      </a:endParaRPr>
                    </a:p>
                  </a:txBody>
                  <a:tcPr marL="114300" marR="114300" marT="76200" marB="76200" anchor="t">
                    <a:lnL w="12700" cap="flat" cmpd="sng" algn="ctr">
                      <a:solidFill>
                        <a:srgbClr val="C5C5C5"/>
                      </a:solidFill>
                      <a:prstDash val="solid"/>
                      <a:round/>
                      <a:headEnd type="none" w="med" len="med"/>
                      <a:tailEnd type="none" w="med" len="med"/>
                    </a:lnL>
                    <a:lnR w="12700" cap="flat" cmpd="sng" algn="ctr">
                      <a:solidFill>
                        <a:srgbClr val="C5C5C5"/>
                      </a:solidFill>
                      <a:prstDash val="solid"/>
                      <a:round/>
                      <a:headEnd type="none" w="med" len="med"/>
                      <a:tailEnd type="none" w="med" len="med"/>
                    </a:lnR>
                    <a:lnT w="12700" cap="flat" cmpd="sng" algn="ctr">
                      <a:solidFill>
                        <a:srgbClr val="C5C5C5"/>
                      </a:solidFill>
                      <a:prstDash val="solid"/>
                      <a:round/>
                      <a:headEnd type="none" w="med" len="med"/>
                      <a:tailEnd type="none" w="med" len="med"/>
                    </a:lnT>
                    <a:lnB w="12700" cap="flat" cmpd="sng" algn="ctr">
                      <a:solidFill>
                        <a:srgbClr val="C5C5C5"/>
                      </a:solidFill>
                      <a:prstDash val="solid"/>
                      <a:round/>
                      <a:headEnd type="none" w="med" len="med"/>
                      <a:tailEnd type="none" w="med" len="med"/>
                    </a:lnB>
                    <a:solidFill>
                      <a:srgbClr val="E7E4DC"/>
                    </a:solidFill>
                  </a:tcPr>
                </a:tc>
                <a:tc>
                  <a:txBody>
                    <a:bodyPr/>
                    <a:lstStyle/>
                    <a:p>
                      <a:pPr indent="0" marL="0">
                        <a:lnSpc>
                          <a:spcPts val="1820"/>
                        </a:lnSpc>
                        <a:buNone/>
                      </a:pPr>
                      <a:r>
                        <a:rPr lang="en-US" sz="1300" b="1" dirty="0">
                          <a:solidFill>
                            <a:srgbClr val="1E2430"/>
                          </a:solidFill>
                          <a:latin typeface="Arial" pitchFamily="34" charset="0"/>
                          <a:ea typeface="Arial" pitchFamily="34" charset="-122"/>
                          <a:cs typeface="Arial" pitchFamily="34" charset="-120"/>
                        </a:rPr>
                        <a:t>Means</a:t>
                      </a:r>
                      <a:endParaRPr lang="en-US" sz="1300" dirty="0">
                        <a:latin typeface="Arial" charset="0"/>
                        <a:ea typeface="Arial" charset="0"/>
                        <a:cs typeface="Arial" charset="0"/>
                      </a:endParaRPr>
                    </a:p>
                  </a:txBody>
                  <a:tcPr marL="114300" marR="114300" marT="76200" marB="76200" anchor="t">
                    <a:lnL w="12700" cap="flat" cmpd="sng" algn="ctr">
                      <a:solidFill>
                        <a:srgbClr val="C5C5C5"/>
                      </a:solidFill>
                      <a:prstDash val="solid"/>
                      <a:round/>
                      <a:headEnd type="none" w="med" len="med"/>
                      <a:tailEnd type="none" w="med" len="med"/>
                    </a:lnL>
                    <a:lnR w="12700" cap="flat" cmpd="sng" algn="ctr">
                      <a:solidFill>
                        <a:srgbClr val="C5C5C5"/>
                      </a:solidFill>
                      <a:prstDash val="solid"/>
                      <a:round/>
                      <a:headEnd type="none" w="med" len="med"/>
                      <a:tailEnd type="none" w="med" len="med"/>
                    </a:lnR>
                    <a:lnT w="12700" cap="flat" cmpd="sng" algn="ctr">
                      <a:solidFill>
                        <a:srgbClr val="C5C5C5"/>
                      </a:solidFill>
                      <a:prstDash val="solid"/>
                      <a:round/>
                      <a:headEnd type="none" w="med" len="med"/>
                      <a:tailEnd type="none" w="med" len="med"/>
                    </a:lnT>
                    <a:lnB w="12700" cap="flat" cmpd="sng" algn="ctr">
                      <a:solidFill>
                        <a:srgbClr val="C5C5C5"/>
                      </a:solidFill>
                      <a:prstDash val="solid"/>
                      <a:round/>
                      <a:headEnd type="none" w="med" len="med"/>
                      <a:tailEnd type="none" w="med" len="med"/>
                    </a:lnB>
                    <a:solidFill>
                      <a:srgbClr val="E7E4DC"/>
                    </a:solidFill>
                  </a:tcPr>
                </a:tc>
              </a:tr>
              <a:tr h="396230">
                <a:tc>
                  <a:txBody>
                    <a:bodyPr/>
                    <a:lstStyle/>
                    <a:p>
                      <a:pPr indent="0" marL="0">
                        <a:lnSpc>
                          <a:spcPts val="1820"/>
                        </a:lnSpc>
                        <a:buNone/>
                      </a:pPr>
                      <a:r>
                        <a:rPr lang="en-US" sz="1300" dirty="0">
                          <a:solidFill>
                            <a:srgbClr val="1E2430"/>
                          </a:solidFill>
                          <a:latin typeface="Arial" pitchFamily="34" charset="0"/>
                          <a:ea typeface="Arial" pitchFamily="34" charset="-122"/>
                          <a:cs typeface="Arial" pitchFamily="34" charset="-120"/>
                        </a:rPr>
                        <a:t>.docx .pdf</a:t>
                      </a:r>
                      <a:endParaRPr lang="en-US" sz="1300" dirty="0">
                        <a:latin typeface="Arial" charset="0"/>
                        <a:ea typeface="Arial" charset="0"/>
                        <a:cs typeface="Arial" charset="0"/>
                      </a:endParaRPr>
                    </a:p>
                  </a:txBody>
                  <a:tcPr marL="114300" marR="114300" marT="76200" marB="76200" anchor="t">
                    <a:lnL w="12700" cap="flat" cmpd="sng" algn="ctr">
                      <a:solidFill>
                        <a:srgbClr val="C5C5C5"/>
                      </a:solidFill>
                      <a:prstDash val="solid"/>
                      <a:round/>
                      <a:headEnd type="none" w="med" len="med"/>
                      <a:tailEnd type="none" w="med" len="med"/>
                    </a:lnL>
                    <a:lnR w="12700" cap="flat" cmpd="sng" algn="ctr">
                      <a:solidFill>
                        <a:srgbClr val="C5C5C5"/>
                      </a:solidFill>
                      <a:prstDash val="solid"/>
                      <a:round/>
                      <a:headEnd type="none" w="med" len="med"/>
                      <a:tailEnd type="none" w="med" len="med"/>
                    </a:lnR>
                    <a:lnT w="12700" cap="flat" cmpd="sng" algn="ctr">
                      <a:solidFill>
                        <a:srgbClr val="C5C5C5"/>
                      </a:solidFill>
                      <a:prstDash val="solid"/>
                      <a:round/>
                      <a:headEnd type="none" w="med" len="med"/>
                      <a:tailEnd type="none" w="med" len="med"/>
                    </a:lnT>
                    <a:lnB w="12700" cap="flat" cmpd="sng" algn="ctr">
                      <a:solidFill>
                        <a:srgbClr val="C5C5C5"/>
                      </a:solidFill>
                      <a:prstDash val="solid"/>
                      <a:round/>
                      <a:headEnd type="none" w="med" len="med"/>
                      <a:tailEnd type="none" w="med" len="med"/>
                    </a:lnB>
                    <a:solidFill>
                      <a:srgbClr val="FBFAF7"/>
                    </a:solidFill>
                  </a:tcPr>
                </a:tc>
                <a:tc>
                  <a:txBody>
                    <a:bodyPr/>
                    <a:lstStyle/>
                    <a:p>
                      <a:pPr indent="0" marL="0">
                        <a:lnSpc>
                          <a:spcPts val="1820"/>
                        </a:lnSpc>
                        <a:buNone/>
                      </a:pPr>
                      <a:r>
                        <a:rPr lang="en-US" sz="1300" dirty="0">
                          <a:solidFill>
                            <a:srgbClr val="1E2430"/>
                          </a:solidFill>
                          <a:latin typeface="Arial" pitchFamily="34" charset="0"/>
                          <a:ea typeface="Arial" pitchFamily="34" charset="-122"/>
                          <a:cs typeface="Arial" pitchFamily="34" charset="-120"/>
                        </a:rPr>
                        <a:t>Document. Safe to open</a:t>
                      </a:r>
                      <a:endParaRPr lang="en-US" sz="1300" dirty="0">
                        <a:latin typeface="Arial" charset="0"/>
                        <a:ea typeface="Arial" charset="0"/>
                        <a:cs typeface="Arial" charset="0"/>
                      </a:endParaRPr>
                    </a:p>
                  </a:txBody>
                  <a:tcPr marL="114300" marR="114300" marT="76200" marB="76200" anchor="t">
                    <a:lnL w="12700" cap="flat" cmpd="sng" algn="ctr">
                      <a:solidFill>
                        <a:srgbClr val="C5C5C5"/>
                      </a:solidFill>
                      <a:prstDash val="solid"/>
                      <a:round/>
                      <a:headEnd type="none" w="med" len="med"/>
                      <a:tailEnd type="none" w="med" len="med"/>
                    </a:lnL>
                    <a:lnR w="12700" cap="flat" cmpd="sng" algn="ctr">
                      <a:solidFill>
                        <a:srgbClr val="C5C5C5"/>
                      </a:solidFill>
                      <a:prstDash val="solid"/>
                      <a:round/>
                      <a:headEnd type="none" w="med" len="med"/>
                      <a:tailEnd type="none" w="med" len="med"/>
                    </a:lnR>
                    <a:lnT w="12700" cap="flat" cmpd="sng" algn="ctr">
                      <a:solidFill>
                        <a:srgbClr val="C5C5C5"/>
                      </a:solidFill>
                      <a:prstDash val="solid"/>
                      <a:round/>
                      <a:headEnd type="none" w="med" len="med"/>
                      <a:tailEnd type="none" w="med" len="med"/>
                    </a:lnT>
                    <a:lnB w="12700" cap="flat" cmpd="sng" algn="ctr">
                      <a:solidFill>
                        <a:srgbClr val="C5C5C5"/>
                      </a:solidFill>
                      <a:prstDash val="solid"/>
                      <a:round/>
                      <a:headEnd type="none" w="med" len="med"/>
                      <a:tailEnd type="none" w="med" len="med"/>
                    </a:lnB>
                    <a:solidFill>
                      <a:srgbClr val="FBFAF7"/>
                    </a:solidFill>
                  </a:tcPr>
                </a:tc>
              </a:tr>
              <a:tr h="396230">
                <a:tc>
                  <a:txBody>
                    <a:bodyPr/>
                    <a:lstStyle/>
                    <a:p>
                      <a:pPr indent="0" marL="0">
                        <a:lnSpc>
                          <a:spcPts val="1820"/>
                        </a:lnSpc>
                        <a:buNone/>
                      </a:pPr>
                      <a:r>
                        <a:rPr lang="en-US" sz="1300" dirty="0">
                          <a:solidFill>
                            <a:srgbClr val="1E2430"/>
                          </a:solidFill>
                          <a:latin typeface="Arial" pitchFamily="34" charset="0"/>
                          <a:ea typeface="Arial" pitchFamily="34" charset="-122"/>
                          <a:cs typeface="Arial" pitchFamily="34" charset="-120"/>
                        </a:rPr>
                        <a:t>.jpg .png .gif</a:t>
                      </a:r>
                      <a:endParaRPr lang="en-US" sz="1300" dirty="0">
                        <a:latin typeface="Arial" charset="0"/>
                        <a:ea typeface="Arial" charset="0"/>
                        <a:cs typeface="Arial" charset="0"/>
                      </a:endParaRPr>
                    </a:p>
                  </a:txBody>
                  <a:tcPr marL="114300" marR="114300" marT="76200" marB="76200" anchor="t">
                    <a:lnL w="12700" cap="flat" cmpd="sng" algn="ctr">
                      <a:solidFill>
                        <a:srgbClr val="C5C5C5"/>
                      </a:solidFill>
                      <a:prstDash val="solid"/>
                      <a:round/>
                      <a:headEnd type="none" w="med" len="med"/>
                      <a:tailEnd type="none" w="med" len="med"/>
                    </a:lnL>
                    <a:lnR w="12700" cap="flat" cmpd="sng" algn="ctr">
                      <a:solidFill>
                        <a:srgbClr val="C5C5C5"/>
                      </a:solidFill>
                      <a:prstDash val="solid"/>
                      <a:round/>
                      <a:headEnd type="none" w="med" len="med"/>
                      <a:tailEnd type="none" w="med" len="med"/>
                    </a:lnR>
                    <a:lnT w="12700" cap="flat" cmpd="sng" algn="ctr">
                      <a:solidFill>
                        <a:srgbClr val="C5C5C5"/>
                      </a:solidFill>
                      <a:prstDash val="solid"/>
                      <a:round/>
                      <a:headEnd type="none" w="med" len="med"/>
                      <a:tailEnd type="none" w="med" len="med"/>
                    </a:lnT>
                    <a:lnB w="12700" cap="flat" cmpd="sng" algn="ctr">
                      <a:solidFill>
                        <a:srgbClr val="C5C5C5"/>
                      </a:solidFill>
                      <a:prstDash val="solid"/>
                      <a:round/>
                      <a:headEnd type="none" w="med" len="med"/>
                      <a:tailEnd type="none" w="med" len="med"/>
                    </a:lnB>
                    <a:solidFill>
                      <a:srgbClr val="F4F3EF"/>
                    </a:solidFill>
                  </a:tcPr>
                </a:tc>
                <a:tc>
                  <a:txBody>
                    <a:bodyPr/>
                    <a:lstStyle/>
                    <a:p>
                      <a:pPr indent="0" marL="0">
                        <a:lnSpc>
                          <a:spcPts val="1820"/>
                        </a:lnSpc>
                        <a:buNone/>
                      </a:pPr>
                      <a:r>
                        <a:rPr lang="en-US" sz="1300" dirty="0">
                          <a:solidFill>
                            <a:srgbClr val="1E2430"/>
                          </a:solidFill>
                          <a:latin typeface="Arial" pitchFamily="34" charset="0"/>
                          <a:ea typeface="Arial" pitchFamily="34" charset="-122"/>
                          <a:cs typeface="Arial" pitchFamily="34" charset="-120"/>
                        </a:rPr>
                        <a:t>Image</a:t>
                      </a:r>
                      <a:endParaRPr lang="en-US" sz="1300" dirty="0">
                        <a:latin typeface="Arial" charset="0"/>
                        <a:ea typeface="Arial" charset="0"/>
                        <a:cs typeface="Arial" charset="0"/>
                      </a:endParaRPr>
                    </a:p>
                  </a:txBody>
                  <a:tcPr marL="114300" marR="114300" marT="76200" marB="76200" anchor="t">
                    <a:lnL w="12700" cap="flat" cmpd="sng" algn="ctr">
                      <a:solidFill>
                        <a:srgbClr val="C5C5C5"/>
                      </a:solidFill>
                      <a:prstDash val="solid"/>
                      <a:round/>
                      <a:headEnd type="none" w="med" len="med"/>
                      <a:tailEnd type="none" w="med" len="med"/>
                    </a:lnL>
                    <a:lnR w="12700" cap="flat" cmpd="sng" algn="ctr">
                      <a:solidFill>
                        <a:srgbClr val="C5C5C5"/>
                      </a:solidFill>
                      <a:prstDash val="solid"/>
                      <a:round/>
                      <a:headEnd type="none" w="med" len="med"/>
                      <a:tailEnd type="none" w="med" len="med"/>
                    </a:lnR>
                    <a:lnT w="12700" cap="flat" cmpd="sng" algn="ctr">
                      <a:solidFill>
                        <a:srgbClr val="C5C5C5"/>
                      </a:solidFill>
                      <a:prstDash val="solid"/>
                      <a:round/>
                      <a:headEnd type="none" w="med" len="med"/>
                      <a:tailEnd type="none" w="med" len="med"/>
                    </a:lnT>
                    <a:lnB w="12700" cap="flat" cmpd="sng" algn="ctr">
                      <a:solidFill>
                        <a:srgbClr val="C5C5C5"/>
                      </a:solidFill>
                      <a:prstDash val="solid"/>
                      <a:round/>
                      <a:headEnd type="none" w="med" len="med"/>
                      <a:tailEnd type="none" w="med" len="med"/>
                    </a:lnB>
                    <a:solidFill>
                      <a:srgbClr val="F4F3EF"/>
                    </a:solidFill>
                  </a:tcPr>
                </a:tc>
              </a:tr>
              <a:tr h="396230">
                <a:tc>
                  <a:txBody>
                    <a:bodyPr/>
                    <a:lstStyle/>
                    <a:p>
                      <a:pPr indent="0" marL="0">
                        <a:lnSpc>
                          <a:spcPts val="1820"/>
                        </a:lnSpc>
                        <a:buNone/>
                      </a:pPr>
                      <a:r>
                        <a:rPr lang="en-US" sz="1300" dirty="0">
                          <a:solidFill>
                            <a:srgbClr val="1E2430"/>
                          </a:solidFill>
                          <a:latin typeface="Arial" pitchFamily="34" charset="0"/>
                          <a:ea typeface="Arial" pitchFamily="34" charset="-122"/>
                          <a:cs typeface="Arial" pitchFamily="34" charset="-120"/>
                        </a:rPr>
                        <a:t>.mp3 .m4a .wav</a:t>
                      </a:r>
                      <a:endParaRPr lang="en-US" sz="1300" dirty="0">
                        <a:latin typeface="Arial" charset="0"/>
                        <a:ea typeface="Arial" charset="0"/>
                        <a:cs typeface="Arial" charset="0"/>
                      </a:endParaRPr>
                    </a:p>
                  </a:txBody>
                  <a:tcPr marL="114300" marR="114300" marT="76200" marB="76200" anchor="t">
                    <a:lnL w="12700" cap="flat" cmpd="sng" algn="ctr">
                      <a:solidFill>
                        <a:srgbClr val="C5C5C5"/>
                      </a:solidFill>
                      <a:prstDash val="solid"/>
                      <a:round/>
                      <a:headEnd type="none" w="med" len="med"/>
                      <a:tailEnd type="none" w="med" len="med"/>
                    </a:lnL>
                    <a:lnR w="12700" cap="flat" cmpd="sng" algn="ctr">
                      <a:solidFill>
                        <a:srgbClr val="C5C5C5"/>
                      </a:solidFill>
                      <a:prstDash val="solid"/>
                      <a:round/>
                      <a:headEnd type="none" w="med" len="med"/>
                      <a:tailEnd type="none" w="med" len="med"/>
                    </a:lnR>
                    <a:lnT w="12700" cap="flat" cmpd="sng" algn="ctr">
                      <a:solidFill>
                        <a:srgbClr val="C5C5C5"/>
                      </a:solidFill>
                      <a:prstDash val="solid"/>
                      <a:round/>
                      <a:headEnd type="none" w="med" len="med"/>
                      <a:tailEnd type="none" w="med" len="med"/>
                    </a:lnT>
                    <a:lnB w="12700" cap="flat" cmpd="sng" algn="ctr">
                      <a:solidFill>
                        <a:srgbClr val="C5C5C5"/>
                      </a:solidFill>
                      <a:prstDash val="solid"/>
                      <a:round/>
                      <a:headEnd type="none" w="med" len="med"/>
                      <a:tailEnd type="none" w="med" len="med"/>
                    </a:lnB>
                    <a:solidFill>
                      <a:srgbClr val="FBFAF7"/>
                    </a:solidFill>
                  </a:tcPr>
                </a:tc>
                <a:tc>
                  <a:txBody>
                    <a:bodyPr/>
                    <a:lstStyle/>
                    <a:p>
                      <a:pPr indent="0" marL="0">
                        <a:lnSpc>
                          <a:spcPts val="1820"/>
                        </a:lnSpc>
                        <a:buNone/>
                      </a:pPr>
                      <a:r>
                        <a:rPr lang="en-US" sz="1300" dirty="0">
                          <a:solidFill>
                            <a:srgbClr val="1E2430"/>
                          </a:solidFill>
                          <a:latin typeface="Arial" pitchFamily="34" charset="0"/>
                          <a:ea typeface="Arial" pitchFamily="34" charset="-122"/>
                          <a:cs typeface="Arial" pitchFamily="34" charset="-120"/>
                        </a:rPr>
                        <a:t>Audio</a:t>
                      </a:r>
                      <a:endParaRPr lang="en-US" sz="1300" dirty="0">
                        <a:latin typeface="Arial" charset="0"/>
                        <a:ea typeface="Arial" charset="0"/>
                        <a:cs typeface="Arial" charset="0"/>
                      </a:endParaRPr>
                    </a:p>
                  </a:txBody>
                  <a:tcPr marL="114300" marR="114300" marT="76200" marB="76200" anchor="t">
                    <a:lnL w="12700" cap="flat" cmpd="sng" algn="ctr">
                      <a:solidFill>
                        <a:srgbClr val="C5C5C5"/>
                      </a:solidFill>
                      <a:prstDash val="solid"/>
                      <a:round/>
                      <a:headEnd type="none" w="med" len="med"/>
                      <a:tailEnd type="none" w="med" len="med"/>
                    </a:lnL>
                    <a:lnR w="12700" cap="flat" cmpd="sng" algn="ctr">
                      <a:solidFill>
                        <a:srgbClr val="C5C5C5"/>
                      </a:solidFill>
                      <a:prstDash val="solid"/>
                      <a:round/>
                      <a:headEnd type="none" w="med" len="med"/>
                      <a:tailEnd type="none" w="med" len="med"/>
                    </a:lnR>
                    <a:lnT w="12700" cap="flat" cmpd="sng" algn="ctr">
                      <a:solidFill>
                        <a:srgbClr val="C5C5C5"/>
                      </a:solidFill>
                      <a:prstDash val="solid"/>
                      <a:round/>
                      <a:headEnd type="none" w="med" len="med"/>
                      <a:tailEnd type="none" w="med" len="med"/>
                    </a:lnT>
                    <a:lnB w="12700" cap="flat" cmpd="sng" algn="ctr">
                      <a:solidFill>
                        <a:srgbClr val="C5C5C5"/>
                      </a:solidFill>
                      <a:prstDash val="solid"/>
                      <a:round/>
                      <a:headEnd type="none" w="med" len="med"/>
                      <a:tailEnd type="none" w="med" len="med"/>
                    </a:lnB>
                    <a:solidFill>
                      <a:srgbClr val="FBFAF7"/>
                    </a:solidFill>
                  </a:tcPr>
                </a:tc>
              </a:tr>
              <a:tr h="396230">
                <a:tc>
                  <a:txBody>
                    <a:bodyPr/>
                    <a:lstStyle/>
                    <a:p>
                      <a:pPr indent="0" marL="0">
                        <a:lnSpc>
                          <a:spcPts val="1820"/>
                        </a:lnSpc>
                        <a:buNone/>
                      </a:pPr>
                      <a:r>
                        <a:rPr lang="en-US" sz="1300" dirty="0">
                          <a:solidFill>
                            <a:srgbClr val="1E2430"/>
                          </a:solidFill>
                          <a:latin typeface="Arial" pitchFamily="34" charset="0"/>
                          <a:ea typeface="Arial" pitchFamily="34" charset="-122"/>
                          <a:cs typeface="Arial" pitchFamily="34" charset="-120"/>
                        </a:rPr>
                        <a:t>.mp4 .mov .avi</a:t>
                      </a:r>
                      <a:endParaRPr lang="en-US" sz="1300" dirty="0">
                        <a:latin typeface="Arial" charset="0"/>
                        <a:ea typeface="Arial" charset="0"/>
                        <a:cs typeface="Arial" charset="0"/>
                      </a:endParaRPr>
                    </a:p>
                  </a:txBody>
                  <a:tcPr marL="114300" marR="114300" marT="76200" marB="76200" anchor="t">
                    <a:lnL w="12700" cap="flat" cmpd="sng" algn="ctr">
                      <a:solidFill>
                        <a:srgbClr val="C5C5C5"/>
                      </a:solidFill>
                      <a:prstDash val="solid"/>
                      <a:round/>
                      <a:headEnd type="none" w="med" len="med"/>
                      <a:tailEnd type="none" w="med" len="med"/>
                    </a:lnL>
                    <a:lnR w="12700" cap="flat" cmpd="sng" algn="ctr">
                      <a:solidFill>
                        <a:srgbClr val="C5C5C5"/>
                      </a:solidFill>
                      <a:prstDash val="solid"/>
                      <a:round/>
                      <a:headEnd type="none" w="med" len="med"/>
                      <a:tailEnd type="none" w="med" len="med"/>
                    </a:lnR>
                    <a:lnT w="12700" cap="flat" cmpd="sng" algn="ctr">
                      <a:solidFill>
                        <a:srgbClr val="C5C5C5"/>
                      </a:solidFill>
                      <a:prstDash val="solid"/>
                      <a:round/>
                      <a:headEnd type="none" w="med" len="med"/>
                      <a:tailEnd type="none" w="med" len="med"/>
                    </a:lnT>
                    <a:lnB w="12700" cap="flat" cmpd="sng" algn="ctr">
                      <a:solidFill>
                        <a:srgbClr val="C5C5C5"/>
                      </a:solidFill>
                      <a:prstDash val="solid"/>
                      <a:round/>
                      <a:headEnd type="none" w="med" len="med"/>
                      <a:tailEnd type="none" w="med" len="med"/>
                    </a:lnB>
                    <a:solidFill>
                      <a:srgbClr val="F4F3EF"/>
                    </a:solidFill>
                  </a:tcPr>
                </a:tc>
                <a:tc>
                  <a:txBody>
                    <a:bodyPr/>
                    <a:lstStyle/>
                    <a:p>
                      <a:pPr indent="0" marL="0">
                        <a:lnSpc>
                          <a:spcPts val="1820"/>
                        </a:lnSpc>
                        <a:buNone/>
                      </a:pPr>
                      <a:r>
                        <a:rPr lang="en-US" sz="1300" dirty="0">
                          <a:solidFill>
                            <a:srgbClr val="1E2430"/>
                          </a:solidFill>
                          <a:latin typeface="Arial" pitchFamily="34" charset="0"/>
                          <a:ea typeface="Arial" pitchFamily="34" charset="-122"/>
                          <a:cs typeface="Arial" pitchFamily="34" charset="-120"/>
                        </a:rPr>
                        <a:t>Video</a:t>
                      </a:r>
                      <a:endParaRPr lang="en-US" sz="1300" dirty="0">
                        <a:latin typeface="Arial" charset="0"/>
                        <a:ea typeface="Arial" charset="0"/>
                        <a:cs typeface="Arial" charset="0"/>
                      </a:endParaRPr>
                    </a:p>
                  </a:txBody>
                  <a:tcPr marL="114300" marR="114300" marT="76200" marB="76200" anchor="t">
                    <a:lnL w="12700" cap="flat" cmpd="sng" algn="ctr">
                      <a:solidFill>
                        <a:srgbClr val="C5C5C5"/>
                      </a:solidFill>
                      <a:prstDash val="solid"/>
                      <a:round/>
                      <a:headEnd type="none" w="med" len="med"/>
                      <a:tailEnd type="none" w="med" len="med"/>
                    </a:lnL>
                    <a:lnR w="12700" cap="flat" cmpd="sng" algn="ctr">
                      <a:solidFill>
                        <a:srgbClr val="C5C5C5"/>
                      </a:solidFill>
                      <a:prstDash val="solid"/>
                      <a:round/>
                      <a:headEnd type="none" w="med" len="med"/>
                      <a:tailEnd type="none" w="med" len="med"/>
                    </a:lnR>
                    <a:lnT w="12700" cap="flat" cmpd="sng" algn="ctr">
                      <a:solidFill>
                        <a:srgbClr val="C5C5C5"/>
                      </a:solidFill>
                      <a:prstDash val="solid"/>
                      <a:round/>
                      <a:headEnd type="none" w="med" len="med"/>
                      <a:tailEnd type="none" w="med" len="med"/>
                    </a:lnT>
                    <a:lnB w="12700" cap="flat" cmpd="sng" algn="ctr">
                      <a:solidFill>
                        <a:srgbClr val="C5C5C5"/>
                      </a:solidFill>
                      <a:prstDash val="solid"/>
                      <a:round/>
                      <a:headEnd type="none" w="med" len="med"/>
                      <a:tailEnd type="none" w="med" len="med"/>
                    </a:lnB>
                    <a:solidFill>
                      <a:srgbClr val="F4F3EF"/>
                    </a:solidFill>
                  </a:tcPr>
                </a:tc>
              </a:tr>
              <a:tr h="396230">
                <a:tc>
                  <a:txBody>
                    <a:bodyPr/>
                    <a:lstStyle/>
                    <a:p>
                      <a:pPr indent="0" marL="0">
                        <a:lnSpc>
                          <a:spcPts val="1820"/>
                        </a:lnSpc>
                        <a:buNone/>
                      </a:pPr>
                      <a:r>
                        <a:rPr lang="en-US" sz="1300" dirty="0">
                          <a:solidFill>
                            <a:srgbClr val="1E2430"/>
                          </a:solidFill>
                          <a:latin typeface="Arial" pitchFamily="34" charset="0"/>
                          <a:ea typeface="Arial" pitchFamily="34" charset="-122"/>
                          <a:cs typeface="Arial" pitchFamily="34" charset="-120"/>
                        </a:rPr>
                        <a:t>.zip .rar</a:t>
                      </a:r>
                      <a:endParaRPr lang="en-US" sz="1300" dirty="0">
                        <a:latin typeface="Arial" charset="0"/>
                        <a:ea typeface="Arial" charset="0"/>
                        <a:cs typeface="Arial" charset="0"/>
                      </a:endParaRPr>
                    </a:p>
                  </a:txBody>
                  <a:tcPr marL="114300" marR="114300" marT="76200" marB="76200" anchor="t">
                    <a:lnL w="12700" cap="flat" cmpd="sng" algn="ctr">
                      <a:solidFill>
                        <a:srgbClr val="C5C5C5"/>
                      </a:solidFill>
                      <a:prstDash val="solid"/>
                      <a:round/>
                      <a:headEnd type="none" w="med" len="med"/>
                      <a:tailEnd type="none" w="med" len="med"/>
                    </a:lnL>
                    <a:lnR w="12700" cap="flat" cmpd="sng" algn="ctr">
                      <a:solidFill>
                        <a:srgbClr val="C5C5C5"/>
                      </a:solidFill>
                      <a:prstDash val="solid"/>
                      <a:round/>
                      <a:headEnd type="none" w="med" len="med"/>
                      <a:tailEnd type="none" w="med" len="med"/>
                    </a:lnR>
                    <a:lnT w="12700" cap="flat" cmpd="sng" algn="ctr">
                      <a:solidFill>
                        <a:srgbClr val="C5C5C5"/>
                      </a:solidFill>
                      <a:prstDash val="solid"/>
                      <a:round/>
                      <a:headEnd type="none" w="med" len="med"/>
                      <a:tailEnd type="none" w="med" len="med"/>
                    </a:lnT>
                    <a:lnB w="12700" cap="flat" cmpd="sng" algn="ctr">
                      <a:solidFill>
                        <a:srgbClr val="C5C5C5"/>
                      </a:solidFill>
                      <a:prstDash val="solid"/>
                      <a:round/>
                      <a:headEnd type="none" w="med" len="med"/>
                      <a:tailEnd type="none" w="med" len="med"/>
                    </a:lnB>
                    <a:solidFill>
                      <a:srgbClr val="FBFAF7"/>
                    </a:solidFill>
                  </a:tcPr>
                </a:tc>
                <a:tc>
                  <a:txBody>
                    <a:bodyPr/>
                    <a:lstStyle/>
                    <a:p>
                      <a:pPr indent="0" marL="0">
                        <a:lnSpc>
                          <a:spcPts val="1820"/>
                        </a:lnSpc>
                        <a:buNone/>
                      </a:pPr>
                      <a:r>
                        <a:rPr lang="en-US" sz="1300" dirty="0">
                          <a:solidFill>
                            <a:srgbClr val="1E2430"/>
                          </a:solidFill>
                          <a:latin typeface="Arial" pitchFamily="34" charset="0"/>
                          <a:ea typeface="Arial" pitchFamily="34" charset="-122"/>
                          <a:cs typeface="Arial" pitchFamily="34" charset="-120"/>
                        </a:rPr>
                        <a:t>Compressed folder. Unzip first</a:t>
                      </a:r>
                      <a:endParaRPr lang="en-US" sz="1300" dirty="0">
                        <a:latin typeface="Arial" charset="0"/>
                        <a:ea typeface="Arial" charset="0"/>
                        <a:cs typeface="Arial" charset="0"/>
                      </a:endParaRPr>
                    </a:p>
                  </a:txBody>
                  <a:tcPr marL="114300" marR="114300" marT="76200" marB="76200" anchor="t">
                    <a:lnL w="12700" cap="flat" cmpd="sng" algn="ctr">
                      <a:solidFill>
                        <a:srgbClr val="C5C5C5"/>
                      </a:solidFill>
                      <a:prstDash val="solid"/>
                      <a:round/>
                      <a:headEnd type="none" w="med" len="med"/>
                      <a:tailEnd type="none" w="med" len="med"/>
                    </a:lnL>
                    <a:lnR w="12700" cap="flat" cmpd="sng" algn="ctr">
                      <a:solidFill>
                        <a:srgbClr val="C5C5C5"/>
                      </a:solidFill>
                      <a:prstDash val="solid"/>
                      <a:round/>
                      <a:headEnd type="none" w="med" len="med"/>
                      <a:tailEnd type="none" w="med" len="med"/>
                    </a:lnR>
                    <a:lnT w="12700" cap="flat" cmpd="sng" algn="ctr">
                      <a:solidFill>
                        <a:srgbClr val="C5C5C5"/>
                      </a:solidFill>
                      <a:prstDash val="solid"/>
                      <a:round/>
                      <a:headEnd type="none" w="med" len="med"/>
                      <a:tailEnd type="none" w="med" len="med"/>
                    </a:lnT>
                    <a:lnB w="12700" cap="flat" cmpd="sng" algn="ctr">
                      <a:solidFill>
                        <a:srgbClr val="C5C5C5"/>
                      </a:solidFill>
                      <a:prstDash val="solid"/>
                      <a:round/>
                      <a:headEnd type="none" w="med" len="med"/>
                      <a:tailEnd type="none" w="med" len="med"/>
                    </a:lnB>
                    <a:solidFill>
                      <a:srgbClr val="FBFAF7"/>
                    </a:solidFill>
                  </a:tcPr>
                </a:tc>
              </a:tr>
              <a:tr h="627360">
                <a:tc>
                  <a:txBody>
                    <a:bodyPr/>
                    <a:lstStyle/>
                    <a:p>
                      <a:pPr indent="0" marL="0">
                        <a:lnSpc>
                          <a:spcPts val="1820"/>
                        </a:lnSpc>
                        <a:buNone/>
                      </a:pPr>
                      <a:r>
                        <a:rPr lang="en-US" sz="1300" dirty="0">
                          <a:solidFill>
                            <a:srgbClr val="1E2430"/>
                          </a:solidFill>
                          <a:latin typeface="Arial" pitchFamily="34" charset="0"/>
                          <a:ea typeface="Arial" pitchFamily="34" charset="-122"/>
                          <a:cs typeface="Arial" pitchFamily="34" charset="-120"/>
                        </a:rPr>
                        <a:t>.exe .msi .vbs</a:t>
                      </a:r>
                      <a:endParaRPr lang="en-US" sz="1300" dirty="0">
                        <a:latin typeface="Arial" charset="0"/>
                        <a:ea typeface="Arial" charset="0"/>
                        <a:cs typeface="Arial" charset="0"/>
                      </a:endParaRPr>
                    </a:p>
                  </a:txBody>
                  <a:tcPr marL="114300" marR="114300" marT="76200" marB="76200" anchor="t">
                    <a:lnL w="12700" cap="flat" cmpd="sng" algn="ctr">
                      <a:solidFill>
                        <a:srgbClr val="C5C5C5"/>
                      </a:solidFill>
                      <a:prstDash val="solid"/>
                      <a:round/>
                      <a:headEnd type="none" w="med" len="med"/>
                      <a:tailEnd type="none" w="med" len="med"/>
                    </a:lnL>
                    <a:lnR w="12700" cap="flat" cmpd="sng" algn="ctr">
                      <a:solidFill>
                        <a:srgbClr val="C5C5C5"/>
                      </a:solidFill>
                      <a:prstDash val="solid"/>
                      <a:round/>
                      <a:headEnd type="none" w="med" len="med"/>
                      <a:tailEnd type="none" w="med" len="med"/>
                    </a:lnR>
                    <a:lnT w="12700" cap="flat" cmpd="sng" algn="ctr">
                      <a:solidFill>
                        <a:srgbClr val="C5C5C5"/>
                      </a:solidFill>
                      <a:prstDash val="solid"/>
                      <a:round/>
                      <a:headEnd type="none" w="med" len="med"/>
                      <a:tailEnd type="none" w="med" len="med"/>
                    </a:lnT>
                    <a:lnB w="12700" cap="flat" cmpd="sng" algn="ctr">
                      <a:solidFill>
                        <a:srgbClr val="C5C5C5"/>
                      </a:solidFill>
                      <a:prstDash val="solid"/>
                      <a:round/>
                      <a:headEnd type="none" w="med" len="med"/>
                      <a:tailEnd type="none" w="med" len="med"/>
                    </a:lnB>
                    <a:solidFill>
                      <a:srgbClr val="F4F3EF"/>
                    </a:solidFill>
                  </a:tcPr>
                </a:tc>
                <a:tc>
                  <a:txBody>
                    <a:bodyPr/>
                    <a:lstStyle/>
                    <a:p>
                      <a:pPr indent="0" marL="0">
                        <a:lnSpc>
                          <a:spcPts val="1820"/>
                        </a:lnSpc>
                        <a:buNone/>
                      </a:pPr>
                      <a:r>
                        <a:rPr lang="en-US" sz="1300" dirty="0">
                          <a:solidFill>
                            <a:srgbClr val="1E2430"/>
                          </a:solidFill>
                          <a:latin typeface="Arial" pitchFamily="34" charset="0"/>
                          <a:ea typeface="Arial" pitchFamily="34" charset="-122"/>
                          <a:cs typeface="Arial" pitchFamily="34" charset="-120"/>
                        </a:rPr>
                        <a:t>Runs a program. Only from a publisher you trust</a:t>
                      </a:r>
                      <a:endParaRPr lang="en-US" sz="1300" dirty="0">
                        <a:latin typeface="Arial" charset="0"/>
                        <a:ea typeface="Arial" charset="0"/>
                        <a:cs typeface="Arial" charset="0"/>
                      </a:endParaRPr>
                    </a:p>
                  </a:txBody>
                  <a:tcPr marL="114300" marR="114300" marT="76200" marB="76200" anchor="t">
                    <a:lnL w="12700" cap="flat" cmpd="sng" algn="ctr">
                      <a:solidFill>
                        <a:srgbClr val="C5C5C5"/>
                      </a:solidFill>
                      <a:prstDash val="solid"/>
                      <a:round/>
                      <a:headEnd type="none" w="med" len="med"/>
                      <a:tailEnd type="none" w="med" len="med"/>
                    </a:lnL>
                    <a:lnR w="12700" cap="flat" cmpd="sng" algn="ctr">
                      <a:solidFill>
                        <a:srgbClr val="C5C5C5"/>
                      </a:solidFill>
                      <a:prstDash val="solid"/>
                      <a:round/>
                      <a:headEnd type="none" w="med" len="med"/>
                      <a:tailEnd type="none" w="med" len="med"/>
                    </a:lnR>
                    <a:lnT w="12700" cap="flat" cmpd="sng" algn="ctr">
                      <a:solidFill>
                        <a:srgbClr val="C5C5C5"/>
                      </a:solidFill>
                      <a:prstDash val="solid"/>
                      <a:round/>
                      <a:headEnd type="none" w="med" len="med"/>
                      <a:tailEnd type="none" w="med" len="med"/>
                    </a:lnT>
                    <a:lnB w="12700" cap="flat" cmpd="sng" algn="ctr">
                      <a:solidFill>
                        <a:srgbClr val="C5C5C5"/>
                      </a:solidFill>
                      <a:prstDash val="solid"/>
                      <a:round/>
                      <a:headEnd type="none" w="med" len="med"/>
                      <a:tailEnd type="none" w="med" len="med"/>
                    </a:lnB>
                    <a:solidFill>
                      <a:srgbClr val="F4F3EF"/>
                    </a:solidFill>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3EF"/>
        </a:solidFill>
      </p:bgPr>
    </p:bg>
    <p:spTree>
      <p:nvGrpSpPr>
        <p:cNvPr id="1" name=""/>
        <p:cNvGrpSpPr/>
        <p:nvPr/>
      </p:nvGrpSpPr>
      <p:grpSpPr>
        <a:xfrm>
          <a:off x="0" y="0"/>
          <a:ext cx="0" cy="0"/>
          <a:chOff x="0" y="0"/>
          <a:chExt cx="0" cy="0"/>
        </a:xfrm>
      </p:grpSpPr>
      <p:sp>
        <p:nvSpPr>
          <p:cNvPr id="2" name="Text 0"/>
          <p:cNvSpPr/>
          <p:nvPr/>
        </p:nvSpPr>
        <p:spPr>
          <a:xfrm>
            <a:off x="812800" y="711200"/>
            <a:ext cx="10883392" cy="500360"/>
          </a:xfrm>
          <a:prstGeom prst="rect">
            <a:avLst/>
          </a:prstGeom>
          <a:noFill/>
          <a:ln/>
        </p:spPr>
        <p:txBody>
          <a:bodyPr wrap="square" lIns="0" tIns="0" rIns="0" bIns="0" rtlCol="0" anchor="t">
            <a:normAutofit/>
          </a:bodyPr>
          <a:lstStyle/>
          <a:p>
            <a:pPr algn="l" indent="0" marL="0">
              <a:lnSpc>
                <a:spcPts val="3740"/>
              </a:lnSpc>
              <a:buNone/>
            </a:pPr>
            <a:r>
              <a:rPr lang="en-US" sz="3400" b="1" dirty="0">
                <a:solidFill>
                  <a:srgbClr val="1E2430"/>
                </a:solidFill>
                <a:latin typeface="Arial" pitchFamily="34" charset="0"/>
                <a:ea typeface="Arial" pitchFamily="34" charset="-122"/>
                <a:cs typeface="Arial" pitchFamily="34" charset="-120"/>
              </a:rPr>
              <a:t>Compression: two kinds, and when each is fine</a:t>
            </a:r>
            <a:endParaRPr lang="en-US" sz="3400" dirty="0"/>
          </a:p>
        </p:txBody>
      </p:sp>
      <p:sp>
        <p:nvSpPr>
          <p:cNvPr id="3" name="Shape 1"/>
          <p:cNvSpPr/>
          <p:nvPr/>
        </p:nvSpPr>
        <p:spPr>
          <a:xfrm>
            <a:off x="815975" y="1443335"/>
            <a:ext cx="5175250" cy="1542951"/>
          </a:xfrm>
          <a:prstGeom prst="roundRect">
            <a:avLst>
              <a:gd name="adj" fmla="val 5556"/>
            </a:avLst>
          </a:prstGeom>
          <a:solidFill>
            <a:srgbClr val="FBFAF7"/>
          </a:solidFill>
          <a:ln w="6350">
            <a:solidFill>
              <a:srgbClr val="DCD8CF"/>
            </a:solidFill>
            <a:prstDash val="solid"/>
          </a:ln>
        </p:spPr>
      </p:sp>
      <p:sp>
        <p:nvSpPr>
          <p:cNvPr id="4" name="Text 2"/>
          <p:cNvSpPr/>
          <p:nvPr/>
        </p:nvSpPr>
        <p:spPr>
          <a:xfrm>
            <a:off x="1022350" y="1624310"/>
            <a:ext cx="4905375"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E2430"/>
                </a:solidFill>
                <a:latin typeface="Arial" pitchFamily="34" charset="0"/>
                <a:ea typeface="Arial" pitchFamily="34" charset="-122"/>
                <a:cs typeface="Arial" pitchFamily="34" charset="-120"/>
              </a:rPr>
              <a:t>Lossless</a:t>
            </a:r>
            <a:endParaRPr lang="en-US" sz="1800" dirty="0"/>
          </a:p>
        </p:txBody>
      </p:sp>
      <p:sp>
        <p:nvSpPr>
          <p:cNvPr id="5" name="Text 3"/>
          <p:cNvSpPr/>
          <p:nvPr/>
        </p:nvSpPr>
        <p:spPr>
          <a:xfrm>
            <a:off x="1022350" y="1987500"/>
            <a:ext cx="4905375"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E2430"/>
                </a:solidFill>
                <a:latin typeface="Arial" pitchFamily="34" charset="0"/>
                <a:ea typeface="Arial" pitchFamily="34" charset="-122"/>
                <a:cs typeface="Arial" pitchFamily="34" charset="-120"/>
              </a:rPr>
              <a:t>Throws away </a:t>
            </a:r>
            <a:r>
              <a:rPr lang="en-US" sz="1400" b="1" dirty="0">
                <a:solidFill>
                  <a:srgbClr val="1E2430"/>
                </a:solidFill>
                <a:latin typeface="Arial" pitchFamily="34" charset="0"/>
                <a:ea typeface="Arial" pitchFamily="34" charset="-122"/>
                <a:cs typeface="Arial" pitchFamily="34" charset="-120"/>
              </a:rPr>
              <a:t>repetition</a:t>
            </a:r>
            <a:r>
              <a:rPr lang="en-US" sz="1400" dirty="0">
                <a:solidFill>
                  <a:srgbClr val="1E2430"/>
                </a:solidFill>
                <a:latin typeface="Arial" pitchFamily="34" charset="0"/>
                <a:ea typeface="Arial" pitchFamily="34" charset="-122"/>
                <a:cs typeface="Arial" pitchFamily="34" charset="-120"/>
              </a:rPr>
              <a:t>, keeps every original detail. Unzip it and the file is identical.</a:t>
            </a:r>
            <a:endParaRPr lang="en-US" sz="1400" dirty="0"/>
          </a:p>
        </p:txBody>
      </p:sp>
      <p:sp>
        <p:nvSpPr>
          <p:cNvPr id="6" name="Text 4"/>
          <p:cNvSpPr/>
          <p:nvPr/>
        </p:nvSpPr>
        <p:spPr>
          <a:xfrm>
            <a:off x="1022350" y="2574181"/>
            <a:ext cx="4905375"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0F6E6E"/>
                </a:solidFill>
                <a:latin typeface="Arial" pitchFamily="34" charset="0"/>
                <a:ea typeface="Arial" pitchFamily="34" charset="-122"/>
                <a:cs typeface="Arial" pitchFamily="34" charset="-120"/>
              </a:rPr>
              <a:t>.zip .rar .png</a:t>
            </a:r>
            <a:endParaRPr lang="en-US" sz="1300" dirty="0"/>
          </a:p>
        </p:txBody>
      </p:sp>
      <p:sp>
        <p:nvSpPr>
          <p:cNvPr id="7" name="Shape 5"/>
          <p:cNvSpPr/>
          <p:nvPr/>
        </p:nvSpPr>
        <p:spPr>
          <a:xfrm>
            <a:off x="6200775" y="1443335"/>
            <a:ext cx="5175250" cy="1542951"/>
          </a:xfrm>
          <a:prstGeom prst="roundRect">
            <a:avLst>
              <a:gd name="adj" fmla="val 5556"/>
            </a:avLst>
          </a:prstGeom>
          <a:solidFill>
            <a:srgbClr val="FBFAF7"/>
          </a:solidFill>
          <a:ln w="6350">
            <a:solidFill>
              <a:srgbClr val="DCD8CF"/>
            </a:solidFill>
            <a:prstDash val="solid"/>
          </a:ln>
        </p:spPr>
      </p:sp>
      <p:sp>
        <p:nvSpPr>
          <p:cNvPr id="8" name="Text 6"/>
          <p:cNvSpPr/>
          <p:nvPr/>
        </p:nvSpPr>
        <p:spPr>
          <a:xfrm>
            <a:off x="6407150" y="1624310"/>
            <a:ext cx="4905375"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E2430"/>
                </a:solidFill>
                <a:latin typeface="Arial" pitchFamily="34" charset="0"/>
                <a:ea typeface="Arial" pitchFamily="34" charset="-122"/>
                <a:cs typeface="Arial" pitchFamily="34" charset="-120"/>
              </a:rPr>
              <a:t>Lossy</a:t>
            </a:r>
            <a:endParaRPr lang="en-US" sz="1800" dirty="0"/>
          </a:p>
        </p:txBody>
      </p:sp>
      <p:sp>
        <p:nvSpPr>
          <p:cNvPr id="9" name="Text 7"/>
          <p:cNvSpPr/>
          <p:nvPr/>
        </p:nvSpPr>
        <p:spPr>
          <a:xfrm>
            <a:off x="6407150" y="1987500"/>
            <a:ext cx="4905375"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E2430"/>
                </a:solidFill>
                <a:latin typeface="Arial" pitchFamily="34" charset="0"/>
                <a:ea typeface="Arial" pitchFamily="34" charset="-122"/>
                <a:cs typeface="Arial" pitchFamily="34" charset="-120"/>
              </a:rPr>
              <a:t>Throws away </a:t>
            </a:r>
            <a:r>
              <a:rPr lang="en-US" sz="1400" b="1" dirty="0">
                <a:solidFill>
                  <a:srgbClr val="1E2430"/>
                </a:solidFill>
                <a:latin typeface="Arial" pitchFamily="34" charset="0"/>
                <a:ea typeface="Arial" pitchFamily="34" charset="-122"/>
                <a:cs typeface="Arial" pitchFamily="34" charset="-120"/>
              </a:rPr>
              <a:t>detail you are unlikely to notice</a:t>
            </a:r>
            <a:r>
              <a:rPr lang="en-US" sz="1400" dirty="0">
                <a:solidFill>
                  <a:srgbClr val="1E2430"/>
                </a:solidFill>
                <a:latin typeface="Arial" pitchFamily="34" charset="0"/>
                <a:ea typeface="Arial" pitchFamily="34" charset="-122"/>
                <a:cs typeface="Arial" pitchFamily="34" charset="-120"/>
              </a:rPr>
              <a:t>. Smaller files, and the discarded detail is gone for good.</a:t>
            </a:r>
            <a:endParaRPr lang="en-US" sz="1400" dirty="0"/>
          </a:p>
        </p:txBody>
      </p:sp>
      <p:sp>
        <p:nvSpPr>
          <p:cNvPr id="10" name="Text 8"/>
          <p:cNvSpPr/>
          <p:nvPr/>
        </p:nvSpPr>
        <p:spPr>
          <a:xfrm>
            <a:off x="6407150" y="2574181"/>
            <a:ext cx="4905375"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0F6E6E"/>
                </a:solidFill>
                <a:latin typeface="Arial" pitchFamily="34" charset="0"/>
                <a:ea typeface="Arial" pitchFamily="34" charset="-122"/>
                <a:cs typeface="Arial" pitchFamily="34" charset="-120"/>
              </a:rPr>
              <a:t>.jpg .mp3 .m4a .mp4</a:t>
            </a:r>
            <a:endParaRPr lang="en-US" sz="1300" dirty="0"/>
          </a:p>
        </p:txBody>
      </p:sp>
      <p:sp>
        <p:nvSpPr>
          <p:cNvPr id="11" name="Shape 9"/>
          <p:cNvSpPr/>
          <p:nvPr/>
        </p:nvSpPr>
        <p:spPr>
          <a:xfrm>
            <a:off x="815975" y="3246636"/>
            <a:ext cx="5175250" cy="1471811"/>
          </a:xfrm>
          <a:prstGeom prst="roundRect">
            <a:avLst>
              <a:gd name="adj" fmla="val 5824"/>
            </a:avLst>
          </a:prstGeom>
          <a:solidFill>
            <a:srgbClr val="FBFAF7"/>
          </a:solidFill>
          <a:ln w="6350">
            <a:solidFill>
              <a:srgbClr val="DCD8CF"/>
            </a:solidFill>
            <a:prstDash val="solid"/>
          </a:ln>
        </p:spPr>
      </p:sp>
      <p:sp>
        <p:nvSpPr>
          <p:cNvPr id="12" name="Text 10"/>
          <p:cNvSpPr/>
          <p:nvPr/>
        </p:nvSpPr>
        <p:spPr>
          <a:xfrm>
            <a:off x="1022350" y="3427611"/>
            <a:ext cx="4905375"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E2430"/>
                </a:solidFill>
                <a:latin typeface="Arial" pitchFamily="34" charset="0"/>
                <a:ea typeface="Arial" pitchFamily="34" charset="-122"/>
                <a:cs typeface="Arial" pitchFamily="34" charset="-120"/>
              </a:rPr>
              <a:t>To zip something</a:t>
            </a:r>
            <a:endParaRPr lang="en-US" sz="1800" dirty="0"/>
          </a:p>
        </p:txBody>
      </p:sp>
      <p:sp>
        <p:nvSpPr>
          <p:cNvPr id="13" name="Text 11"/>
          <p:cNvSpPr/>
          <p:nvPr/>
        </p:nvSpPr>
        <p:spPr>
          <a:xfrm>
            <a:off x="1022350" y="3790801"/>
            <a:ext cx="4905375"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E2430"/>
                </a:solidFill>
                <a:latin typeface="Arial" pitchFamily="34" charset="0"/>
                <a:ea typeface="Arial" pitchFamily="34" charset="-122"/>
                <a:cs typeface="Arial" pitchFamily="34" charset="-120"/>
              </a:rPr>
              <a:t>Right-click the file or folder › </a:t>
            </a:r>
            <a:r>
              <a:rPr lang="en-US" sz="1400" b="1" dirty="0">
                <a:solidFill>
                  <a:srgbClr val="1E2430"/>
                </a:solidFill>
                <a:latin typeface="Arial" pitchFamily="34" charset="0"/>
                <a:ea typeface="Arial" pitchFamily="34" charset="-122"/>
                <a:cs typeface="Arial" pitchFamily="34" charset="-120"/>
              </a:rPr>
              <a:t>Compress to ZIP file</a:t>
            </a:r>
            <a:r>
              <a:rPr lang="en-US" sz="1400" dirty="0">
                <a:solidFill>
                  <a:srgbClr val="1E2430"/>
                </a:solidFill>
                <a:latin typeface="Arial" pitchFamily="34" charset="0"/>
                <a:ea typeface="Arial" pitchFamily="34" charset="-122"/>
                <a:cs typeface="Arial" pitchFamily="34" charset="-120"/>
              </a:rPr>
              <a:t>. To open one: right-click › </a:t>
            </a:r>
            <a:r>
              <a:rPr lang="en-US" sz="1400" b="1" dirty="0">
                <a:solidFill>
                  <a:srgbClr val="1E2430"/>
                </a:solidFill>
                <a:latin typeface="Arial" pitchFamily="34" charset="0"/>
                <a:ea typeface="Arial" pitchFamily="34" charset="-122"/>
                <a:cs typeface="Arial" pitchFamily="34" charset="-120"/>
              </a:rPr>
              <a:t>Extract All</a:t>
            </a:r>
            <a:r>
              <a:rPr lang="en-US" sz="1400" dirty="0">
                <a:solidFill>
                  <a:srgbClr val="1E2430"/>
                </a:solidFill>
                <a:latin typeface="Arial" pitchFamily="34" charset="0"/>
                <a:ea typeface="Arial" pitchFamily="34" charset="-122"/>
                <a:cs typeface="Arial" pitchFamily="34" charset="-120"/>
              </a:rPr>
              <a:t>.</a:t>
            </a:r>
            <a:endParaRPr lang="en-US" sz="1400" dirty="0"/>
          </a:p>
        </p:txBody>
      </p:sp>
      <p:sp>
        <p:nvSpPr>
          <p:cNvPr id="14" name="Shape 12"/>
          <p:cNvSpPr/>
          <p:nvPr/>
        </p:nvSpPr>
        <p:spPr>
          <a:xfrm>
            <a:off x="6200775" y="3246636"/>
            <a:ext cx="5175250" cy="1471811"/>
          </a:xfrm>
          <a:prstGeom prst="roundRect">
            <a:avLst>
              <a:gd name="adj" fmla="val 5824"/>
            </a:avLst>
          </a:prstGeom>
          <a:solidFill>
            <a:srgbClr val="FBFAF7"/>
          </a:solidFill>
          <a:ln w="6350">
            <a:solidFill>
              <a:srgbClr val="DCD8CF"/>
            </a:solidFill>
            <a:prstDash val="solid"/>
          </a:ln>
        </p:spPr>
      </p:sp>
      <p:sp>
        <p:nvSpPr>
          <p:cNvPr id="15" name="Text 13"/>
          <p:cNvSpPr/>
          <p:nvPr/>
        </p:nvSpPr>
        <p:spPr>
          <a:xfrm>
            <a:off x="6407150" y="3427611"/>
            <a:ext cx="4905375"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E2430"/>
                </a:solidFill>
                <a:latin typeface="Arial" pitchFamily="34" charset="0"/>
                <a:ea typeface="Arial" pitchFamily="34" charset="-122"/>
                <a:cs typeface="Arial" pitchFamily="34" charset="-120"/>
              </a:rPr>
              <a:t>When it barely helps</a:t>
            </a:r>
            <a:endParaRPr lang="en-US" sz="1800" dirty="0"/>
          </a:p>
        </p:txBody>
      </p:sp>
      <p:sp>
        <p:nvSpPr>
          <p:cNvPr id="16" name="Text 14"/>
          <p:cNvSpPr/>
          <p:nvPr/>
        </p:nvSpPr>
        <p:spPr>
          <a:xfrm>
            <a:off x="6407150" y="3790801"/>
            <a:ext cx="4905375" cy="77207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E2430"/>
                </a:solidFill>
                <a:latin typeface="Arial" pitchFamily="34" charset="0"/>
                <a:ea typeface="Arial" pitchFamily="34" charset="-122"/>
                <a:cs typeface="Arial" pitchFamily="34" charset="-120"/>
              </a:rPr>
              <a:t>Photos, music, and video are already compressed. Zipping them saves almost nothing. Zipping a folder of documents saves a lot.</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3EF"/>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5453A"/>
                </a:solidFill>
                <a:latin typeface="Arial" pitchFamily="34" charset="0"/>
                <a:ea typeface="Arial" pitchFamily="34" charset="-122"/>
                <a:cs typeface="Arial" pitchFamily="34" charset="-120"/>
              </a:rPr>
              <a:t>KNOW THE DIFFERENCE</a:t>
            </a:r>
            <a:endParaRPr lang="en-US" sz="1200" dirty="0"/>
          </a:p>
        </p:txBody>
      </p:sp>
      <p:sp>
        <p:nvSpPr>
          <p:cNvPr id="3" name="Text 1"/>
          <p:cNvSpPr/>
          <p:nvPr/>
        </p:nvSpPr>
        <p:spPr>
          <a:xfrm>
            <a:off x="812800" y="1000720"/>
            <a:ext cx="10883392" cy="500360"/>
          </a:xfrm>
          <a:prstGeom prst="rect">
            <a:avLst/>
          </a:prstGeom>
          <a:noFill/>
          <a:ln/>
        </p:spPr>
        <p:txBody>
          <a:bodyPr wrap="square" lIns="0" tIns="0" rIns="0" bIns="0" rtlCol="0" anchor="t">
            <a:normAutofit/>
          </a:bodyPr>
          <a:lstStyle/>
          <a:p>
            <a:pPr algn="l" indent="0" marL="0">
              <a:lnSpc>
                <a:spcPts val="3740"/>
              </a:lnSpc>
              <a:buNone/>
            </a:pPr>
            <a:r>
              <a:rPr lang="en-US" sz="3400" b="1" dirty="0">
                <a:solidFill>
                  <a:srgbClr val="1E2430"/>
                </a:solidFill>
                <a:latin typeface="Arial" pitchFamily="34" charset="0"/>
                <a:ea typeface="Arial" pitchFamily="34" charset="-122"/>
                <a:cs typeface="Arial" pitchFamily="34" charset="-120"/>
              </a:rPr>
              <a:t>Deleted is not always deleted, and sometimes it is</a:t>
            </a:r>
            <a:endParaRPr lang="en-US" sz="3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12800" y="1729680"/>
          <a:ext cx="10566400" cy="2483941"/>
        </p:xfrm>
        <a:graphic>
          <a:graphicData uri="http://schemas.openxmlformats.org/drawingml/2006/table">
            <a:tbl>
              <a:tblPr/>
              <a:tblGrid>
                <a:gridCol w="3592576"/>
                <a:gridCol w="3486912"/>
                <a:gridCol w="3486912"/>
              </a:tblGrid>
              <a:tr h="413990">
                <a:tc>
                  <a:txBody>
                    <a:bodyPr/>
                    <a:lstStyle/>
                    <a:p>
                      <a:pPr indent="0" marL="0">
                        <a:lnSpc>
                          <a:spcPts val="1960"/>
                        </a:lnSpc>
                        <a:buNone/>
                      </a:pPr>
                      <a:r>
                        <a:rPr lang="en-US" sz="1400" b="1" dirty="0">
                          <a:solidFill>
                            <a:srgbClr val="1E2430"/>
                          </a:solidFill>
                          <a:latin typeface="Arial" pitchFamily="34" charset="0"/>
                          <a:ea typeface="Arial" pitchFamily="34" charset="-122"/>
                          <a:cs typeface="Arial" pitchFamily="34" charset="-120"/>
                        </a:rPr>
                        <a:t>What you did</a:t>
                      </a:r>
                      <a:endParaRPr lang="en-US" sz="1400" dirty="0">
                        <a:latin typeface="Arial" charset="0"/>
                        <a:ea typeface="Arial" charset="0"/>
                        <a:cs typeface="Arial" charset="0"/>
                      </a:endParaRPr>
                    </a:p>
                  </a:txBody>
                  <a:tcPr marL="114300" marR="114300" marT="76200" marB="76200" anchor="t">
                    <a:lnL w="12700" cap="flat" cmpd="sng" algn="ctr">
                      <a:solidFill>
                        <a:srgbClr val="C5C5C5"/>
                      </a:solidFill>
                      <a:prstDash val="solid"/>
                      <a:round/>
                      <a:headEnd type="none" w="med" len="med"/>
                      <a:tailEnd type="none" w="med" len="med"/>
                    </a:lnL>
                    <a:lnR w="12700" cap="flat" cmpd="sng" algn="ctr">
                      <a:solidFill>
                        <a:srgbClr val="C5C5C5"/>
                      </a:solidFill>
                      <a:prstDash val="solid"/>
                      <a:round/>
                      <a:headEnd type="none" w="med" len="med"/>
                      <a:tailEnd type="none" w="med" len="med"/>
                    </a:lnR>
                    <a:lnT w="12700" cap="flat" cmpd="sng" algn="ctr">
                      <a:solidFill>
                        <a:srgbClr val="C5C5C5"/>
                      </a:solidFill>
                      <a:prstDash val="solid"/>
                      <a:round/>
                      <a:headEnd type="none" w="med" len="med"/>
                      <a:tailEnd type="none" w="med" len="med"/>
                    </a:lnT>
                    <a:lnB w="12700" cap="flat" cmpd="sng" algn="ctr">
                      <a:solidFill>
                        <a:srgbClr val="C5C5C5"/>
                      </a:solidFill>
                      <a:prstDash val="solid"/>
                      <a:round/>
                      <a:headEnd type="none" w="med" len="med"/>
                      <a:tailEnd type="none" w="med" len="med"/>
                    </a:lnB>
                    <a:solidFill>
                      <a:srgbClr val="E7E4DC"/>
                    </a:solidFill>
                  </a:tcPr>
                </a:tc>
                <a:tc>
                  <a:txBody>
                    <a:bodyPr/>
                    <a:lstStyle/>
                    <a:p>
                      <a:pPr indent="0" marL="0">
                        <a:lnSpc>
                          <a:spcPts val="1960"/>
                        </a:lnSpc>
                        <a:buNone/>
                      </a:pPr>
                      <a:r>
                        <a:rPr lang="en-US" sz="1400" b="1" dirty="0">
                          <a:solidFill>
                            <a:srgbClr val="1E2430"/>
                          </a:solidFill>
                          <a:latin typeface="Arial" pitchFamily="34" charset="0"/>
                          <a:ea typeface="Arial" pitchFamily="34" charset="-122"/>
                          <a:cs typeface="Arial" pitchFamily="34" charset="-120"/>
                        </a:rPr>
                        <a:t>Where it went</a:t>
                      </a:r>
                      <a:endParaRPr lang="en-US" sz="1400" dirty="0">
                        <a:latin typeface="Arial" charset="0"/>
                        <a:ea typeface="Arial" charset="0"/>
                        <a:cs typeface="Arial" charset="0"/>
                      </a:endParaRPr>
                    </a:p>
                  </a:txBody>
                  <a:tcPr marL="114300" marR="114300" marT="76200" marB="76200" anchor="t">
                    <a:lnL w="12700" cap="flat" cmpd="sng" algn="ctr">
                      <a:solidFill>
                        <a:srgbClr val="C5C5C5"/>
                      </a:solidFill>
                      <a:prstDash val="solid"/>
                      <a:round/>
                      <a:headEnd type="none" w="med" len="med"/>
                      <a:tailEnd type="none" w="med" len="med"/>
                    </a:lnL>
                    <a:lnR w="12700" cap="flat" cmpd="sng" algn="ctr">
                      <a:solidFill>
                        <a:srgbClr val="C5C5C5"/>
                      </a:solidFill>
                      <a:prstDash val="solid"/>
                      <a:round/>
                      <a:headEnd type="none" w="med" len="med"/>
                      <a:tailEnd type="none" w="med" len="med"/>
                    </a:lnR>
                    <a:lnT w="12700" cap="flat" cmpd="sng" algn="ctr">
                      <a:solidFill>
                        <a:srgbClr val="C5C5C5"/>
                      </a:solidFill>
                      <a:prstDash val="solid"/>
                      <a:round/>
                      <a:headEnd type="none" w="med" len="med"/>
                      <a:tailEnd type="none" w="med" len="med"/>
                    </a:lnT>
                    <a:lnB w="12700" cap="flat" cmpd="sng" algn="ctr">
                      <a:solidFill>
                        <a:srgbClr val="C5C5C5"/>
                      </a:solidFill>
                      <a:prstDash val="solid"/>
                      <a:round/>
                      <a:headEnd type="none" w="med" len="med"/>
                      <a:tailEnd type="none" w="med" len="med"/>
                    </a:lnB>
                    <a:solidFill>
                      <a:srgbClr val="E7E4DC"/>
                    </a:solidFill>
                  </a:tcPr>
                </a:tc>
                <a:tc>
                  <a:txBody>
                    <a:bodyPr/>
                    <a:lstStyle/>
                    <a:p>
                      <a:pPr indent="0" marL="0">
                        <a:lnSpc>
                          <a:spcPts val="1960"/>
                        </a:lnSpc>
                        <a:buNone/>
                      </a:pPr>
                      <a:r>
                        <a:rPr lang="en-US" sz="1400" b="1" dirty="0">
                          <a:solidFill>
                            <a:srgbClr val="1E2430"/>
                          </a:solidFill>
                          <a:latin typeface="Arial" pitchFamily="34" charset="0"/>
                          <a:ea typeface="Arial" pitchFamily="34" charset="-122"/>
                          <a:cs typeface="Arial" pitchFamily="34" charset="-120"/>
                        </a:rPr>
                        <a:t>Can you get it back?</a:t>
                      </a:r>
                      <a:endParaRPr lang="en-US" sz="1400" dirty="0">
                        <a:latin typeface="Arial" charset="0"/>
                        <a:ea typeface="Arial" charset="0"/>
                        <a:cs typeface="Arial" charset="0"/>
                      </a:endParaRPr>
                    </a:p>
                  </a:txBody>
                  <a:tcPr marL="114300" marR="114300" marT="76200" marB="76200" anchor="t">
                    <a:lnL w="12700" cap="flat" cmpd="sng" algn="ctr">
                      <a:solidFill>
                        <a:srgbClr val="C5C5C5"/>
                      </a:solidFill>
                      <a:prstDash val="solid"/>
                      <a:round/>
                      <a:headEnd type="none" w="med" len="med"/>
                      <a:tailEnd type="none" w="med" len="med"/>
                    </a:lnL>
                    <a:lnR w="12700" cap="flat" cmpd="sng" algn="ctr">
                      <a:solidFill>
                        <a:srgbClr val="C5C5C5"/>
                      </a:solidFill>
                      <a:prstDash val="solid"/>
                      <a:round/>
                      <a:headEnd type="none" w="med" len="med"/>
                      <a:tailEnd type="none" w="med" len="med"/>
                    </a:lnR>
                    <a:lnT w="12700" cap="flat" cmpd="sng" algn="ctr">
                      <a:solidFill>
                        <a:srgbClr val="C5C5C5"/>
                      </a:solidFill>
                      <a:prstDash val="solid"/>
                      <a:round/>
                      <a:headEnd type="none" w="med" len="med"/>
                      <a:tailEnd type="none" w="med" len="med"/>
                    </a:lnT>
                    <a:lnB w="12700" cap="flat" cmpd="sng" algn="ctr">
                      <a:solidFill>
                        <a:srgbClr val="C5C5C5"/>
                      </a:solidFill>
                      <a:prstDash val="solid"/>
                      <a:round/>
                      <a:headEnd type="none" w="med" len="med"/>
                      <a:tailEnd type="none" w="med" len="med"/>
                    </a:lnB>
                    <a:solidFill>
                      <a:srgbClr val="E7E4DC"/>
                    </a:solidFill>
                  </a:tcPr>
                </a:tc>
              </a:tr>
              <a:tr h="413990">
                <a:tc>
                  <a:txBody>
                    <a:bodyPr/>
                    <a:lstStyle/>
                    <a:p>
                      <a:pPr indent="0" marL="0">
                        <a:lnSpc>
                          <a:spcPts val="1960"/>
                        </a:lnSpc>
                        <a:buNone/>
                      </a:pPr>
                      <a:r>
                        <a:rPr lang="en-US" sz="1400" dirty="0">
                          <a:solidFill>
                            <a:srgbClr val="1E2430"/>
                          </a:solidFill>
                          <a:latin typeface="Arial" pitchFamily="34" charset="0"/>
                          <a:ea typeface="Arial" pitchFamily="34" charset="-122"/>
                          <a:cs typeface="Arial" pitchFamily="34" charset="-120"/>
                        </a:rPr>
                        <a:t>Delete on your hard drive</a:t>
                      </a:r>
                      <a:endParaRPr lang="en-US" sz="1400" dirty="0">
                        <a:latin typeface="Arial" charset="0"/>
                        <a:ea typeface="Arial" charset="0"/>
                        <a:cs typeface="Arial" charset="0"/>
                      </a:endParaRPr>
                    </a:p>
                  </a:txBody>
                  <a:tcPr marL="114300" marR="114300" marT="76200" marB="76200" anchor="t">
                    <a:lnL w="12700" cap="flat" cmpd="sng" algn="ctr">
                      <a:solidFill>
                        <a:srgbClr val="C5C5C5"/>
                      </a:solidFill>
                      <a:prstDash val="solid"/>
                      <a:round/>
                      <a:headEnd type="none" w="med" len="med"/>
                      <a:tailEnd type="none" w="med" len="med"/>
                    </a:lnL>
                    <a:lnR w="12700" cap="flat" cmpd="sng" algn="ctr">
                      <a:solidFill>
                        <a:srgbClr val="C5C5C5"/>
                      </a:solidFill>
                      <a:prstDash val="solid"/>
                      <a:round/>
                      <a:headEnd type="none" w="med" len="med"/>
                      <a:tailEnd type="none" w="med" len="med"/>
                    </a:lnR>
                    <a:lnT w="12700" cap="flat" cmpd="sng" algn="ctr">
                      <a:solidFill>
                        <a:srgbClr val="C5C5C5"/>
                      </a:solidFill>
                      <a:prstDash val="solid"/>
                      <a:round/>
                      <a:headEnd type="none" w="med" len="med"/>
                      <a:tailEnd type="none" w="med" len="med"/>
                    </a:lnT>
                    <a:lnB w="12700" cap="flat" cmpd="sng" algn="ctr">
                      <a:solidFill>
                        <a:srgbClr val="C5C5C5"/>
                      </a:solidFill>
                      <a:prstDash val="solid"/>
                      <a:round/>
                      <a:headEnd type="none" w="med" len="med"/>
                      <a:tailEnd type="none" w="med" len="med"/>
                    </a:lnB>
                    <a:solidFill>
                      <a:srgbClr val="FBFAF7"/>
                    </a:solidFill>
                  </a:tcPr>
                </a:tc>
                <a:tc>
                  <a:txBody>
                    <a:bodyPr/>
                    <a:lstStyle/>
                    <a:p>
                      <a:pPr indent="0" marL="0">
                        <a:lnSpc>
                          <a:spcPts val="1960"/>
                        </a:lnSpc>
                        <a:buNone/>
                      </a:pPr>
                      <a:r>
                        <a:rPr lang="en-US" sz="1400" dirty="0">
                          <a:solidFill>
                            <a:srgbClr val="1E2430"/>
                          </a:solidFill>
                          <a:latin typeface="Arial" pitchFamily="34" charset="0"/>
                          <a:ea typeface="Arial" pitchFamily="34" charset="-122"/>
                          <a:cs typeface="Arial" pitchFamily="34" charset="-120"/>
                        </a:rPr>
                        <a:t>Recycle Bin</a:t>
                      </a:r>
                      <a:endParaRPr lang="en-US" sz="1400" dirty="0">
                        <a:latin typeface="Arial" charset="0"/>
                        <a:ea typeface="Arial" charset="0"/>
                        <a:cs typeface="Arial" charset="0"/>
                      </a:endParaRPr>
                    </a:p>
                  </a:txBody>
                  <a:tcPr marL="114300" marR="114300" marT="76200" marB="76200" anchor="t">
                    <a:lnL w="12700" cap="flat" cmpd="sng" algn="ctr">
                      <a:solidFill>
                        <a:srgbClr val="C5C5C5"/>
                      </a:solidFill>
                      <a:prstDash val="solid"/>
                      <a:round/>
                      <a:headEnd type="none" w="med" len="med"/>
                      <a:tailEnd type="none" w="med" len="med"/>
                    </a:lnL>
                    <a:lnR w="12700" cap="flat" cmpd="sng" algn="ctr">
                      <a:solidFill>
                        <a:srgbClr val="C5C5C5"/>
                      </a:solidFill>
                      <a:prstDash val="solid"/>
                      <a:round/>
                      <a:headEnd type="none" w="med" len="med"/>
                      <a:tailEnd type="none" w="med" len="med"/>
                    </a:lnR>
                    <a:lnT w="12700" cap="flat" cmpd="sng" algn="ctr">
                      <a:solidFill>
                        <a:srgbClr val="C5C5C5"/>
                      </a:solidFill>
                      <a:prstDash val="solid"/>
                      <a:round/>
                      <a:headEnd type="none" w="med" len="med"/>
                      <a:tailEnd type="none" w="med" len="med"/>
                    </a:lnT>
                    <a:lnB w="12700" cap="flat" cmpd="sng" algn="ctr">
                      <a:solidFill>
                        <a:srgbClr val="C5C5C5"/>
                      </a:solidFill>
                      <a:prstDash val="solid"/>
                      <a:round/>
                      <a:headEnd type="none" w="med" len="med"/>
                      <a:tailEnd type="none" w="med" len="med"/>
                    </a:lnB>
                    <a:solidFill>
                      <a:srgbClr val="FBFAF7"/>
                    </a:solidFill>
                  </a:tcPr>
                </a:tc>
                <a:tc>
                  <a:txBody>
                    <a:bodyPr/>
                    <a:lstStyle/>
                    <a:p>
                      <a:pPr indent="0" marL="0">
                        <a:lnSpc>
                          <a:spcPts val="1960"/>
                        </a:lnSpc>
                        <a:buNone/>
                      </a:pPr>
                      <a:r>
                        <a:rPr lang="en-US" sz="1400" dirty="0">
                          <a:solidFill>
                            <a:srgbClr val="1E2430"/>
                          </a:solidFill>
                          <a:latin typeface="Arial" pitchFamily="34" charset="0"/>
                          <a:ea typeface="Arial" pitchFamily="34" charset="-122"/>
                          <a:cs typeface="Arial" pitchFamily="34" charset="-120"/>
                        </a:rPr>
                        <a:t>Yes. Right-click › Restore</a:t>
                      </a:r>
                      <a:endParaRPr lang="en-US" sz="1400" dirty="0">
                        <a:latin typeface="Arial" charset="0"/>
                        <a:ea typeface="Arial" charset="0"/>
                        <a:cs typeface="Arial" charset="0"/>
                      </a:endParaRPr>
                    </a:p>
                  </a:txBody>
                  <a:tcPr marL="114300" marR="114300" marT="76200" marB="76200" anchor="t">
                    <a:lnL w="12700" cap="flat" cmpd="sng" algn="ctr">
                      <a:solidFill>
                        <a:srgbClr val="C5C5C5"/>
                      </a:solidFill>
                      <a:prstDash val="solid"/>
                      <a:round/>
                      <a:headEnd type="none" w="med" len="med"/>
                      <a:tailEnd type="none" w="med" len="med"/>
                    </a:lnL>
                    <a:lnR w="12700" cap="flat" cmpd="sng" algn="ctr">
                      <a:solidFill>
                        <a:srgbClr val="C5C5C5"/>
                      </a:solidFill>
                      <a:prstDash val="solid"/>
                      <a:round/>
                      <a:headEnd type="none" w="med" len="med"/>
                      <a:tailEnd type="none" w="med" len="med"/>
                    </a:lnR>
                    <a:lnT w="12700" cap="flat" cmpd="sng" algn="ctr">
                      <a:solidFill>
                        <a:srgbClr val="C5C5C5"/>
                      </a:solidFill>
                      <a:prstDash val="solid"/>
                      <a:round/>
                      <a:headEnd type="none" w="med" len="med"/>
                      <a:tailEnd type="none" w="med" len="med"/>
                    </a:lnT>
                    <a:lnB w="12700" cap="flat" cmpd="sng" algn="ctr">
                      <a:solidFill>
                        <a:srgbClr val="C5C5C5"/>
                      </a:solidFill>
                      <a:prstDash val="solid"/>
                      <a:round/>
                      <a:headEnd type="none" w="med" len="med"/>
                      <a:tailEnd type="none" w="med" len="med"/>
                    </a:lnB>
                    <a:solidFill>
                      <a:srgbClr val="FBFAF7"/>
                    </a:solidFill>
                  </a:tcPr>
                </a:tc>
              </a:tr>
              <a:tr h="413990">
                <a:tc>
                  <a:txBody>
                    <a:bodyPr/>
                    <a:lstStyle/>
                    <a:p>
                      <a:pPr indent="0" marL="0">
                        <a:lnSpc>
                          <a:spcPts val="1960"/>
                        </a:lnSpc>
                        <a:buNone/>
                      </a:pPr>
                      <a:r>
                        <a:rPr lang="en-US" sz="1400" dirty="0">
                          <a:solidFill>
                            <a:srgbClr val="1E2430"/>
                          </a:solidFill>
                          <a:latin typeface="Arial" pitchFamily="34" charset="0"/>
                          <a:ea typeface="Arial" pitchFamily="34" charset="-122"/>
                          <a:cs typeface="Arial" pitchFamily="34" charset="-120"/>
                        </a:rPr>
                        <a:t>Shift+Delete</a:t>
                      </a:r>
                      <a:endParaRPr lang="en-US" sz="1400" dirty="0">
                        <a:latin typeface="Arial" charset="0"/>
                        <a:ea typeface="Arial" charset="0"/>
                        <a:cs typeface="Arial" charset="0"/>
                      </a:endParaRPr>
                    </a:p>
                  </a:txBody>
                  <a:tcPr marL="114300" marR="114300" marT="76200" marB="76200" anchor="t">
                    <a:lnL w="12700" cap="flat" cmpd="sng" algn="ctr">
                      <a:solidFill>
                        <a:srgbClr val="C5C5C5"/>
                      </a:solidFill>
                      <a:prstDash val="solid"/>
                      <a:round/>
                      <a:headEnd type="none" w="med" len="med"/>
                      <a:tailEnd type="none" w="med" len="med"/>
                    </a:lnL>
                    <a:lnR w="12700" cap="flat" cmpd="sng" algn="ctr">
                      <a:solidFill>
                        <a:srgbClr val="C5C5C5"/>
                      </a:solidFill>
                      <a:prstDash val="solid"/>
                      <a:round/>
                      <a:headEnd type="none" w="med" len="med"/>
                      <a:tailEnd type="none" w="med" len="med"/>
                    </a:lnR>
                    <a:lnT w="12700" cap="flat" cmpd="sng" algn="ctr">
                      <a:solidFill>
                        <a:srgbClr val="C5C5C5"/>
                      </a:solidFill>
                      <a:prstDash val="solid"/>
                      <a:round/>
                      <a:headEnd type="none" w="med" len="med"/>
                      <a:tailEnd type="none" w="med" len="med"/>
                    </a:lnT>
                    <a:lnB w="12700" cap="flat" cmpd="sng" algn="ctr">
                      <a:solidFill>
                        <a:srgbClr val="C5C5C5"/>
                      </a:solidFill>
                      <a:prstDash val="solid"/>
                      <a:round/>
                      <a:headEnd type="none" w="med" len="med"/>
                      <a:tailEnd type="none" w="med" len="med"/>
                    </a:lnB>
                    <a:solidFill>
                      <a:srgbClr val="F4F3EF"/>
                    </a:solidFill>
                  </a:tcPr>
                </a:tc>
                <a:tc>
                  <a:txBody>
                    <a:bodyPr/>
                    <a:lstStyle/>
                    <a:p>
                      <a:pPr indent="0" marL="0">
                        <a:lnSpc>
                          <a:spcPts val="1960"/>
                        </a:lnSpc>
                        <a:buNone/>
                      </a:pPr>
                      <a:r>
                        <a:rPr lang="en-US" sz="1400" dirty="0">
                          <a:solidFill>
                            <a:srgbClr val="1E2430"/>
                          </a:solidFill>
                          <a:latin typeface="Arial" pitchFamily="34" charset="0"/>
                          <a:ea typeface="Arial" pitchFamily="34" charset="-122"/>
                          <a:cs typeface="Arial" pitchFamily="34" charset="-120"/>
                        </a:rPr>
                        <a:t>Nowhere</a:t>
                      </a:r>
                      <a:endParaRPr lang="en-US" sz="1400" dirty="0">
                        <a:latin typeface="Arial" charset="0"/>
                        <a:ea typeface="Arial" charset="0"/>
                        <a:cs typeface="Arial" charset="0"/>
                      </a:endParaRPr>
                    </a:p>
                  </a:txBody>
                  <a:tcPr marL="114300" marR="114300" marT="76200" marB="76200" anchor="t">
                    <a:lnL w="12700" cap="flat" cmpd="sng" algn="ctr">
                      <a:solidFill>
                        <a:srgbClr val="C5C5C5"/>
                      </a:solidFill>
                      <a:prstDash val="solid"/>
                      <a:round/>
                      <a:headEnd type="none" w="med" len="med"/>
                      <a:tailEnd type="none" w="med" len="med"/>
                    </a:lnL>
                    <a:lnR w="12700" cap="flat" cmpd="sng" algn="ctr">
                      <a:solidFill>
                        <a:srgbClr val="C5C5C5"/>
                      </a:solidFill>
                      <a:prstDash val="solid"/>
                      <a:round/>
                      <a:headEnd type="none" w="med" len="med"/>
                      <a:tailEnd type="none" w="med" len="med"/>
                    </a:lnR>
                    <a:lnT w="12700" cap="flat" cmpd="sng" algn="ctr">
                      <a:solidFill>
                        <a:srgbClr val="C5C5C5"/>
                      </a:solidFill>
                      <a:prstDash val="solid"/>
                      <a:round/>
                      <a:headEnd type="none" w="med" len="med"/>
                      <a:tailEnd type="none" w="med" len="med"/>
                    </a:lnT>
                    <a:lnB w="12700" cap="flat" cmpd="sng" algn="ctr">
                      <a:solidFill>
                        <a:srgbClr val="C5C5C5"/>
                      </a:solidFill>
                      <a:prstDash val="solid"/>
                      <a:round/>
                      <a:headEnd type="none" w="med" len="med"/>
                      <a:tailEnd type="none" w="med" len="med"/>
                    </a:lnB>
                    <a:solidFill>
                      <a:srgbClr val="F4F3EF"/>
                    </a:solidFill>
                  </a:tcPr>
                </a:tc>
                <a:tc>
                  <a:txBody>
                    <a:bodyPr/>
                    <a:lstStyle/>
                    <a:p>
                      <a:pPr indent="0" marL="0">
                        <a:lnSpc>
                          <a:spcPts val="1960"/>
                        </a:lnSpc>
                        <a:buNone/>
                      </a:pPr>
                      <a:r>
                        <a:rPr lang="en-US" sz="1400" dirty="0">
                          <a:solidFill>
                            <a:srgbClr val="1E2430"/>
                          </a:solidFill>
                          <a:latin typeface="Arial" pitchFamily="34" charset="0"/>
                          <a:ea typeface="Arial" pitchFamily="34" charset="-122"/>
                          <a:cs typeface="Arial" pitchFamily="34" charset="-120"/>
                        </a:rPr>
                        <a:t>No</a:t>
                      </a:r>
                      <a:endParaRPr lang="en-US" sz="1400" dirty="0">
                        <a:latin typeface="Arial" charset="0"/>
                        <a:ea typeface="Arial" charset="0"/>
                        <a:cs typeface="Arial" charset="0"/>
                      </a:endParaRPr>
                    </a:p>
                  </a:txBody>
                  <a:tcPr marL="114300" marR="114300" marT="76200" marB="76200" anchor="t">
                    <a:lnL w="12700" cap="flat" cmpd="sng" algn="ctr">
                      <a:solidFill>
                        <a:srgbClr val="C5C5C5"/>
                      </a:solidFill>
                      <a:prstDash val="solid"/>
                      <a:round/>
                      <a:headEnd type="none" w="med" len="med"/>
                      <a:tailEnd type="none" w="med" len="med"/>
                    </a:lnL>
                    <a:lnR w="12700" cap="flat" cmpd="sng" algn="ctr">
                      <a:solidFill>
                        <a:srgbClr val="C5C5C5"/>
                      </a:solidFill>
                      <a:prstDash val="solid"/>
                      <a:round/>
                      <a:headEnd type="none" w="med" len="med"/>
                      <a:tailEnd type="none" w="med" len="med"/>
                    </a:lnR>
                    <a:lnT w="12700" cap="flat" cmpd="sng" algn="ctr">
                      <a:solidFill>
                        <a:srgbClr val="C5C5C5"/>
                      </a:solidFill>
                      <a:prstDash val="solid"/>
                      <a:round/>
                      <a:headEnd type="none" w="med" len="med"/>
                      <a:tailEnd type="none" w="med" len="med"/>
                    </a:lnT>
                    <a:lnB w="12700" cap="flat" cmpd="sng" algn="ctr">
                      <a:solidFill>
                        <a:srgbClr val="C5C5C5"/>
                      </a:solidFill>
                      <a:prstDash val="solid"/>
                      <a:round/>
                      <a:headEnd type="none" w="med" len="med"/>
                      <a:tailEnd type="none" w="med" len="med"/>
                    </a:lnB>
                    <a:solidFill>
                      <a:srgbClr val="F4F3EF"/>
                    </a:solidFill>
                  </a:tcPr>
                </a:tc>
              </a:tr>
              <a:tr h="413990">
                <a:tc>
                  <a:txBody>
                    <a:bodyPr/>
                    <a:lstStyle/>
                    <a:p>
                      <a:pPr indent="0" marL="0">
                        <a:lnSpc>
                          <a:spcPts val="1960"/>
                        </a:lnSpc>
                        <a:buNone/>
                      </a:pPr>
                      <a:r>
                        <a:rPr lang="en-US" sz="1400" dirty="0">
                          <a:solidFill>
                            <a:srgbClr val="1E2430"/>
                          </a:solidFill>
                          <a:latin typeface="Arial" pitchFamily="34" charset="0"/>
                          <a:ea typeface="Arial" pitchFamily="34" charset="-122"/>
                          <a:cs typeface="Arial" pitchFamily="34" charset="-120"/>
                        </a:rPr>
                        <a:t>Delete on a USB drive or network drive</a:t>
                      </a:r>
                      <a:endParaRPr lang="en-US" sz="1400" dirty="0">
                        <a:latin typeface="Arial" charset="0"/>
                        <a:ea typeface="Arial" charset="0"/>
                        <a:cs typeface="Arial" charset="0"/>
                      </a:endParaRPr>
                    </a:p>
                  </a:txBody>
                  <a:tcPr marL="114300" marR="114300" marT="76200" marB="76200" anchor="t">
                    <a:lnL w="12700" cap="flat" cmpd="sng" algn="ctr">
                      <a:solidFill>
                        <a:srgbClr val="C5C5C5"/>
                      </a:solidFill>
                      <a:prstDash val="solid"/>
                      <a:round/>
                      <a:headEnd type="none" w="med" len="med"/>
                      <a:tailEnd type="none" w="med" len="med"/>
                    </a:lnL>
                    <a:lnR w="12700" cap="flat" cmpd="sng" algn="ctr">
                      <a:solidFill>
                        <a:srgbClr val="C5C5C5"/>
                      </a:solidFill>
                      <a:prstDash val="solid"/>
                      <a:round/>
                      <a:headEnd type="none" w="med" len="med"/>
                      <a:tailEnd type="none" w="med" len="med"/>
                    </a:lnR>
                    <a:lnT w="12700" cap="flat" cmpd="sng" algn="ctr">
                      <a:solidFill>
                        <a:srgbClr val="C5C5C5"/>
                      </a:solidFill>
                      <a:prstDash val="solid"/>
                      <a:round/>
                      <a:headEnd type="none" w="med" len="med"/>
                      <a:tailEnd type="none" w="med" len="med"/>
                    </a:lnT>
                    <a:lnB w="12700" cap="flat" cmpd="sng" algn="ctr">
                      <a:solidFill>
                        <a:srgbClr val="C5C5C5"/>
                      </a:solidFill>
                      <a:prstDash val="solid"/>
                      <a:round/>
                      <a:headEnd type="none" w="med" len="med"/>
                      <a:tailEnd type="none" w="med" len="med"/>
                    </a:lnB>
                    <a:solidFill>
                      <a:srgbClr val="FBFAF7"/>
                    </a:solidFill>
                  </a:tcPr>
                </a:tc>
                <a:tc>
                  <a:txBody>
                    <a:bodyPr/>
                    <a:lstStyle/>
                    <a:p>
                      <a:pPr indent="0" marL="0">
                        <a:lnSpc>
                          <a:spcPts val="1960"/>
                        </a:lnSpc>
                        <a:buNone/>
                      </a:pPr>
                      <a:r>
                        <a:rPr lang="en-US" sz="1400" dirty="0">
                          <a:solidFill>
                            <a:srgbClr val="1E2430"/>
                          </a:solidFill>
                          <a:latin typeface="Arial" pitchFamily="34" charset="0"/>
                          <a:ea typeface="Arial" pitchFamily="34" charset="-122"/>
                          <a:cs typeface="Arial" pitchFamily="34" charset="-120"/>
                        </a:rPr>
                        <a:t>Nowhere</a:t>
                      </a:r>
                      <a:endParaRPr lang="en-US" sz="1400" dirty="0">
                        <a:latin typeface="Arial" charset="0"/>
                        <a:ea typeface="Arial" charset="0"/>
                        <a:cs typeface="Arial" charset="0"/>
                      </a:endParaRPr>
                    </a:p>
                  </a:txBody>
                  <a:tcPr marL="114300" marR="114300" marT="76200" marB="76200" anchor="t">
                    <a:lnL w="12700" cap="flat" cmpd="sng" algn="ctr">
                      <a:solidFill>
                        <a:srgbClr val="C5C5C5"/>
                      </a:solidFill>
                      <a:prstDash val="solid"/>
                      <a:round/>
                      <a:headEnd type="none" w="med" len="med"/>
                      <a:tailEnd type="none" w="med" len="med"/>
                    </a:lnL>
                    <a:lnR w="12700" cap="flat" cmpd="sng" algn="ctr">
                      <a:solidFill>
                        <a:srgbClr val="C5C5C5"/>
                      </a:solidFill>
                      <a:prstDash val="solid"/>
                      <a:round/>
                      <a:headEnd type="none" w="med" len="med"/>
                      <a:tailEnd type="none" w="med" len="med"/>
                    </a:lnR>
                    <a:lnT w="12700" cap="flat" cmpd="sng" algn="ctr">
                      <a:solidFill>
                        <a:srgbClr val="C5C5C5"/>
                      </a:solidFill>
                      <a:prstDash val="solid"/>
                      <a:round/>
                      <a:headEnd type="none" w="med" len="med"/>
                      <a:tailEnd type="none" w="med" len="med"/>
                    </a:lnT>
                    <a:lnB w="12700" cap="flat" cmpd="sng" algn="ctr">
                      <a:solidFill>
                        <a:srgbClr val="C5C5C5"/>
                      </a:solidFill>
                      <a:prstDash val="solid"/>
                      <a:round/>
                      <a:headEnd type="none" w="med" len="med"/>
                      <a:tailEnd type="none" w="med" len="med"/>
                    </a:lnB>
                    <a:solidFill>
                      <a:srgbClr val="FBFAF7"/>
                    </a:solidFill>
                  </a:tcPr>
                </a:tc>
                <a:tc>
                  <a:txBody>
                    <a:bodyPr/>
                    <a:lstStyle/>
                    <a:p>
                      <a:pPr indent="0" marL="0">
                        <a:lnSpc>
                          <a:spcPts val="1960"/>
                        </a:lnSpc>
                        <a:buNone/>
                      </a:pPr>
                      <a:r>
                        <a:rPr lang="en-US" sz="1400" dirty="0">
                          <a:solidFill>
                            <a:srgbClr val="1E2430"/>
                          </a:solidFill>
                          <a:latin typeface="Arial" pitchFamily="34" charset="0"/>
                          <a:ea typeface="Arial" pitchFamily="34" charset="-122"/>
                          <a:cs typeface="Arial" pitchFamily="34" charset="-120"/>
                        </a:rPr>
                        <a:t>No</a:t>
                      </a:r>
                      <a:endParaRPr lang="en-US" sz="1400" dirty="0">
                        <a:latin typeface="Arial" charset="0"/>
                        <a:ea typeface="Arial" charset="0"/>
                        <a:cs typeface="Arial" charset="0"/>
                      </a:endParaRPr>
                    </a:p>
                  </a:txBody>
                  <a:tcPr marL="114300" marR="114300" marT="76200" marB="76200" anchor="t">
                    <a:lnL w="12700" cap="flat" cmpd="sng" algn="ctr">
                      <a:solidFill>
                        <a:srgbClr val="C5C5C5"/>
                      </a:solidFill>
                      <a:prstDash val="solid"/>
                      <a:round/>
                      <a:headEnd type="none" w="med" len="med"/>
                      <a:tailEnd type="none" w="med" len="med"/>
                    </a:lnL>
                    <a:lnR w="12700" cap="flat" cmpd="sng" algn="ctr">
                      <a:solidFill>
                        <a:srgbClr val="C5C5C5"/>
                      </a:solidFill>
                      <a:prstDash val="solid"/>
                      <a:round/>
                      <a:headEnd type="none" w="med" len="med"/>
                      <a:tailEnd type="none" w="med" len="med"/>
                    </a:lnR>
                    <a:lnT w="12700" cap="flat" cmpd="sng" algn="ctr">
                      <a:solidFill>
                        <a:srgbClr val="C5C5C5"/>
                      </a:solidFill>
                      <a:prstDash val="solid"/>
                      <a:round/>
                      <a:headEnd type="none" w="med" len="med"/>
                      <a:tailEnd type="none" w="med" len="med"/>
                    </a:lnT>
                    <a:lnB w="12700" cap="flat" cmpd="sng" algn="ctr">
                      <a:solidFill>
                        <a:srgbClr val="C5C5C5"/>
                      </a:solidFill>
                      <a:prstDash val="solid"/>
                      <a:round/>
                      <a:headEnd type="none" w="med" len="med"/>
                      <a:tailEnd type="none" w="med" len="med"/>
                    </a:lnB>
                    <a:solidFill>
                      <a:srgbClr val="FBFAF7"/>
                    </a:solidFill>
                  </a:tcPr>
                </a:tc>
              </a:tr>
              <a:tr h="413990">
                <a:tc>
                  <a:txBody>
                    <a:bodyPr/>
                    <a:lstStyle/>
                    <a:p>
                      <a:pPr indent="0" marL="0">
                        <a:lnSpc>
                          <a:spcPts val="1960"/>
                        </a:lnSpc>
                        <a:buNone/>
                      </a:pPr>
                      <a:r>
                        <a:rPr lang="en-US" sz="1400" dirty="0">
                          <a:solidFill>
                            <a:srgbClr val="1E2430"/>
                          </a:solidFill>
                          <a:latin typeface="Arial" pitchFamily="34" charset="0"/>
                          <a:ea typeface="Arial" pitchFamily="34" charset="-122"/>
                          <a:cs typeface="Arial" pitchFamily="34" charset="-120"/>
                        </a:rPr>
                        <a:t>Emptied the Recycle Bin</a:t>
                      </a:r>
                      <a:endParaRPr lang="en-US" sz="1400" dirty="0">
                        <a:latin typeface="Arial" charset="0"/>
                        <a:ea typeface="Arial" charset="0"/>
                        <a:cs typeface="Arial" charset="0"/>
                      </a:endParaRPr>
                    </a:p>
                  </a:txBody>
                  <a:tcPr marL="114300" marR="114300" marT="76200" marB="76200" anchor="t">
                    <a:lnL w="12700" cap="flat" cmpd="sng" algn="ctr">
                      <a:solidFill>
                        <a:srgbClr val="C5C5C5"/>
                      </a:solidFill>
                      <a:prstDash val="solid"/>
                      <a:round/>
                      <a:headEnd type="none" w="med" len="med"/>
                      <a:tailEnd type="none" w="med" len="med"/>
                    </a:lnL>
                    <a:lnR w="12700" cap="flat" cmpd="sng" algn="ctr">
                      <a:solidFill>
                        <a:srgbClr val="C5C5C5"/>
                      </a:solidFill>
                      <a:prstDash val="solid"/>
                      <a:round/>
                      <a:headEnd type="none" w="med" len="med"/>
                      <a:tailEnd type="none" w="med" len="med"/>
                    </a:lnR>
                    <a:lnT w="12700" cap="flat" cmpd="sng" algn="ctr">
                      <a:solidFill>
                        <a:srgbClr val="C5C5C5"/>
                      </a:solidFill>
                      <a:prstDash val="solid"/>
                      <a:round/>
                      <a:headEnd type="none" w="med" len="med"/>
                      <a:tailEnd type="none" w="med" len="med"/>
                    </a:lnT>
                    <a:lnB w="12700" cap="flat" cmpd="sng" algn="ctr">
                      <a:solidFill>
                        <a:srgbClr val="C5C5C5"/>
                      </a:solidFill>
                      <a:prstDash val="solid"/>
                      <a:round/>
                      <a:headEnd type="none" w="med" len="med"/>
                      <a:tailEnd type="none" w="med" len="med"/>
                    </a:lnB>
                    <a:solidFill>
                      <a:srgbClr val="F4F3EF"/>
                    </a:solidFill>
                  </a:tcPr>
                </a:tc>
                <a:tc>
                  <a:txBody>
                    <a:bodyPr/>
                    <a:lstStyle/>
                    <a:p>
                      <a:pPr indent="0" marL="0">
                        <a:lnSpc>
                          <a:spcPts val="1960"/>
                        </a:lnSpc>
                        <a:buNone/>
                      </a:pPr>
                      <a:r>
                        <a:rPr lang="en-US" sz="1400" dirty="0">
                          <a:solidFill>
                            <a:srgbClr val="1E2430"/>
                          </a:solidFill>
                          <a:latin typeface="Arial" pitchFamily="34" charset="0"/>
                          <a:ea typeface="Arial" pitchFamily="34" charset="-122"/>
                          <a:cs typeface="Arial" pitchFamily="34" charset="-120"/>
                        </a:rPr>
                        <a:t>Nowhere</a:t>
                      </a:r>
                      <a:endParaRPr lang="en-US" sz="1400" dirty="0">
                        <a:latin typeface="Arial" charset="0"/>
                        <a:ea typeface="Arial" charset="0"/>
                        <a:cs typeface="Arial" charset="0"/>
                      </a:endParaRPr>
                    </a:p>
                  </a:txBody>
                  <a:tcPr marL="114300" marR="114300" marT="76200" marB="76200" anchor="t">
                    <a:lnL w="12700" cap="flat" cmpd="sng" algn="ctr">
                      <a:solidFill>
                        <a:srgbClr val="C5C5C5"/>
                      </a:solidFill>
                      <a:prstDash val="solid"/>
                      <a:round/>
                      <a:headEnd type="none" w="med" len="med"/>
                      <a:tailEnd type="none" w="med" len="med"/>
                    </a:lnL>
                    <a:lnR w="12700" cap="flat" cmpd="sng" algn="ctr">
                      <a:solidFill>
                        <a:srgbClr val="C5C5C5"/>
                      </a:solidFill>
                      <a:prstDash val="solid"/>
                      <a:round/>
                      <a:headEnd type="none" w="med" len="med"/>
                      <a:tailEnd type="none" w="med" len="med"/>
                    </a:lnR>
                    <a:lnT w="12700" cap="flat" cmpd="sng" algn="ctr">
                      <a:solidFill>
                        <a:srgbClr val="C5C5C5"/>
                      </a:solidFill>
                      <a:prstDash val="solid"/>
                      <a:round/>
                      <a:headEnd type="none" w="med" len="med"/>
                      <a:tailEnd type="none" w="med" len="med"/>
                    </a:lnT>
                    <a:lnB w="12700" cap="flat" cmpd="sng" algn="ctr">
                      <a:solidFill>
                        <a:srgbClr val="C5C5C5"/>
                      </a:solidFill>
                      <a:prstDash val="solid"/>
                      <a:round/>
                      <a:headEnd type="none" w="med" len="med"/>
                      <a:tailEnd type="none" w="med" len="med"/>
                    </a:lnB>
                    <a:solidFill>
                      <a:srgbClr val="F4F3EF"/>
                    </a:solidFill>
                  </a:tcPr>
                </a:tc>
                <a:tc>
                  <a:txBody>
                    <a:bodyPr/>
                    <a:lstStyle/>
                    <a:p>
                      <a:pPr indent="0" marL="0">
                        <a:lnSpc>
                          <a:spcPts val="1960"/>
                        </a:lnSpc>
                        <a:buNone/>
                      </a:pPr>
                      <a:r>
                        <a:rPr lang="en-US" sz="1400" dirty="0">
                          <a:solidFill>
                            <a:srgbClr val="1E2430"/>
                          </a:solidFill>
                          <a:latin typeface="Arial" pitchFamily="34" charset="0"/>
                          <a:ea typeface="Arial" pitchFamily="34" charset="-122"/>
                          <a:cs typeface="Arial" pitchFamily="34" charset="-120"/>
                        </a:rPr>
                        <a:t>No</a:t>
                      </a:r>
                      <a:endParaRPr lang="en-US" sz="1400" dirty="0">
                        <a:latin typeface="Arial" charset="0"/>
                        <a:ea typeface="Arial" charset="0"/>
                        <a:cs typeface="Arial" charset="0"/>
                      </a:endParaRPr>
                    </a:p>
                  </a:txBody>
                  <a:tcPr marL="114300" marR="114300" marT="76200" marB="76200" anchor="t">
                    <a:lnL w="12700" cap="flat" cmpd="sng" algn="ctr">
                      <a:solidFill>
                        <a:srgbClr val="C5C5C5"/>
                      </a:solidFill>
                      <a:prstDash val="solid"/>
                      <a:round/>
                      <a:headEnd type="none" w="med" len="med"/>
                      <a:tailEnd type="none" w="med" len="med"/>
                    </a:lnL>
                    <a:lnR w="12700" cap="flat" cmpd="sng" algn="ctr">
                      <a:solidFill>
                        <a:srgbClr val="C5C5C5"/>
                      </a:solidFill>
                      <a:prstDash val="solid"/>
                      <a:round/>
                      <a:headEnd type="none" w="med" len="med"/>
                      <a:tailEnd type="none" w="med" len="med"/>
                    </a:lnR>
                    <a:lnT w="12700" cap="flat" cmpd="sng" algn="ctr">
                      <a:solidFill>
                        <a:srgbClr val="C5C5C5"/>
                      </a:solidFill>
                      <a:prstDash val="solid"/>
                      <a:round/>
                      <a:headEnd type="none" w="med" len="med"/>
                      <a:tailEnd type="none" w="med" len="med"/>
                    </a:lnT>
                    <a:lnB w="12700" cap="flat" cmpd="sng" algn="ctr">
                      <a:solidFill>
                        <a:srgbClr val="C5C5C5"/>
                      </a:solidFill>
                      <a:prstDash val="solid"/>
                      <a:round/>
                      <a:headEnd type="none" w="med" len="med"/>
                      <a:tailEnd type="none" w="med" len="med"/>
                    </a:lnB>
                    <a:solidFill>
                      <a:srgbClr val="F4F3EF"/>
                    </a:solidFill>
                  </a:tcPr>
                </a:tc>
              </a:tr>
              <a:tr h="413990">
                <a:tc>
                  <a:txBody>
                    <a:bodyPr/>
                    <a:lstStyle/>
                    <a:p>
                      <a:pPr indent="0" marL="0">
                        <a:lnSpc>
                          <a:spcPts val="1960"/>
                        </a:lnSpc>
                        <a:buNone/>
                      </a:pPr>
                      <a:r>
                        <a:rPr lang="en-US" sz="1400" dirty="0">
                          <a:solidFill>
                            <a:srgbClr val="1E2430"/>
                          </a:solidFill>
                          <a:latin typeface="Arial" pitchFamily="34" charset="0"/>
                          <a:ea typeface="Arial" pitchFamily="34" charset="-122"/>
                          <a:cs typeface="Arial" pitchFamily="34" charset="-120"/>
                        </a:rPr>
                        <a:t>Delete in a OneDrive folder</a:t>
                      </a:r>
                      <a:endParaRPr lang="en-US" sz="1400" dirty="0">
                        <a:latin typeface="Arial" charset="0"/>
                        <a:ea typeface="Arial" charset="0"/>
                        <a:cs typeface="Arial" charset="0"/>
                      </a:endParaRPr>
                    </a:p>
                  </a:txBody>
                  <a:tcPr marL="114300" marR="114300" marT="76200" marB="76200" anchor="t">
                    <a:lnL w="12700" cap="flat" cmpd="sng" algn="ctr">
                      <a:solidFill>
                        <a:srgbClr val="C5C5C5"/>
                      </a:solidFill>
                      <a:prstDash val="solid"/>
                      <a:round/>
                      <a:headEnd type="none" w="med" len="med"/>
                      <a:tailEnd type="none" w="med" len="med"/>
                    </a:lnL>
                    <a:lnR w="12700" cap="flat" cmpd="sng" algn="ctr">
                      <a:solidFill>
                        <a:srgbClr val="C5C5C5"/>
                      </a:solidFill>
                      <a:prstDash val="solid"/>
                      <a:round/>
                      <a:headEnd type="none" w="med" len="med"/>
                      <a:tailEnd type="none" w="med" len="med"/>
                    </a:lnR>
                    <a:lnT w="12700" cap="flat" cmpd="sng" algn="ctr">
                      <a:solidFill>
                        <a:srgbClr val="C5C5C5"/>
                      </a:solidFill>
                      <a:prstDash val="solid"/>
                      <a:round/>
                      <a:headEnd type="none" w="med" len="med"/>
                      <a:tailEnd type="none" w="med" len="med"/>
                    </a:lnT>
                    <a:lnB w="12700" cap="flat" cmpd="sng" algn="ctr">
                      <a:solidFill>
                        <a:srgbClr val="C5C5C5"/>
                      </a:solidFill>
                      <a:prstDash val="solid"/>
                      <a:round/>
                      <a:headEnd type="none" w="med" len="med"/>
                      <a:tailEnd type="none" w="med" len="med"/>
                    </a:lnB>
                    <a:solidFill>
                      <a:srgbClr val="FBFAF7"/>
                    </a:solidFill>
                  </a:tcPr>
                </a:tc>
                <a:tc>
                  <a:txBody>
                    <a:bodyPr/>
                    <a:lstStyle/>
                    <a:p>
                      <a:pPr indent="0" marL="0">
                        <a:lnSpc>
                          <a:spcPts val="1960"/>
                        </a:lnSpc>
                        <a:buNone/>
                      </a:pPr>
                      <a:r>
                        <a:rPr lang="en-US" sz="1400" dirty="0">
                          <a:solidFill>
                            <a:srgbClr val="1E2430"/>
                          </a:solidFill>
                          <a:latin typeface="Arial" pitchFamily="34" charset="0"/>
                          <a:ea typeface="Arial" pitchFamily="34" charset="-122"/>
                          <a:cs typeface="Arial" pitchFamily="34" charset="-120"/>
                        </a:rPr>
                        <a:t>OneDrive recycle bin online</a:t>
                      </a:r>
                      <a:endParaRPr lang="en-US" sz="1400" dirty="0">
                        <a:latin typeface="Arial" charset="0"/>
                        <a:ea typeface="Arial" charset="0"/>
                        <a:cs typeface="Arial" charset="0"/>
                      </a:endParaRPr>
                    </a:p>
                  </a:txBody>
                  <a:tcPr marL="114300" marR="114300" marT="76200" marB="76200" anchor="t">
                    <a:lnL w="12700" cap="flat" cmpd="sng" algn="ctr">
                      <a:solidFill>
                        <a:srgbClr val="C5C5C5"/>
                      </a:solidFill>
                      <a:prstDash val="solid"/>
                      <a:round/>
                      <a:headEnd type="none" w="med" len="med"/>
                      <a:tailEnd type="none" w="med" len="med"/>
                    </a:lnL>
                    <a:lnR w="12700" cap="flat" cmpd="sng" algn="ctr">
                      <a:solidFill>
                        <a:srgbClr val="C5C5C5"/>
                      </a:solidFill>
                      <a:prstDash val="solid"/>
                      <a:round/>
                      <a:headEnd type="none" w="med" len="med"/>
                      <a:tailEnd type="none" w="med" len="med"/>
                    </a:lnR>
                    <a:lnT w="12700" cap="flat" cmpd="sng" algn="ctr">
                      <a:solidFill>
                        <a:srgbClr val="C5C5C5"/>
                      </a:solidFill>
                      <a:prstDash val="solid"/>
                      <a:round/>
                      <a:headEnd type="none" w="med" len="med"/>
                      <a:tailEnd type="none" w="med" len="med"/>
                    </a:lnT>
                    <a:lnB w="12700" cap="flat" cmpd="sng" algn="ctr">
                      <a:solidFill>
                        <a:srgbClr val="C5C5C5"/>
                      </a:solidFill>
                      <a:prstDash val="solid"/>
                      <a:round/>
                      <a:headEnd type="none" w="med" len="med"/>
                      <a:tailEnd type="none" w="med" len="med"/>
                    </a:lnB>
                    <a:solidFill>
                      <a:srgbClr val="FBFAF7"/>
                    </a:solidFill>
                  </a:tcPr>
                </a:tc>
                <a:tc>
                  <a:txBody>
                    <a:bodyPr/>
                    <a:lstStyle/>
                    <a:p>
                      <a:pPr indent="0" marL="0">
                        <a:lnSpc>
                          <a:spcPts val="1960"/>
                        </a:lnSpc>
                        <a:buNone/>
                      </a:pPr>
                      <a:r>
                        <a:rPr lang="en-US" sz="1400" dirty="0">
                          <a:solidFill>
                            <a:srgbClr val="1E2430"/>
                          </a:solidFill>
                          <a:latin typeface="Arial" pitchFamily="34" charset="0"/>
                          <a:ea typeface="Arial" pitchFamily="34" charset="-122"/>
                          <a:cs typeface="Arial" pitchFamily="34" charset="-120"/>
                        </a:rPr>
                        <a:t>Yes, for about 30 days</a:t>
                      </a:r>
                      <a:endParaRPr lang="en-US" sz="1400" dirty="0">
                        <a:latin typeface="Arial" charset="0"/>
                        <a:ea typeface="Arial" charset="0"/>
                        <a:cs typeface="Arial" charset="0"/>
                      </a:endParaRPr>
                    </a:p>
                  </a:txBody>
                  <a:tcPr marL="114300" marR="114300" marT="76200" marB="76200" anchor="t">
                    <a:lnL w="12700" cap="flat" cmpd="sng" algn="ctr">
                      <a:solidFill>
                        <a:srgbClr val="C5C5C5"/>
                      </a:solidFill>
                      <a:prstDash val="solid"/>
                      <a:round/>
                      <a:headEnd type="none" w="med" len="med"/>
                      <a:tailEnd type="none" w="med" len="med"/>
                    </a:lnL>
                    <a:lnR w="12700" cap="flat" cmpd="sng" algn="ctr">
                      <a:solidFill>
                        <a:srgbClr val="C5C5C5"/>
                      </a:solidFill>
                      <a:prstDash val="solid"/>
                      <a:round/>
                      <a:headEnd type="none" w="med" len="med"/>
                      <a:tailEnd type="none" w="med" len="med"/>
                    </a:lnR>
                    <a:lnT w="12700" cap="flat" cmpd="sng" algn="ctr">
                      <a:solidFill>
                        <a:srgbClr val="C5C5C5"/>
                      </a:solidFill>
                      <a:prstDash val="solid"/>
                      <a:round/>
                      <a:headEnd type="none" w="med" len="med"/>
                      <a:tailEnd type="none" w="med" len="med"/>
                    </a:lnT>
                    <a:lnB w="12700" cap="flat" cmpd="sng" algn="ctr">
                      <a:solidFill>
                        <a:srgbClr val="C5C5C5"/>
                      </a:solidFill>
                      <a:prstDash val="solid"/>
                      <a:round/>
                      <a:headEnd type="none" w="med" len="med"/>
                      <a:tailEnd type="none" w="med" len="med"/>
                    </a:lnB>
                    <a:solidFill>
                      <a:srgbClr val="FBFAF7"/>
                    </a:solidFill>
                  </a:tcPr>
                </a:tc>
              </a:tr>
            </a:tbl>
          </a:graphicData>
        </a:graphic>
      </p:graphicFrame>
      <p:sp>
        <p:nvSpPr>
          <p:cNvPr id="5" name="Shape 2"/>
          <p:cNvSpPr/>
          <p:nvPr/>
        </p:nvSpPr>
        <p:spPr>
          <a:xfrm>
            <a:off x="815975" y="4483497"/>
            <a:ext cx="10560050" cy="859730"/>
          </a:xfrm>
          <a:prstGeom prst="roundRect">
            <a:avLst>
              <a:gd name="adj" fmla="val 9971"/>
            </a:avLst>
          </a:prstGeom>
          <a:solidFill>
            <a:srgbClr val="E3ECEA"/>
          </a:solidFill>
          <a:ln w="6350">
            <a:solidFill>
              <a:srgbClr val="DCD8CF"/>
            </a:solidFill>
            <a:prstDash val="solid"/>
          </a:ln>
        </p:spPr>
      </p:sp>
      <p:sp>
        <p:nvSpPr>
          <p:cNvPr id="6" name="Text 3"/>
          <p:cNvSpPr/>
          <p:nvPr/>
        </p:nvSpPr>
        <p:spPr>
          <a:xfrm>
            <a:off x="1022350" y="4664472"/>
            <a:ext cx="10451719"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E2430"/>
                </a:solidFill>
                <a:latin typeface="Arial" pitchFamily="34" charset="0"/>
                <a:ea typeface="Arial" pitchFamily="34" charset="-122"/>
                <a:cs typeface="Arial" pitchFamily="34" charset="-120"/>
              </a:rPr>
              <a:t>Restoring puts the file back where it was deleted from, not on the desktop. If you cannot find it afterward, check the original folder.</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3EF"/>
        </a:solidFill>
      </p:bgPr>
    </p:bg>
    <p:spTree>
      <p:nvGrpSpPr>
        <p:cNvPr id="1" name=""/>
        <p:cNvGrpSpPr/>
        <p:nvPr/>
      </p:nvGrpSpPr>
      <p:grpSpPr>
        <a:xfrm>
          <a:off x="0" y="0"/>
          <a:ext cx="0" cy="0"/>
          <a:chOff x="0" y="0"/>
          <a:chExt cx="0" cy="0"/>
        </a:xfrm>
      </p:grpSpPr>
      <p:sp>
        <p:nvSpPr>
          <p:cNvPr id="2" name="Text 0"/>
          <p:cNvSpPr/>
          <p:nvPr/>
        </p:nvSpPr>
        <p:spPr>
          <a:xfrm>
            <a:off x="812800" y="711200"/>
            <a:ext cx="10883392" cy="500360"/>
          </a:xfrm>
          <a:prstGeom prst="rect">
            <a:avLst/>
          </a:prstGeom>
          <a:noFill/>
          <a:ln/>
        </p:spPr>
        <p:txBody>
          <a:bodyPr wrap="square" lIns="0" tIns="0" rIns="0" bIns="0" rtlCol="0" anchor="t">
            <a:normAutofit/>
          </a:bodyPr>
          <a:lstStyle/>
          <a:p>
            <a:pPr algn="l" indent="0" marL="0">
              <a:lnSpc>
                <a:spcPts val="3740"/>
              </a:lnSpc>
              <a:buNone/>
            </a:pPr>
            <a:r>
              <a:rPr lang="en-US" sz="3400" b="1" dirty="0">
                <a:solidFill>
                  <a:srgbClr val="1E2430"/>
                </a:solidFill>
                <a:latin typeface="Arial" pitchFamily="34" charset="0"/>
                <a:ea typeface="Arial" pitchFamily="34" charset="-122"/>
                <a:cs typeface="Arial" pitchFamily="34" charset="-120"/>
              </a:rPr>
              <a:t>On this computer, or in the cloud?</a:t>
            </a:r>
            <a:endParaRPr lang="en-US" sz="3400" dirty="0"/>
          </a:p>
        </p:txBody>
      </p:sp>
      <p:sp>
        <p:nvSpPr>
          <p:cNvPr id="3" name="Shape 1"/>
          <p:cNvSpPr/>
          <p:nvPr/>
        </p:nvSpPr>
        <p:spPr>
          <a:xfrm>
            <a:off x="815975" y="1443335"/>
            <a:ext cx="5368727" cy="2147391"/>
          </a:xfrm>
          <a:prstGeom prst="roundRect">
            <a:avLst>
              <a:gd name="adj" fmla="val 3992"/>
            </a:avLst>
          </a:prstGeom>
          <a:solidFill>
            <a:srgbClr val="FBFAF7"/>
          </a:solidFill>
          <a:ln w="6350">
            <a:solidFill>
              <a:srgbClr val="DCD8CF"/>
            </a:solidFill>
            <a:prstDash val="solid"/>
          </a:ln>
        </p:spPr>
      </p:sp>
      <p:sp>
        <p:nvSpPr>
          <p:cNvPr id="4" name="Text 2"/>
          <p:cNvSpPr/>
          <p:nvPr/>
        </p:nvSpPr>
        <p:spPr>
          <a:xfrm>
            <a:off x="1022350" y="1624310"/>
            <a:ext cx="5104656"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E2430"/>
                </a:solidFill>
                <a:latin typeface="Arial" pitchFamily="34" charset="0"/>
                <a:ea typeface="Arial" pitchFamily="34" charset="-122"/>
                <a:cs typeface="Arial" pitchFamily="34" charset="-120"/>
              </a:rPr>
              <a:t>Cloud storage</a:t>
            </a:r>
            <a:endParaRPr lang="en-US" sz="1800" dirty="0"/>
          </a:p>
        </p:txBody>
      </p:sp>
      <p:sp>
        <p:nvSpPr>
          <p:cNvPr id="5" name="Text 3"/>
          <p:cNvSpPr/>
          <p:nvPr/>
        </p:nvSpPr>
        <p:spPr>
          <a:xfrm>
            <a:off x="1022350" y="1987500"/>
            <a:ext cx="5104656"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E2430"/>
                </a:solidFill>
                <a:latin typeface="Arial" pitchFamily="34" charset="0"/>
                <a:ea typeface="Arial" pitchFamily="34" charset="-122"/>
                <a:cs typeface="Arial" pitchFamily="34" charset="-120"/>
              </a:rPr>
              <a:t>Your files sit on someone else's servers: OneDrive, Google Drive, iCloud. You reach them from any device you sign in to.</a:t>
            </a:r>
            <a:endParaRPr lang="en-US" sz="1400" dirty="0"/>
          </a:p>
        </p:txBody>
      </p:sp>
      <p:sp>
        <p:nvSpPr>
          <p:cNvPr id="6" name="Text 4"/>
          <p:cNvSpPr/>
          <p:nvPr/>
        </p:nvSpPr>
        <p:spPr>
          <a:xfrm>
            <a:off x="1022350" y="2574181"/>
            <a:ext cx="5104656"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E2430"/>
                </a:solidFill>
                <a:latin typeface="Arial" pitchFamily="34" charset="0"/>
                <a:ea typeface="Arial" pitchFamily="34" charset="-122"/>
                <a:cs typeface="Arial" pitchFamily="34" charset="-120"/>
              </a:rPr>
              <a:t>Upside:</a:t>
            </a:r>
            <a:r>
              <a:rPr lang="en-US" sz="1400" dirty="0">
                <a:solidFill>
                  <a:srgbClr val="1E2430"/>
                </a:solidFill>
                <a:latin typeface="Arial" pitchFamily="34" charset="0"/>
                <a:ea typeface="Arial" pitchFamily="34" charset="-122"/>
                <a:cs typeface="Arial" pitchFamily="34" charset="-120"/>
              </a:rPr>
              <a:t> a dead laptop no longer means lost work.</a:t>
            </a:r>
            <a:endParaRPr lang="en-US" sz="1400" dirty="0"/>
          </a:p>
        </p:txBody>
      </p:sp>
      <p:sp>
        <p:nvSpPr>
          <p:cNvPr id="7" name="Text 5"/>
          <p:cNvSpPr/>
          <p:nvPr/>
        </p:nvSpPr>
        <p:spPr>
          <a:xfrm>
            <a:off x="1022350" y="2911971"/>
            <a:ext cx="5104656" cy="52318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E2430"/>
                </a:solidFill>
                <a:latin typeface="Arial" pitchFamily="34" charset="0"/>
                <a:ea typeface="Arial" pitchFamily="34" charset="-122"/>
                <a:cs typeface="Arial" pitchFamily="34" charset="-120"/>
              </a:rPr>
              <a:t>Downside:</a:t>
            </a:r>
            <a:r>
              <a:rPr lang="en-US" sz="1400" dirty="0">
                <a:solidFill>
                  <a:srgbClr val="1E2430"/>
                </a:solidFill>
                <a:latin typeface="Arial" pitchFamily="34" charset="0"/>
                <a:ea typeface="Arial" pitchFamily="34" charset="-122"/>
                <a:cs typeface="Arial" pitchFamily="34" charset="-120"/>
              </a:rPr>
              <a:t> no internet, no file. And you trust a company with your data.</a:t>
            </a:r>
            <a:endParaRPr lang="en-US" sz="1400" dirty="0"/>
          </a:p>
        </p:txBody>
      </p:sp>
      <p:sp>
        <p:nvSpPr>
          <p:cNvPr id="8" name="Shape 6"/>
          <p:cNvSpPr/>
          <p:nvPr/>
        </p:nvSpPr>
        <p:spPr>
          <a:xfrm>
            <a:off x="815975" y="3724077"/>
            <a:ext cx="5368727" cy="1108621"/>
          </a:xfrm>
          <a:prstGeom prst="roundRect">
            <a:avLst>
              <a:gd name="adj" fmla="val 7733"/>
            </a:avLst>
          </a:prstGeom>
          <a:solidFill>
            <a:srgbClr val="F6E7D8"/>
          </a:solidFill>
          <a:ln w="6350">
            <a:solidFill>
              <a:srgbClr val="DCD8CF"/>
            </a:solidFill>
            <a:prstDash val="solid"/>
          </a:ln>
        </p:spPr>
      </p:sp>
      <p:sp>
        <p:nvSpPr>
          <p:cNvPr id="9" name="Text 7"/>
          <p:cNvSpPr/>
          <p:nvPr/>
        </p:nvSpPr>
        <p:spPr>
          <a:xfrm>
            <a:off x="1022350" y="3905052"/>
            <a:ext cx="5104656" cy="77207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E2430"/>
                </a:solidFill>
                <a:latin typeface="Arial" pitchFamily="34" charset="0"/>
                <a:ea typeface="Arial" pitchFamily="34" charset="-122"/>
                <a:cs typeface="Arial" pitchFamily="34" charset="-120"/>
              </a:rPr>
              <a:t>Online only</a:t>
            </a:r>
            <a:r>
              <a:rPr lang="en-US" sz="1400" dirty="0">
                <a:solidFill>
                  <a:srgbClr val="1E2430"/>
                </a:solidFill>
                <a:latin typeface="Arial" pitchFamily="34" charset="0"/>
                <a:ea typeface="Arial" pitchFamily="34" charset="-122"/>
                <a:cs typeface="Arial" pitchFamily="34" charset="-120"/>
              </a:rPr>
              <a:t> files show a cloud icon and need a connection. Right-click › </a:t>
            </a:r>
            <a:r>
              <a:rPr lang="en-US" sz="1400" b="1" dirty="0">
                <a:solidFill>
                  <a:srgbClr val="1E2430"/>
                </a:solidFill>
                <a:latin typeface="Arial" pitchFamily="34" charset="0"/>
                <a:ea typeface="Arial" pitchFamily="34" charset="-122"/>
                <a:cs typeface="Arial" pitchFamily="34" charset="-120"/>
              </a:rPr>
              <a:t>Always keep on this device</a:t>
            </a:r>
            <a:r>
              <a:rPr lang="en-US" sz="1400" dirty="0">
                <a:solidFill>
                  <a:srgbClr val="1E2430"/>
                </a:solidFill>
                <a:latin typeface="Arial" pitchFamily="34" charset="0"/>
                <a:ea typeface="Arial" pitchFamily="34" charset="-122"/>
                <a:cs typeface="Arial" pitchFamily="34" charset="-120"/>
              </a:rPr>
              <a:t> before a flight or an exam.</a:t>
            </a:r>
            <a:endParaRPr lang="en-US" sz="1400" dirty="0"/>
          </a:p>
        </p:txBody>
      </p:sp>
      <p:sp>
        <p:nvSpPr>
          <p:cNvPr id="10" name="Shape 8"/>
          <p:cNvSpPr/>
          <p:nvPr/>
        </p:nvSpPr>
        <p:spPr>
          <a:xfrm>
            <a:off x="6495852" y="1443335"/>
            <a:ext cx="4880173" cy="2147391"/>
          </a:xfrm>
          <a:prstGeom prst="roundRect">
            <a:avLst>
              <a:gd name="adj" fmla="val 3992"/>
            </a:avLst>
          </a:prstGeom>
          <a:solidFill>
            <a:srgbClr val="FBFAF7"/>
          </a:solidFill>
          <a:ln w="6350">
            <a:solidFill>
              <a:srgbClr val="DCD8CF"/>
            </a:solidFill>
            <a:prstDash val="solid"/>
          </a:ln>
        </p:spPr>
      </p:sp>
      <p:sp>
        <p:nvSpPr>
          <p:cNvPr id="11" name="Text 9"/>
          <p:cNvSpPr/>
          <p:nvPr/>
        </p:nvSpPr>
        <p:spPr>
          <a:xfrm>
            <a:off x="6702227" y="1624310"/>
            <a:ext cx="4601446"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E2430"/>
                </a:solidFill>
                <a:latin typeface="Arial" pitchFamily="34" charset="0"/>
                <a:ea typeface="Arial" pitchFamily="34" charset="-122"/>
                <a:cs typeface="Arial" pitchFamily="34" charset="-120"/>
              </a:rPr>
              <a:t>Sharing, two ways</a:t>
            </a:r>
            <a:endParaRPr lang="en-US" sz="1800" dirty="0"/>
          </a:p>
        </p:txBody>
      </p:sp>
      <p:sp>
        <p:nvSpPr>
          <p:cNvPr id="12" name="Text 10"/>
          <p:cNvSpPr/>
          <p:nvPr/>
        </p:nvSpPr>
        <p:spPr>
          <a:xfrm>
            <a:off x="6702227" y="1987500"/>
            <a:ext cx="4601446" cy="52318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E2430"/>
                </a:solidFill>
                <a:latin typeface="Arial" pitchFamily="34" charset="0"/>
                <a:ea typeface="Arial" pitchFamily="34" charset="-122"/>
                <a:cs typeface="Arial" pitchFamily="34" charset="-120"/>
              </a:rPr>
              <a:t>Get a link:</a:t>
            </a:r>
            <a:r>
              <a:rPr lang="en-US" sz="1400" dirty="0">
                <a:solidFill>
                  <a:srgbClr val="1E2430"/>
                </a:solidFill>
                <a:latin typeface="Arial" pitchFamily="34" charset="0"/>
                <a:ea typeface="Arial" pitchFamily="34" charset="-122"/>
                <a:cs typeface="Arial" pitchFamily="34" charset="-120"/>
              </a:rPr>
              <a:t> anyone holding the link can open it, including whoever it gets forwarded to.</a:t>
            </a:r>
            <a:endParaRPr lang="en-US" sz="1400" dirty="0"/>
          </a:p>
        </p:txBody>
      </p:sp>
      <p:sp>
        <p:nvSpPr>
          <p:cNvPr id="13" name="Text 11"/>
          <p:cNvSpPr/>
          <p:nvPr/>
        </p:nvSpPr>
        <p:spPr>
          <a:xfrm>
            <a:off x="6702227" y="2574181"/>
            <a:ext cx="4601446" cy="52318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E2430"/>
                </a:solidFill>
                <a:latin typeface="Arial" pitchFamily="34" charset="0"/>
                <a:ea typeface="Arial" pitchFamily="34" charset="-122"/>
                <a:cs typeface="Arial" pitchFamily="34" charset="-120"/>
              </a:rPr>
              <a:t>Invite by email:</a:t>
            </a:r>
            <a:r>
              <a:rPr lang="en-US" sz="1400" dirty="0">
                <a:solidFill>
                  <a:srgbClr val="1E2430"/>
                </a:solidFill>
                <a:latin typeface="Arial" pitchFamily="34" charset="0"/>
                <a:ea typeface="Arial" pitchFamily="34" charset="-122"/>
                <a:cs typeface="Arial" pitchFamily="34" charset="-120"/>
              </a:rPr>
              <a:t> named people only, and you can remove them later.</a:t>
            </a:r>
            <a:endParaRPr lang="en-US" sz="1400" dirty="0"/>
          </a:p>
        </p:txBody>
      </p:sp>
      <p:sp>
        <p:nvSpPr>
          <p:cNvPr id="14" name="Text 12"/>
          <p:cNvSpPr/>
          <p:nvPr/>
        </p:nvSpPr>
        <p:spPr>
          <a:xfrm>
            <a:off x="6702227" y="3160861"/>
            <a:ext cx="4601446"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E2430"/>
                </a:solidFill>
                <a:latin typeface="Arial" pitchFamily="34" charset="0"/>
                <a:ea typeface="Arial" pitchFamily="34" charset="-122"/>
                <a:cs typeface="Arial" pitchFamily="34" charset="-120"/>
              </a:rPr>
              <a:t>Either way, choose </a:t>
            </a:r>
            <a:r>
              <a:rPr lang="en-US" sz="1400" b="1" dirty="0">
                <a:solidFill>
                  <a:srgbClr val="1E2430"/>
                </a:solidFill>
                <a:latin typeface="Arial" pitchFamily="34" charset="0"/>
                <a:ea typeface="Arial" pitchFamily="34" charset="-122"/>
                <a:cs typeface="Arial" pitchFamily="34" charset="-120"/>
              </a:rPr>
              <a:t>view</a:t>
            </a:r>
            <a:r>
              <a:rPr lang="en-US" sz="1400" dirty="0">
                <a:solidFill>
                  <a:srgbClr val="1E2430"/>
                </a:solidFill>
                <a:latin typeface="Arial" pitchFamily="34" charset="0"/>
                <a:ea typeface="Arial" pitchFamily="34" charset="-122"/>
                <a:cs typeface="Arial" pitchFamily="34" charset="-120"/>
              </a:rPr>
              <a:t> or </a:t>
            </a:r>
            <a:r>
              <a:rPr lang="en-US" sz="1400" b="1" dirty="0">
                <a:solidFill>
                  <a:srgbClr val="1E2430"/>
                </a:solidFill>
                <a:latin typeface="Arial" pitchFamily="34" charset="0"/>
                <a:ea typeface="Arial" pitchFamily="34" charset="-122"/>
                <a:cs typeface="Arial" pitchFamily="34" charset="-120"/>
              </a:rPr>
              <a:t>edit</a:t>
            </a:r>
            <a:r>
              <a:rPr lang="en-US" sz="1400" dirty="0">
                <a:solidFill>
                  <a:srgbClr val="1E2430"/>
                </a:solidFill>
                <a:latin typeface="Arial" pitchFamily="34" charset="0"/>
                <a:ea typeface="Arial" pitchFamily="34" charset="-122"/>
                <a:cs typeface="Arial" pitchFamily="34" charset="-120"/>
              </a:rPr>
              <a:t> deliberately.</a:t>
            </a:r>
            <a:endParaRPr lang="en-US" sz="1400" dirty="0"/>
          </a:p>
        </p:txBody>
      </p:sp>
      <p:sp>
        <p:nvSpPr>
          <p:cNvPr id="15" name="Shape 13"/>
          <p:cNvSpPr/>
          <p:nvPr/>
        </p:nvSpPr>
        <p:spPr>
          <a:xfrm>
            <a:off x="6495852" y="3724077"/>
            <a:ext cx="4880173" cy="1055340"/>
          </a:xfrm>
          <a:prstGeom prst="roundRect">
            <a:avLst>
              <a:gd name="adj" fmla="val 8123"/>
            </a:avLst>
          </a:prstGeom>
          <a:solidFill>
            <a:srgbClr val="FBFAF7"/>
          </a:solidFill>
          <a:ln w="6350">
            <a:solidFill>
              <a:srgbClr val="DCD8CF"/>
            </a:solidFill>
            <a:prstDash val="solid"/>
          </a:ln>
        </p:spPr>
      </p:sp>
      <p:sp>
        <p:nvSpPr>
          <p:cNvPr id="16" name="Text 14"/>
          <p:cNvSpPr/>
          <p:nvPr/>
        </p:nvSpPr>
        <p:spPr>
          <a:xfrm>
            <a:off x="6702227" y="3905052"/>
            <a:ext cx="4601446" cy="71879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E2430"/>
                </a:solidFill>
                <a:latin typeface="Arial" pitchFamily="34" charset="0"/>
                <a:ea typeface="Arial" pitchFamily="34" charset="-122"/>
                <a:cs typeface="Arial" pitchFamily="34" charset="-120"/>
              </a:rPr>
              <a:t>The "as a service" family:</a:t>
            </a:r>
            <a:r>
              <a:rPr lang="en-US" sz="1300" dirty="0">
                <a:solidFill>
                  <a:srgbClr val="1E2430"/>
                </a:solidFill>
                <a:latin typeface="Arial" pitchFamily="34" charset="0"/>
                <a:ea typeface="Arial" pitchFamily="34" charset="-122"/>
                <a:cs typeface="Arial" pitchFamily="34" charset="-120"/>
              </a:rPr>
              <a:t> SaaS is apps you use in a browser. IaaS is renting servers. PaaS is renting a place to build and run your own app.</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3EF"/>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F6E6E"/>
                </a:solidFill>
                <a:latin typeface="Arial" pitchFamily="34" charset="0"/>
                <a:ea typeface="Arial" pitchFamily="34" charset="-122"/>
                <a:cs typeface="Arial" pitchFamily="34" charset="-120"/>
              </a:rPr>
              <a:t>SIX MINUTES</a:t>
            </a:r>
            <a:endParaRPr lang="en-US" sz="1200" dirty="0"/>
          </a:p>
        </p:txBody>
      </p:sp>
      <p:sp>
        <p:nvSpPr>
          <p:cNvPr id="3" name="Text 1"/>
          <p:cNvSpPr/>
          <p:nvPr/>
        </p:nvSpPr>
        <p:spPr>
          <a:xfrm>
            <a:off x="812800" y="1000720"/>
            <a:ext cx="10883392" cy="500360"/>
          </a:xfrm>
          <a:prstGeom prst="rect">
            <a:avLst/>
          </a:prstGeom>
          <a:noFill/>
          <a:ln/>
        </p:spPr>
        <p:txBody>
          <a:bodyPr wrap="square" lIns="0" tIns="0" rIns="0" bIns="0" rtlCol="0" anchor="t">
            <a:normAutofit/>
          </a:bodyPr>
          <a:lstStyle/>
          <a:p>
            <a:pPr algn="l" indent="0" marL="0">
              <a:lnSpc>
                <a:spcPts val="3740"/>
              </a:lnSpc>
              <a:buNone/>
            </a:pPr>
            <a:r>
              <a:rPr lang="en-US" sz="3400" b="1" dirty="0">
                <a:solidFill>
                  <a:srgbClr val="1E2430"/>
                </a:solidFill>
                <a:latin typeface="Arial" pitchFamily="34" charset="0"/>
                <a:ea typeface="Arial" pitchFamily="34" charset="-122"/>
                <a:cs typeface="Arial" pitchFamily="34" charset="-120"/>
              </a:rPr>
              <a:t>Activity: the path race</a:t>
            </a:r>
            <a:endParaRPr lang="en-US" sz="3400" dirty="0"/>
          </a:p>
        </p:txBody>
      </p:sp>
      <p:sp>
        <p:nvSpPr>
          <p:cNvPr id="4" name="Text 2"/>
          <p:cNvSpPr/>
          <p:nvPr/>
        </p:nvSpPr>
        <p:spPr>
          <a:xfrm>
            <a:off x="812800" y="1729680"/>
            <a:ext cx="342900" cy="32762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0F6E6E"/>
                </a:solidFill>
                <a:latin typeface="Arial" pitchFamily="34" charset="0"/>
                <a:ea typeface="Arial" pitchFamily="34" charset="-122"/>
                <a:cs typeface="Arial" pitchFamily="34" charset="-120"/>
              </a:rPr>
              <a:t>1</a:t>
            </a:r>
            <a:endParaRPr lang="en-US" sz="1700" dirty="0"/>
          </a:p>
        </p:txBody>
      </p:sp>
      <p:sp>
        <p:nvSpPr>
          <p:cNvPr id="5" name="Text 3"/>
          <p:cNvSpPr/>
          <p:nvPr/>
        </p:nvSpPr>
        <p:spPr>
          <a:xfrm>
            <a:off x="1257300" y="1729680"/>
            <a:ext cx="4595468"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E2430"/>
                </a:solidFill>
                <a:latin typeface="Arial" pitchFamily="34" charset="0"/>
                <a:ea typeface="Arial" pitchFamily="34" charset="-122"/>
                <a:cs typeface="Arial" pitchFamily="34" charset="-120"/>
              </a:rPr>
              <a:t>Open File Explorer</a:t>
            </a:r>
            <a:r>
              <a:rPr lang="en-US" sz="1400" dirty="0">
                <a:solidFill>
                  <a:srgbClr val="1E2430"/>
                </a:solidFill>
                <a:latin typeface="Arial" pitchFamily="34" charset="0"/>
                <a:ea typeface="Arial" pitchFamily="34" charset="-122"/>
                <a:cs typeface="Arial" pitchFamily="34" charset="-120"/>
              </a:rPr>
              <a:t> with Win + E, and go to Documents.</a:t>
            </a:r>
            <a:endParaRPr lang="en-US" sz="1400" dirty="0"/>
          </a:p>
        </p:txBody>
      </p:sp>
      <p:sp>
        <p:nvSpPr>
          <p:cNvPr id="6" name="Text 4"/>
          <p:cNvSpPr/>
          <p:nvPr/>
        </p:nvSpPr>
        <p:spPr>
          <a:xfrm>
            <a:off x="812800" y="2146201"/>
            <a:ext cx="342900" cy="32762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0F6E6E"/>
                </a:solidFill>
                <a:latin typeface="Arial" pitchFamily="34" charset="0"/>
                <a:ea typeface="Arial" pitchFamily="34" charset="-122"/>
                <a:cs typeface="Arial" pitchFamily="34" charset="-120"/>
              </a:rPr>
              <a:t>2</a:t>
            </a:r>
            <a:endParaRPr lang="en-US" sz="1700" dirty="0"/>
          </a:p>
        </p:txBody>
      </p:sp>
      <p:sp>
        <p:nvSpPr>
          <p:cNvPr id="7" name="Text 5"/>
          <p:cNvSpPr/>
          <p:nvPr/>
        </p:nvSpPr>
        <p:spPr>
          <a:xfrm>
            <a:off x="1257300" y="2146201"/>
            <a:ext cx="6175969"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E2430"/>
                </a:solidFill>
                <a:latin typeface="Arial" pitchFamily="34" charset="0"/>
                <a:ea typeface="Arial" pitchFamily="34" charset="-122"/>
                <a:cs typeface="Arial" pitchFamily="34" charset="-120"/>
              </a:rPr>
              <a:t>Create a folder</a:t>
            </a:r>
            <a:r>
              <a:rPr lang="en-US" sz="1400" dirty="0">
                <a:solidFill>
                  <a:srgbClr val="1E2430"/>
                </a:solidFill>
                <a:latin typeface="Arial" pitchFamily="34" charset="0"/>
                <a:ea typeface="Arial" pitchFamily="34" charset="-122"/>
                <a:cs typeface="Arial" pitchFamily="34" charset="-120"/>
              </a:rPr>
              <a:t> named </a:t>
            </a:r>
            <a:r>
              <a:rPr lang="en-US" sz="1400" b="1" dirty="0">
                <a:solidFill>
                  <a:srgbClr val="1E2430"/>
                </a:solidFill>
                <a:latin typeface="Arial" pitchFamily="34" charset="0"/>
                <a:ea typeface="Arial" pitchFamily="34" charset="-122"/>
                <a:cs typeface="Arial" pitchFamily="34" charset="-120"/>
              </a:rPr>
              <a:t>CGS1060</a:t>
            </a:r>
            <a:r>
              <a:rPr lang="en-US" sz="1400" dirty="0">
                <a:solidFill>
                  <a:srgbClr val="1E2430"/>
                </a:solidFill>
                <a:latin typeface="Arial" pitchFamily="34" charset="0"/>
                <a:ea typeface="Arial" pitchFamily="34" charset="-122"/>
                <a:cs typeface="Arial" pitchFamily="34" charset="-120"/>
              </a:rPr>
              <a:t>, and a subfolder inside it named </a:t>
            </a:r>
            <a:r>
              <a:rPr lang="en-US" sz="1400" b="1" dirty="0">
                <a:solidFill>
                  <a:srgbClr val="1E2430"/>
                </a:solidFill>
                <a:latin typeface="Arial" pitchFamily="34" charset="0"/>
                <a:ea typeface="Arial" pitchFamily="34" charset="-122"/>
                <a:cs typeface="Arial" pitchFamily="34" charset="-120"/>
              </a:rPr>
              <a:t>Week07</a:t>
            </a:r>
            <a:r>
              <a:rPr lang="en-US" sz="1400" dirty="0">
                <a:solidFill>
                  <a:srgbClr val="1E2430"/>
                </a:solidFill>
                <a:latin typeface="Arial" pitchFamily="34" charset="0"/>
                <a:ea typeface="Arial" pitchFamily="34" charset="-122"/>
                <a:cs typeface="Arial" pitchFamily="34" charset="-120"/>
              </a:rPr>
              <a:t>.</a:t>
            </a:r>
            <a:endParaRPr lang="en-US" sz="1400" dirty="0"/>
          </a:p>
        </p:txBody>
      </p:sp>
      <p:sp>
        <p:nvSpPr>
          <p:cNvPr id="8" name="Text 6"/>
          <p:cNvSpPr/>
          <p:nvPr/>
        </p:nvSpPr>
        <p:spPr>
          <a:xfrm>
            <a:off x="812800" y="2562721"/>
            <a:ext cx="342900" cy="32762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0F6E6E"/>
                </a:solidFill>
                <a:latin typeface="Arial" pitchFamily="34" charset="0"/>
                <a:ea typeface="Arial" pitchFamily="34" charset="-122"/>
                <a:cs typeface="Arial" pitchFamily="34" charset="-120"/>
              </a:rPr>
              <a:t>3</a:t>
            </a:r>
            <a:endParaRPr lang="en-US" sz="1700" dirty="0"/>
          </a:p>
        </p:txBody>
      </p:sp>
      <p:sp>
        <p:nvSpPr>
          <p:cNvPr id="9" name="Text 7"/>
          <p:cNvSpPr/>
          <p:nvPr/>
        </p:nvSpPr>
        <p:spPr>
          <a:xfrm>
            <a:off x="1257300" y="2562721"/>
            <a:ext cx="5102101"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E2430"/>
                </a:solidFill>
                <a:latin typeface="Arial" pitchFamily="34" charset="0"/>
                <a:ea typeface="Arial" pitchFamily="34" charset="-122"/>
                <a:cs typeface="Arial" pitchFamily="34" charset="-120"/>
              </a:rPr>
              <a:t>Turn on extensions</a:t>
            </a:r>
            <a:r>
              <a:rPr lang="en-US" sz="1400" dirty="0">
                <a:solidFill>
                  <a:srgbClr val="1E2430"/>
                </a:solidFill>
                <a:latin typeface="Arial" pitchFamily="34" charset="0"/>
                <a:ea typeface="Arial" pitchFamily="34" charset="-122"/>
                <a:cs typeface="Arial" pitchFamily="34" charset="-120"/>
              </a:rPr>
              <a:t> from View › Show › File name extensions.</a:t>
            </a:r>
            <a:endParaRPr lang="en-US" sz="1400" dirty="0"/>
          </a:p>
        </p:txBody>
      </p:sp>
      <p:sp>
        <p:nvSpPr>
          <p:cNvPr id="10" name="Text 8"/>
          <p:cNvSpPr/>
          <p:nvPr/>
        </p:nvSpPr>
        <p:spPr>
          <a:xfrm>
            <a:off x="812800" y="2979241"/>
            <a:ext cx="342900" cy="32762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0F6E6E"/>
                </a:solidFill>
                <a:latin typeface="Arial" pitchFamily="34" charset="0"/>
                <a:ea typeface="Arial" pitchFamily="34" charset="-122"/>
                <a:cs typeface="Arial" pitchFamily="34" charset="-120"/>
              </a:rPr>
              <a:t>4</a:t>
            </a:r>
            <a:endParaRPr lang="en-US" sz="1700" dirty="0"/>
          </a:p>
        </p:txBody>
      </p:sp>
      <p:sp>
        <p:nvSpPr>
          <p:cNvPr id="11" name="Text 9"/>
          <p:cNvSpPr/>
          <p:nvPr/>
        </p:nvSpPr>
        <p:spPr>
          <a:xfrm>
            <a:off x="1257300" y="2979241"/>
            <a:ext cx="817726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E2430"/>
                </a:solidFill>
                <a:latin typeface="Arial" pitchFamily="34" charset="0"/>
                <a:ea typeface="Arial" pitchFamily="34" charset="-122"/>
                <a:cs typeface="Arial" pitchFamily="34" charset="-120"/>
              </a:rPr>
              <a:t>Save something there</a:t>
            </a:r>
            <a:r>
              <a:rPr lang="en-US" sz="1400" dirty="0">
                <a:solidFill>
                  <a:srgbClr val="1E2430"/>
                </a:solidFill>
                <a:latin typeface="Arial" pitchFamily="34" charset="0"/>
                <a:ea typeface="Arial" pitchFamily="34" charset="-122"/>
                <a:cs typeface="Arial" pitchFamily="34" charset="-120"/>
              </a:rPr>
              <a:t> from Word: type one sentence, then Save As into Week07 as </a:t>
            </a:r>
            <a:r>
              <a:rPr lang="en-US" sz="1400" b="1" dirty="0">
                <a:solidFill>
                  <a:srgbClr val="1E2430"/>
                </a:solidFill>
                <a:latin typeface="Arial" pitchFamily="34" charset="0"/>
                <a:ea typeface="Arial" pitchFamily="34" charset="-122"/>
                <a:cs typeface="Arial" pitchFamily="34" charset="-120"/>
              </a:rPr>
              <a:t>practice.docx</a:t>
            </a:r>
            <a:r>
              <a:rPr lang="en-US" sz="1400" dirty="0">
                <a:solidFill>
                  <a:srgbClr val="1E2430"/>
                </a:solidFill>
                <a:latin typeface="Arial" pitchFamily="34" charset="0"/>
                <a:ea typeface="Arial" pitchFamily="34" charset="-122"/>
                <a:cs typeface="Arial" pitchFamily="34" charset="-120"/>
              </a:rPr>
              <a:t>.</a:t>
            </a:r>
            <a:endParaRPr lang="en-US" sz="1400" dirty="0"/>
          </a:p>
        </p:txBody>
      </p:sp>
      <p:sp>
        <p:nvSpPr>
          <p:cNvPr id="12" name="Text 10"/>
          <p:cNvSpPr/>
          <p:nvPr/>
        </p:nvSpPr>
        <p:spPr>
          <a:xfrm>
            <a:off x="812800" y="3395762"/>
            <a:ext cx="342900" cy="32762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0F6E6E"/>
                </a:solidFill>
                <a:latin typeface="Arial" pitchFamily="34" charset="0"/>
                <a:ea typeface="Arial" pitchFamily="34" charset="-122"/>
                <a:cs typeface="Arial" pitchFamily="34" charset="-120"/>
              </a:rPr>
              <a:t>5</a:t>
            </a:r>
            <a:endParaRPr lang="en-US" sz="1700" dirty="0"/>
          </a:p>
        </p:txBody>
      </p:sp>
      <p:sp>
        <p:nvSpPr>
          <p:cNvPr id="13" name="Text 11"/>
          <p:cNvSpPr/>
          <p:nvPr/>
        </p:nvSpPr>
        <p:spPr>
          <a:xfrm>
            <a:off x="1257300" y="3395762"/>
            <a:ext cx="8180633"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E2430"/>
                </a:solidFill>
                <a:latin typeface="Arial" pitchFamily="34" charset="0"/>
                <a:ea typeface="Arial" pitchFamily="34" charset="-122"/>
                <a:cs typeface="Arial" pitchFamily="34" charset="-120"/>
              </a:rPr>
              <a:t>Copy the path</a:t>
            </a:r>
            <a:r>
              <a:rPr lang="en-US" sz="1400" dirty="0">
                <a:solidFill>
                  <a:srgbClr val="1E2430"/>
                </a:solidFill>
                <a:latin typeface="Arial" pitchFamily="34" charset="0"/>
                <a:ea typeface="Arial" pitchFamily="34" charset="-122"/>
                <a:cs typeface="Arial" pitchFamily="34" charset="-120"/>
              </a:rPr>
              <a:t> click the blank part of the address bar, copy the text, and paste it into the Teams chat.</a:t>
            </a:r>
            <a:endParaRPr lang="en-US" sz="1400" dirty="0"/>
          </a:p>
        </p:txBody>
      </p:sp>
      <p:sp>
        <p:nvSpPr>
          <p:cNvPr id="14" name="Text 12"/>
          <p:cNvSpPr/>
          <p:nvPr/>
        </p:nvSpPr>
        <p:spPr>
          <a:xfrm>
            <a:off x="812800" y="3812282"/>
            <a:ext cx="342900" cy="32762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0F6E6E"/>
                </a:solidFill>
                <a:latin typeface="Arial" pitchFamily="34" charset="0"/>
                <a:ea typeface="Arial" pitchFamily="34" charset="-122"/>
                <a:cs typeface="Arial" pitchFamily="34" charset="-120"/>
              </a:rPr>
              <a:t>6</a:t>
            </a:r>
            <a:endParaRPr lang="en-US" sz="1700" dirty="0"/>
          </a:p>
        </p:txBody>
      </p:sp>
      <p:sp>
        <p:nvSpPr>
          <p:cNvPr id="15" name="Text 13"/>
          <p:cNvSpPr/>
          <p:nvPr/>
        </p:nvSpPr>
        <p:spPr>
          <a:xfrm>
            <a:off x="1257300" y="3812282"/>
            <a:ext cx="6470087"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E2430"/>
                </a:solidFill>
                <a:latin typeface="Arial" pitchFamily="34" charset="0"/>
                <a:ea typeface="Arial" pitchFamily="34" charset="-122"/>
                <a:cs typeface="Arial" pitchFamily="34" charset="-120"/>
              </a:rPr>
              <a:t>Bonus</a:t>
            </a:r>
            <a:r>
              <a:rPr lang="en-US" sz="1400" dirty="0">
                <a:solidFill>
                  <a:srgbClr val="1E2430"/>
                </a:solidFill>
                <a:latin typeface="Arial" pitchFamily="34" charset="0"/>
                <a:ea typeface="Arial" pitchFamily="34" charset="-122"/>
                <a:cs typeface="Arial" pitchFamily="34" charset="-120"/>
              </a:rPr>
              <a:t> right-click the CGS1060 folder, Compress to ZIP, and post the two sizes.</a:t>
            </a:r>
            <a:endParaRPr lang="en-US" sz="1400" dirty="0"/>
          </a:p>
        </p:txBody>
      </p:sp>
      <p:sp>
        <p:nvSpPr>
          <p:cNvPr id="16" name="Shape 14"/>
          <p:cNvSpPr/>
          <p:nvPr/>
        </p:nvSpPr>
        <p:spPr>
          <a:xfrm>
            <a:off x="815975" y="4371677"/>
            <a:ext cx="10560050" cy="859730"/>
          </a:xfrm>
          <a:prstGeom prst="roundRect">
            <a:avLst>
              <a:gd name="adj" fmla="val 9971"/>
            </a:avLst>
          </a:prstGeom>
          <a:solidFill>
            <a:srgbClr val="E3ECEA"/>
          </a:solidFill>
          <a:ln w="6350">
            <a:solidFill>
              <a:srgbClr val="DCD8CF"/>
            </a:solidFill>
            <a:prstDash val="solid"/>
          </a:ln>
        </p:spPr>
      </p:sp>
      <p:sp>
        <p:nvSpPr>
          <p:cNvPr id="17" name="Text 15"/>
          <p:cNvSpPr/>
          <p:nvPr/>
        </p:nvSpPr>
        <p:spPr>
          <a:xfrm>
            <a:off x="1022350" y="4552652"/>
            <a:ext cx="10451719"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E2430"/>
                </a:solidFill>
                <a:latin typeface="Arial" pitchFamily="34" charset="0"/>
                <a:ea typeface="Arial" pitchFamily="34" charset="-122"/>
                <a:cs typeface="Arial" pitchFamily="34" charset="-120"/>
              </a:rPr>
              <a:t>While people work, I will read a few paths aloud. We are looking for who is saving to OneDrive, who is saving to the C: drive, and who is still saving to Downloads.</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3EF"/>
        </a:solidFill>
      </p:bgPr>
    </p:bg>
    <p:spTree>
      <p:nvGrpSpPr>
        <p:cNvPr id="1" name=""/>
        <p:cNvGrpSpPr/>
        <p:nvPr/>
      </p:nvGrpSpPr>
      <p:grpSpPr>
        <a:xfrm>
          <a:off x="0" y="0"/>
          <a:ext cx="0" cy="0"/>
          <a:chOff x="0" y="0"/>
          <a:chExt cx="0" cy="0"/>
        </a:xfrm>
      </p:grpSpPr>
      <p:sp>
        <p:nvSpPr>
          <p:cNvPr id="2" name="Text 0"/>
          <p:cNvSpPr/>
          <p:nvPr/>
        </p:nvSpPr>
        <p:spPr>
          <a:xfrm>
            <a:off x="812800" y="711200"/>
            <a:ext cx="10883392" cy="500360"/>
          </a:xfrm>
          <a:prstGeom prst="rect">
            <a:avLst/>
          </a:prstGeom>
          <a:noFill/>
          <a:ln/>
        </p:spPr>
        <p:txBody>
          <a:bodyPr wrap="square" lIns="0" tIns="0" rIns="0" bIns="0" rtlCol="0" anchor="t">
            <a:normAutofit/>
          </a:bodyPr>
          <a:lstStyle/>
          <a:p>
            <a:pPr algn="l" indent="0" marL="0">
              <a:lnSpc>
                <a:spcPts val="3740"/>
              </a:lnSpc>
              <a:buNone/>
            </a:pPr>
            <a:r>
              <a:rPr lang="en-US" sz="3400" b="1" dirty="0">
                <a:solidFill>
                  <a:srgbClr val="1E2430"/>
                </a:solidFill>
                <a:latin typeface="Arial" pitchFamily="34" charset="0"/>
                <a:ea typeface="Arial" pitchFamily="34" charset="-122"/>
                <a:cs typeface="Arial" pitchFamily="34" charset="-120"/>
              </a:rPr>
              <a:t>Your digital identity is already written</a:t>
            </a:r>
            <a:endParaRPr lang="en-US" sz="3400" dirty="0"/>
          </a:p>
        </p:txBody>
      </p:sp>
      <p:sp>
        <p:nvSpPr>
          <p:cNvPr id="3" name="Text 1"/>
          <p:cNvSpPr/>
          <p:nvPr/>
        </p:nvSpPr>
        <p:spPr>
          <a:xfrm>
            <a:off x="812800" y="1440160"/>
            <a:ext cx="5284724" cy="8787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E2430"/>
                </a:solidFill>
                <a:latin typeface="Arial" pitchFamily="34" charset="0"/>
                <a:ea typeface="Arial" pitchFamily="34" charset="-122"/>
                <a:cs typeface="Arial" pitchFamily="34" charset="-120"/>
              </a:rPr>
              <a:t>Everything you do with a digital device adds to a record about you: accounts, browsing history, purchases, photos, locations, and the personal data behind them.</a:t>
            </a:r>
            <a:endParaRPr lang="en-US" sz="1600" dirty="0"/>
          </a:p>
        </p:txBody>
      </p:sp>
      <p:sp>
        <p:nvSpPr>
          <p:cNvPr id="4" name="Shape 2"/>
          <p:cNvSpPr/>
          <p:nvPr/>
        </p:nvSpPr>
        <p:spPr>
          <a:xfrm>
            <a:off x="815975" y="2423716"/>
            <a:ext cx="5124450" cy="1162050"/>
          </a:xfrm>
          <a:prstGeom prst="roundRect">
            <a:avLst>
              <a:gd name="adj" fmla="val 7377"/>
            </a:avLst>
          </a:prstGeom>
          <a:solidFill>
            <a:srgbClr val="F6E7D8"/>
          </a:solidFill>
          <a:ln w="6350">
            <a:solidFill>
              <a:srgbClr val="DCD8CF"/>
            </a:solidFill>
            <a:prstDash val="solid"/>
          </a:ln>
        </p:spPr>
      </p:sp>
      <p:sp>
        <p:nvSpPr>
          <p:cNvPr id="5" name="Text 3"/>
          <p:cNvSpPr/>
          <p:nvPr/>
        </p:nvSpPr>
        <p:spPr>
          <a:xfrm>
            <a:off x="1022350" y="2604691"/>
            <a:ext cx="4853051"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E2430"/>
                </a:solidFill>
                <a:latin typeface="Arial" pitchFamily="34" charset="0"/>
                <a:ea typeface="Arial" pitchFamily="34" charset="-122"/>
                <a:cs typeface="Arial" pitchFamily="34" charset="-120"/>
              </a:rPr>
              <a:t>Treat every post, message, and photo as </a:t>
            </a:r>
            <a:r>
              <a:rPr lang="en-US" sz="1500" b="1" dirty="0">
                <a:solidFill>
                  <a:srgbClr val="1E2430"/>
                </a:solidFill>
                <a:latin typeface="Arial" pitchFamily="34" charset="0"/>
                <a:ea typeface="Arial" pitchFamily="34" charset="-122"/>
                <a:cs typeface="Arial" pitchFamily="34" charset="-120"/>
              </a:rPr>
              <a:t>permanent</a:t>
            </a:r>
            <a:r>
              <a:rPr lang="en-US" sz="1500" dirty="0">
                <a:solidFill>
                  <a:srgbClr val="1E2430"/>
                </a:solidFill>
                <a:latin typeface="Arial" pitchFamily="34" charset="0"/>
                <a:ea typeface="Arial" pitchFamily="34" charset="-122"/>
                <a:cs typeface="Arial" pitchFamily="34" charset="-120"/>
              </a:rPr>
              <a:t>. Deleting removes your copy, not the screenshots, the archives, or the company's copy.</a:t>
            </a:r>
            <a:endParaRPr lang="en-US" sz="15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248400" y="1440160"/>
          <a:ext cx="5130800" cy="3301901"/>
        </p:xfrm>
        <a:graphic>
          <a:graphicData uri="http://schemas.openxmlformats.org/drawingml/2006/table">
            <a:tbl>
              <a:tblPr/>
              <a:tblGrid>
                <a:gridCol w="1949704"/>
                <a:gridCol w="3181096"/>
              </a:tblGrid>
              <a:tr h="396230">
                <a:tc>
                  <a:txBody>
                    <a:bodyPr/>
                    <a:lstStyle/>
                    <a:p>
                      <a:pPr indent="0" marL="0">
                        <a:lnSpc>
                          <a:spcPts val="1820"/>
                        </a:lnSpc>
                        <a:buNone/>
                      </a:pPr>
                      <a:r>
                        <a:rPr lang="en-US" sz="1300" b="1" dirty="0">
                          <a:solidFill>
                            <a:srgbClr val="1E2430"/>
                          </a:solidFill>
                          <a:latin typeface="Arial" pitchFamily="34" charset="0"/>
                          <a:ea typeface="Arial" pitchFamily="34" charset="-122"/>
                          <a:cs typeface="Arial" pitchFamily="34" charset="-120"/>
                        </a:rPr>
                        <a:t>Made of</a:t>
                      </a:r>
                      <a:endParaRPr lang="en-US" sz="1300" dirty="0">
                        <a:latin typeface="Arial" charset="0"/>
                        <a:ea typeface="Arial" charset="0"/>
                        <a:cs typeface="Arial" charset="0"/>
                      </a:endParaRPr>
                    </a:p>
                  </a:txBody>
                  <a:tcPr marL="114300" marR="114300" marT="76200" marB="76200" anchor="t">
                    <a:lnL w="12700" cap="flat" cmpd="sng" algn="ctr">
                      <a:solidFill>
                        <a:srgbClr val="C5C5C5"/>
                      </a:solidFill>
                      <a:prstDash val="solid"/>
                      <a:round/>
                      <a:headEnd type="none" w="med" len="med"/>
                      <a:tailEnd type="none" w="med" len="med"/>
                    </a:lnL>
                    <a:lnR w="12700" cap="flat" cmpd="sng" algn="ctr">
                      <a:solidFill>
                        <a:srgbClr val="C5C5C5"/>
                      </a:solidFill>
                      <a:prstDash val="solid"/>
                      <a:round/>
                      <a:headEnd type="none" w="med" len="med"/>
                      <a:tailEnd type="none" w="med" len="med"/>
                    </a:lnR>
                    <a:lnT w="12700" cap="flat" cmpd="sng" algn="ctr">
                      <a:solidFill>
                        <a:srgbClr val="C5C5C5"/>
                      </a:solidFill>
                      <a:prstDash val="solid"/>
                      <a:round/>
                      <a:headEnd type="none" w="med" len="med"/>
                      <a:tailEnd type="none" w="med" len="med"/>
                    </a:lnT>
                    <a:lnB w="12700" cap="flat" cmpd="sng" algn="ctr">
                      <a:solidFill>
                        <a:srgbClr val="C5C5C5"/>
                      </a:solidFill>
                      <a:prstDash val="solid"/>
                      <a:round/>
                      <a:headEnd type="none" w="med" len="med"/>
                      <a:tailEnd type="none" w="med" len="med"/>
                    </a:lnB>
                    <a:solidFill>
                      <a:srgbClr val="E7E4DC"/>
                    </a:solidFill>
                  </a:tcPr>
                </a:tc>
                <a:tc>
                  <a:txBody>
                    <a:bodyPr/>
                    <a:lstStyle/>
                    <a:p>
                      <a:pPr indent="0" marL="0">
                        <a:lnSpc>
                          <a:spcPts val="1820"/>
                        </a:lnSpc>
                        <a:buNone/>
                      </a:pPr>
                      <a:r>
                        <a:rPr lang="en-US" sz="1300" b="1" dirty="0">
                          <a:solidFill>
                            <a:srgbClr val="1E2430"/>
                          </a:solidFill>
                          <a:latin typeface="Arial" pitchFamily="34" charset="0"/>
                          <a:ea typeface="Arial" pitchFamily="34" charset="-122"/>
                          <a:cs typeface="Arial" pitchFamily="34" charset="-120"/>
                        </a:rPr>
                        <a:t>Examples</a:t>
                      </a:r>
                      <a:endParaRPr lang="en-US" sz="1300" dirty="0">
                        <a:latin typeface="Arial" charset="0"/>
                        <a:ea typeface="Arial" charset="0"/>
                        <a:cs typeface="Arial" charset="0"/>
                      </a:endParaRPr>
                    </a:p>
                  </a:txBody>
                  <a:tcPr marL="114300" marR="114300" marT="76200" marB="76200" anchor="t">
                    <a:lnL w="12700" cap="flat" cmpd="sng" algn="ctr">
                      <a:solidFill>
                        <a:srgbClr val="C5C5C5"/>
                      </a:solidFill>
                      <a:prstDash val="solid"/>
                      <a:round/>
                      <a:headEnd type="none" w="med" len="med"/>
                      <a:tailEnd type="none" w="med" len="med"/>
                    </a:lnL>
                    <a:lnR w="12700" cap="flat" cmpd="sng" algn="ctr">
                      <a:solidFill>
                        <a:srgbClr val="C5C5C5"/>
                      </a:solidFill>
                      <a:prstDash val="solid"/>
                      <a:round/>
                      <a:headEnd type="none" w="med" len="med"/>
                      <a:tailEnd type="none" w="med" len="med"/>
                    </a:lnR>
                    <a:lnT w="12700" cap="flat" cmpd="sng" algn="ctr">
                      <a:solidFill>
                        <a:srgbClr val="C5C5C5"/>
                      </a:solidFill>
                      <a:prstDash val="solid"/>
                      <a:round/>
                      <a:headEnd type="none" w="med" len="med"/>
                      <a:tailEnd type="none" w="med" len="med"/>
                    </a:lnT>
                    <a:lnB w="12700" cap="flat" cmpd="sng" algn="ctr">
                      <a:solidFill>
                        <a:srgbClr val="C5C5C5"/>
                      </a:solidFill>
                      <a:prstDash val="solid"/>
                      <a:round/>
                      <a:headEnd type="none" w="med" len="med"/>
                      <a:tailEnd type="none" w="med" len="med"/>
                    </a:lnB>
                    <a:solidFill>
                      <a:srgbClr val="E7E4DC"/>
                    </a:solidFill>
                  </a:tcPr>
                </a:tc>
              </a:tr>
              <a:tr h="627360">
                <a:tc>
                  <a:txBody>
                    <a:bodyPr/>
                    <a:lstStyle/>
                    <a:p>
                      <a:pPr indent="0" marL="0">
                        <a:lnSpc>
                          <a:spcPts val="1820"/>
                        </a:lnSpc>
                        <a:buNone/>
                      </a:pPr>
                      <a:r>
                        <a:rPr lang="en-US" sz="1300" dirty="0">
                          <a:solidFill>
                            <a:srgbClr val="1E2430"/>
                          </a:solidFill>
                          <a:latin typeface="Arial" pitchFamily="34" charset="0"/>
                          <a:ea typeface="Arial" pitchFamily="34" charset="-122"/>
                          <a:cs typeface="Arial" pitchFamily="34" charset="-120"/>
                        </a:rPr>
                        <a:t>Credentials</a:t>
                      </a:r>
                      <a:endParaRPr lang="en-US" sz="1300" dirty="0">
                        <a:latin typeface="Arial" charset="0"/>
                        <a:ea typeface="Arial" charset="0"/>
                        <a:cs typeface="Arial" charset="0"/>
                      </a:endParaRPr>
                    </a:p>
                  </a:txBody>
                  <a:tcPr marL="114300" marR="114300" marT="76200" marB="76200" anchor="t">
                    <a:lnL w="12700" cap="flat" cmpd="sng" algn="ctr">
                      <a:solidFill>
                        <a:srgbClr val="C5C5C5"/>
                      </a:solidFill>
                      <a:prstDash val="solid"/>
                      <a:round/>
                      <a:headEnd type="none" w="med" len="med"/>
                      <a:tailEnd type="none" w="med" len="med"/>
                    </a:lnL>
                    <a:lnR w="12700" cap="flat" cmpd="sng" algn="ctr">
                      <a:solidFill>
                        <a:srgbClr val="C5C5C5"/>
                      </a:solidFill>
                      <a:prstDash val="solid"/>
                      <a:round/>
                      <a:headEnd type="none" w="med" len="med"/>
                      <a:tailEnd type="none" w="med" len="med"/>
                    </a:lnR>
                    <a:lnT w="12700" cap="flat" cmpd="sng" algn="ctr">
                      <a:solidFill>
                        <a:srgbClr val="C5C5C5"/>
                      </a:solidFill>
                      <a:prstDash val="solid"/>
                      <a:round/>
                      <a:headEnd type="none" w="med" len="med"/>
                      <a:tailEnd type="none" w="med" len="med"/>
                    </a:lnT>
                    <a:lnB w="12700" cap="flat" cmpd="sng" algn="ctr">
                      <a:solidFill>
                        <a:srgbClr val="C5C5C5"/>
                      </a:solidFill>
                      <a:prstDash val="solid"/>
                      <a:round/>
                      <a:headEnd type="none" w="med" len="med"/>
                      <a:tailEnd type="none" w="med" len="med"/>
                    </a:lnB>
                    <a:solidFill>
                      <a:srgbClr val="FBFAF7"/>
                    </a:solidFill>
                  </a:tcPr>
                </a:tc>
                <a:tc>
                  <a:txBody>
                    <a:bodyPr/>
                    <a:lstStyle/>
                    <a:p>
                      <a:pPr indent="0" marL="0">
                        <a:lnSpc>
                          <a:spcPts val="1820"/>
                        </a:lnSpc>
                        <a:buNone/>
                      </a:pPr>
                      <a:r>
                        <a:rPr lang="en-US" sz="1300" dirty="0">
                          <a:solidFill>
                            <a:srgbClr val="1E2430"/>
                          </a:solidFill>
                          <a:latin typeface="Arial" pitchFamily="34" charset="0"/>
                          <a:ea typeface="Arial" pitchFamily="34" charset="-122"/>
                          <a:cs typeface="Arial" pitchFamily="34" charset="-120"/>
                        </a:rPr>
                        <a:t>Usernames, passwords, security questions</a:t>
                      </a:r>
                      <a:endParaRPr lang="en-US" sz="1300" dirty="0">
                        <a:latin typeface="Arial" charset="0"/>
                        <a:ea typeface="Arial" charset="0"/>
                        <a:cs typeface="Arial" charset="0"/>
                      </a:endParaRPr>
                    </a:p>
                  </a:txBody>
                  <a:tcPr marL="114300" marR="114300" marT="76200" marB="76200" anchor="t">
                    <a:lnL w="12700" cap="flat" cmpd="sng" algn="ctr">
                      <a:solidFill>
                        <a:srgbClr val="C5C5C5"/>
                      </a:solidFill>
                      <a:prstDash val="solid"/>
                      <a:round/>
                      <a:headEnd type="none" w="med" len="med"/>
                      <a:tailEnd type="none" w="med" len="med"/>
                    </a:lnL>
                    <a:lnR w="12700" cap="flat" cmpd="sng" algn="ctr">
                      <a:solidFill>
                        <a:srgbClr val="C5C5C5"/>
                      </a:solidFill>
                      <a:prstDash val="solid"/>
                      <a:round/>
                      <a:headEnd type="none" w="med" len="med"/>
                      <a:tailEnd type="none" w="med" len="med"/>
                    </a:lnR>
                    <a:lnT w="12700" cap="flat" cmpd="sng" algn="ctr">
                      <a:solidFill>
                        <a:srgbClr val="C5C5C5"/>
                      </a:solidFill>
                      <a:prstDash val="solid"/>
                      <a:round/>
                      <a:headEnd type="none" w="med" len="med"/>
                      <a:tailEnd type="none" w="med" len="med"/>
                    </a:lnT>
                    <a:lnB w="12700" cap="flat" cmpd="sng" algn="ctr">
                      <a:solidFill>
                        <a:srgbClr val="C5C5C5"/>
                      </a:solidFill>
                      <a:prstDash val="solid"/>
                      <a:round/>
                      <a:headEnd type="none" w="med" len="med"/>
                      <a:tailEnd type="none" w="med" len="med"/>
                    </a:lnB>
                    <a:solidFill>
                      <a:srgbClr val="FBFAF7"/>
                    </a:solidFill>
                  </a:tcPr>
                </a:tc>
              </a:tr>
              <a:tr h="627360">
                <a:tc>
                  <a:txBody>
                    <a:bodyPr/>
                    <a:lstStyle/>
                    <a:p>
                      <a:pPr indent="0" marL="0">
                        <a:lnSpc>
                          <a:spcPts val="1820"/>
                        </a:lnSpc>
                        <a:buNone/>
                      </a:pPr>
                      <a:r>
                        <a:rPr lang="en-US" sz="1300" dirty="0">
                          <a:solidFill>
                            <a:srgbClr val="1E2430"/>
                          </a:solidFill>
                          <a:latin typeface="Arial" pitchFamily="34" charset="0"/>
                          <a:ea typeface="Arial" pitchFamily="34" charset="-122"/>
                          <a:cs typeface="Arial" pitchFamily="34" charset="-120"/>
                        </a:rPr>
                        <a:t>Activity</a:t>
                      </a:r>
                      <a:endParaRPr lang="en-US" sz="1300" dirty="0">
                        <a:latin typeface="Arial" charset="0"/>
                        <a:ea typeface="Arial" charset="0"/>
                        <a:cs typeface="Arial" charset="0"/>
                      </a:endParaRPr>
                    </a:p>
                  </a:txBody>
                  <a:tcPr marL="114300" marR="114300" marT="76200" marB="76200" anchor="t">
                    <a:lnL w="12700" cap="flat" cmpd="sng" algn="ctr">
                      <a:solidFill>
                        <a:srgbClr val="C5C5C5"/>
                      </a:solidFill>
                      <a:prstDash val="solid"/>
                      <a:round/>
                      <a:headEnd type="none" w="med" len="med"/>
                      <a:tailEnd type="none" w="med" len="med"/>
                    </a:lnL>
                    <a:lnR w="12700" cap="flat" cmpd="sng" algn="ctr">
                      <a:solidFill>
                        <a:srgbClr val="C5C5C5"/>
                      </a:solidFill>
                      <a:prstDash val="solid"/>
                      <a:round/>
                      <a:headEnd type="none" w="med" len="med"/>
                      <a:tailEnd type="none" w="med" len="med"/>
                    </a:lnR>
                    <a:lnT w="12700" cap="flat" cmpd="sng" algn="ctr">
                      <a:solidFill>
                        <a:srgbClr val="C5C5C5"/>
                      </a:solidFill>
                      <a:prstDash val="solid"/>
                      <a:round/>
                      <a:headEnd type="none" w="med" len="med"/>
                      <a:tailEnd type="none" w="med" len="med"/>
                    </a:lnT>
                    <a:lnB w="12700" cap="flat" cmpd="sng" algn="ctr">
                      <a:solidFill>
                        <a:srgbClr val="C5C5C5"/>
                      </a:solidFill>
                      <a:prstDash val="solid"/>
                      <a:round/>
                      <a:headEnd type="none" w="med" len="med"/>
                      <a:tailEnd type="none" w="med" len="med"/>
                    </a:lnB>
                    <a:solidFill>
                      <a:srgbClr val="F4F3EF"/>
                    </a:solidFill>
                  </a:tcPr>
                </a:tc>
                <a:tc>
                  <a:txBody>
                    <a:bodyPr/>
                    <a:lstStyle/>
                    <a:p>
                      <a:pPr indent="0" marL="0">
                        <a:lnSpc>
                          <a:spcPts val="1820"/>
                        </a:lnSpc>
                        <a:buNone/>
                      </a:pPr>
                      <a:r>
                        <a:rPr lang="en-US" sz="1300" dirty="0">
                          <a:solidFill>
                            <a:srgbClr val="1E2430"/>
                          </a:solidFill>
                          <a:latin typeface="Arial" pitchFamily="34" charset="0"/>
                          <a:ea typeface="Arial" pitchFamily="34" charset="-122"/>
                          <a:cs typeface="Arial" pitchFamily="34" charset="-120"/>
                        </a:rPr>
                        <a:t>Search and browsing history, likes, watch time</a:t>
                      </a:r>
                      <a:endParaRPr lang="en-US" sz="1300" dirty="0">
                        <a:latin typeface="Arial" charset="0"/>
                        <a:ea typeface="Arial" charset="0"/>
                        <a:cs typeface="Arial" charset="0"/>
                      </a:endParaRPr>
                    </a:p>
                  </a:txBody>
                  <a:tcPr marL="114300" marR="114300" marT="76200" marB="76200" anchor="t">
                    <a:lnL w="12700" cap="flat" cmpd="sng" algn="ctr">
                      <a:solidFill>
                        <a:srgbClr val="C5C5C5"/>
                      </a:solidFill>
                      <a:prstDash val="solid"/>
                      <a:round/>
                      <a:headEnd type="none" w="med" len="med"/>
                      <a:tailEnd type="none" w="med" len="med"/>
                    </a:lnL>
                    <a:lnR w="12700" cap="flat" cmpd="sng" algn="ctr">
                      <a:solidFill>
                        <a:srgbClr val="C5C5C5"/>
                      </a:solidFill>
                      <a:prstDash val="solid"/>
                      <a:round/>
                      <a:headEnd type="none" w="med" len="med"/>
                      <a:tailEnd type="none" w="med" len="med"/>
                    </a:lnR>
                    <a:lnT w="12700" cap="flat" cmpd="sng" algn="ctr">
                      <a:solidFill>
                        <a:srgbClr val="C5C5C5"/>
                      </a:solidFill>
                      <a:prstDash val="solid"/>
                      <a:round/>
                      <a:headEnd type="none" w="med" len="med"/>
                      <a:tailEnd type="none" w="med" len="med"/>
                    </a:lnT>
                    <a:lnB w="12700" cap="flat" cmpd="sng" algn="ctr">
                      <a:solidFill>
                        <a:srgbClr val="C5C5C5"/>
                      </a:solidFill>
                      <a:prstDash val="solid"/>
                      <a:round/>
                      <a:headEnd type="none" w="med" len="med"/>
                      <a:tailEnd type="none" w="med" len="med"/>
                    </a:lnB>
                    <a:solidFill>
                      <a:srgbClr val="F4F3EF"/>
                    </a:solidFill>
                  </a:tcPr>
                </a:tc>
              </a:tr>
              <a:tr h="627360">
                <a:tc>
                  <a:txBody>
                    <a:bodyPr/>
                    <a:lstStyle/>
                    <a:p>
                      <a:pPr indent="0" marL="0">
                        <a:lnSpc>
                          <a:spcPts val="1820"/>
                        </a:lnSpc>
                        <a:buNone/>
                      </a:pPr>
                      <a:r>
                        <a:rPr lang="en-US" sz="1300" dirty="0">
                          <a:solidFill>
                            <a:srgbClr val="1E2430"/>
                          </a:solidFill>
                          <a:latin typeface="Arial" pitchFamily="34" charset="0"/>
                          <a:ea typeface="Arial" pitchFamily="34" charset="-122"/>
                          <a:cs typeface="Arial" pitchFamily="34" charset="-120"/>
                        </a:rPr>
                        <a:t>Money</a:t>
                      </a:r>
                      <a:endParaRPr lang="en-US" sz="1300" dirty="0">
                        <a:latin typeface="Arial" charset="0"/>
                        <a:ea typeface="Arial" charset="0"/>
                        <a:cs typeface="Arial" charset="0"/>
                      </a:endParaRPr>
                    </a:p>
                  </a:txBody>
                  <a:tcPr marL="114300" marR="114300" marT="76200" marB="76200" anchor="t">
                    <a:lnL w="12700" cap="flat" cmpd="sng" algn="ctr">
                      <a:solidFill>
                        <a:srgbClr val="C5C5C5"/>
                      </a:solidFill>
                      <a:prstDash val="solid"/>
                      <a:round/>
                      <a:headEnd type="none" w="med" len="med"/>
                      <a:tailEnd type="none" w="med" len="med"/>
                    </a:lnL>
                    <a:lnR w="12700" cap="flat" cmpd="sng" algn="ctr">
                      <a:solidFill>
                        <a:srgbClr val="C5C5C5"/>
                      </a:solidFill>
                      <a:prstDash val="solid"/>
                      <a:round/>
                      <a:headEnd type="none" w="med" len="med"/>
                      <a:tailEnd type="none" w="med" len="med"/>
                    </a:lnR>
                    <a:lnT w="12700" cap="flat" cmpd="sng" algn="ctr">
                      <a:solidFill>
                        <a:srgbClr val="C5C5C5"/>
                      </a:solidFill>
                      <a:prstDash val="solid"/>
                      <a:round/>
                      <a:headEnd type="none" w="med" len="med"/>
                      <a:tailEnd type="none" w="med" len="med"/>
                    </a:lnT>
                    <a:lnB w="12700" cap="flat" cmpd="sng" algn="ctr">
                      <a:solidFill>
                        <a:srgbClr val="C5C5C5"/>
                      </a:solidFill>
                      <a:prstDash val="solid"/>
                      <a:round/>
                      <a:headEnd type="none" w="med" len="med"/>
                      <a:tailEnd type="none" w="med" len="med"/>
                    </a:lnB>
                    <a:solidFill>
                      <a:srgbClr val="FBFAF7"/>
                    </a:solidFill>
                  </a:tcPr>
                </a:tc>
                <a:tc>
                  <a:txBody>
                    <a:bodyPr/>
                    <a:lstStyle/>
                    <a:p>
                      <a:pPr indent="0" marL="0">
                        <a:lnSpc>
                          <a:spcPts val="1820"/>
                        </a:lnSpc>
                        <a:buNone/>
                      </a:pPr>
                      <a:r>
                        <a:rPr lang="en-US" sz="1300" dirty="0">
                          <a:solidFill>
                            <a:srgbClr val="1E2430"/>
                          </a:solidFill>
                          <a:latin typeface="Arial" pitchFamily="34" charset="0"/>
                          <a:ea typeface="Arial" pitchFamily="34" charset="-122"/>
                          <a:cs typeface="Arial" pitchFamily="34" charset="-120"/>
                        </a:rPr>
                        <a:t>Purchases, subscriptions, payment methods</a:t>
                      </a:r>
                      <a:endParaRPr lang="en-US" sz="1300" dirty="0">
                        <a:latin typeface="Arial" charset="0"/>
                        <a:ea typeface="Arial" charset="0"/>
                        <a:cs typeface="Arial" charset="0"/>
                      </a:endParaRPr>
                    </a:p>
                  </a:txBody>
                  <a:tcPr marL="114300" marR="114300" marT="76200" marB="76200" anchor="t">
                    <a:lnL w="12700" cap="flat" cmpd="sng" algn="ctr">
                      <a:solidFill>
                        <a:srgbClr val="C5C5C5"/>
                      </a:solidFill>
                      <a:prstDash val="solid"/>
                      <a:round/>
                      <a:headEnd type="none" w="med" len="med"/>
                      <a:tailEnd type="none" w="med" len="med"/>
                    </a:lnL>
                    <a:lnR w="12700" cap="flat" cmpd="sng" algn="ctr">
                      <a:solidFill>
                        <a:srgbClr val="C5C5C5"/>
                      </a:solidFill>
                      <a:prstDash val="solid"/>
                      <a:round/>
                      <a:headEnd type="none" w="med" len="med"/>
                      <a:tailEnd type="none" w="med" len="med"/>
                    </a:lnR>
                    <a:lnT w="12700" cap="flat" cmpd="sng" algn="ctr">
                      <a:solidFill>
                        <a:srgbClr val="C5C5C5"/>
                      </a:solidFill>
                      <a:prstDash val="solid"/>
                      <a:round/>
                      <a:headEnd type="none" w="med" len="med"/>
                      <a:tailEnd type="none" w="med" len="med"/>
                    </a:lnT>
                    <a:lnB w="12700" cap="flat" cmpd="sng" algn="ctr">
                      <a:solidFill>
                        <a:srgbClr val="C5C5C5"/>
                      </a:solidFill>
                      <a:prstDash val="solid"/>
                      <a:round/>
                      <a:headEnd type="none" w="med" len="med"/>
                      <a:tailEnd type="none" w="med" len="med"/>
                    </a:lnB>
                    <a:solidFill>
                      <a:srgbClr val="FBFAF7"/>
                    </a:solidFill>
                  </a:tcPr>
                </a:tc>
              </a:tr>
              <a:tr h="396230">
                <a:tc>
                  <a:txBody>
                    <a:bodyPr/>
                    <a:lstStyle/>
                    <a:p>
                      <a:pPr indent="0" marL="0">
                        <a:lnSpc>
                          <a:spcPts val="1820"/>
                        </a:lnSpc>
                        <a:buNone/>
                      </a:pPr>
                      <a:r>
                        <a:rPr lang="en-US" sz="1300" dirty="0">
                          <a:solidFill>
                            <a:srgbClr val="1E2430"/>
                          </a:solidFill>
                          <a:latin typeface="Arial" pitchFamily="34" charset="0"/>
                          <a:ea typeface="Arial" pitchFamily="34" charset="-122"/>
                          <a:cs typeface="Arial" pitchFamily="34" charset="-120"/>
                        </a:rPr>
                        <a:t>Personal data</a:t>
                      </a:r>
                      <a:endParaRPr lang="en-US" sz="1300" dirty="0">
                        <a:latin typeface="Arial" charset="0"/>
                        <a:ea typeface="Arial" charset="0"/>
                        <a:cs typeface="Arial" charset="0"/>
                      </a:endParaRPr>
                    </a:p>
                  </a:txBody>
                  <a:tcPr marL="114300" marR="114300" marT="76200" marB="76200" anchor="t">
                    <a:lnL w="12700" cap="flat" cmpd="sng" algn="ctr">
                      <a:solidFill>
                        <a:srgbClr val="C5C5C5"/>
                      </a:solidFill>
                      <a:prstDash val="solid"/>
                      <a:round/>
                      <a:headEnd type="none" w="med" len="med"/>
                      <a:tailEnd type="none" w="med" len="med"/>
                    </a:lnL>
                    <a:lnR w="12700" cap="flat" cmpd="sng" algn="ctr">
                      <a:solidFill>
                        <a:srgbClr val="C5C5C5"/>
                      </a:solidFill>
                      <a:prstDash val="solid"/>
                      <a:round/>
                      <a:headEnd type="none" w="med" len="med"/>
                      <a:tailEnd type="none" w="med" len="med"/>
                    </a:lnR>
                    <a:lnT w="12700" cap="flat" cmpd="sng" algn="ctr">
                      <a:solidFill>
                        <a:srgbClr val="C5C5C5"/>
                      </a:solidFill>
                      <a:prstDash val="solid"/>
                      <a:round/>
                      <a:headEnd type="none" w="med" len="med"/>
                      <a:tailEnd type="none" w="med" len="med"/>
                    </a:lnT>
                    <a:lnB w="12700" cap="flat" cmpd="sng" algn="ctr">
                      <a:solidFill>
                        <a:srgbClr val="C5C5C5"/>
                      </a:solidFill>
                      <a:prstDash val="solid"/>
                      <a:round/>
                      <a:headEnd type="none" w="med" len="med"/>
                      <a:tailEnd type="none" w="med" len="med"/>
                    </a:lnB>
                    <a:solidFill>
                      <a:srgbClr val="F4F3EF"/>
                    </a:solidFill>
                  </a:tcPr>
                </a:tc>
                <a:tc>
                  <a:txBody>
                    <a:bodyPr/>
                    <a:lstStyle/>
                    <a:p>
                      <a:pPr indent="0" marL="0">
                        <a:lnSpc>
                          <a:spcPts val="1820"/>
                        </a:lnSpc>
                        <a:buNone/>
                      </a:pPr>
                      <a:r>
                        <a:rPr lang="en-US" sz="1300" dirty="0">
                          <a:solidFill>
                            <a:srgbClr val="1E2430"/>
                          </a:solidFill>
                          <a:latin typeface="Arial" pitchFamily="34" charset="0"/>
                          <a:ea typeface="Arial" pitchFamily="34" charset="-122"/>
                          <a:cs typeface="Arial" pitchFamily="34" charset="-120"/>
                        </a:rPr>
                        <a:t>Birthdate, address, phone, SSN</a:t>
                      </a:r>
                      <a:endParaRPr lang="en-US" sz="1300" dirty="0">
                        <a:latin typeface="Arial" charset="0"/>
                        <a:ea typeface="Arial" charset="0"/>
                        <a:cs typeface="Arial" charset="0"/>
                      </a:endParaRPr>
                    </a:p>
                  </a:txBody>
                  <a:tcPr marL="114300" marR="114300" marT="76200" marB="76200" anchor="t">
                    <a:lnL w="12700" cap="flat" cmpd="sng" algn="ctr">
                      <a:solidFill>
                        <a:srgbClr val="C5C5C5"/>
                      </a:solidFill>
                      <a:prstDash val="solid"/>
                      <a:round/>
                      <a:headEnd type="none" w="med" len="med"/>
                      <a:tailEnd type="none" w="med" len="med"/>
                    </a:lnL>
                    <a:lnR w="12700" cap="flat" cmpd="sng" algn="ctr">
                      <a:solidFill>
                        <a:srgbClr val="C5C5C5"/>
                      </a:solidFill>
                      <a:prstDash val="solid"/>
                      <a:round/>
                      <a:headEnd type="none" w="med" len="med"/>
                      <a:tailEnd type="none" w="med" len="med"/>
                    </a:lnR>
                    <a:lnT w="12700" cap="flat" cmpd="sng" algn="ctr">
                      <a:solidFill>
                        <a:srgbClr val="C5C5C5"/>
                      </a:solidFill>
                      <a:prstDash val="solid"/>
                      <a:round/>
                      <a:headEnd type="none" w="med" len="med"/>
                      <a:tailEnd type="none" w="med" len="med"/>
                    </a:lnT>
                    <a:lnB w="12700" cap="flat" cmpd="sng" algn="ctr">
                      <a:solidFill>
                        <a:srgbClr val="C5C5C5"/>
                      </a:solidFill>
                      <a:prstDash val="solid"/>
                      <a:round/>
                      <a:headEnd type="none" w="med" len="med"/>
                      <a:tailEnd type="none" w="med" len="med"/>
                    </a:lnB>
                    <a:solidFill>
                      <a:srgbClr val="F4F3EF"/>
                    </a:solidFill>
                  </a:tcPr>
                </a:tc>
              </a:tr>
              <a:tr h="627360">
                <a:tc>
                  <a:txBody>
                    <a:bodyPr/>
                    <a:lstStyle/>
                    <a:p>
                      <a:pPr indent="0" marL="0">
                        <a:lnSpc>
                          <a:spcPts val="1820"/>
                        </a:lnSpc>
                        <a:buNone/>
                      </a:pPr>
                      <a:r>
                        <a:rPr lang="en-US" sz="1300" dirty="0">
                          <a:solidFill>
                            <a:srgbClr val="1E2430"/>
                          </a:solidFill>
                          <a:latin typeface="Arial" pitchFamily="34" charset="0"/>
                          <a:ea typeface="Arial" pitchFamily="34" charset="-122"/>
                          <a:cs typeface="Arial" pitchFamily="34" charset="-120"/>
                        </a:rPr>
                        <a:t>Content</a:t>
                      </a:r>
                      <a:endParaRPr lang="en-US" sz="1300" dirty="0">
                        <a:latin typeface="Arial" charset="0"/>
                        <a:ea typeface="Arial" charset="0"/>
                        <a:cs typeface="Arial" charset="0"/>
                      </a:endParaRPr>
                    </a:p>
                  </a:txBody>
                  <a:tcPr marL="114300" marR="114300" marT="76200" marB="76200" anchor="t">
                    <a:lnL w="12700" cap="flat" cmpd="sng" algn="ctr">
                      <a:solidFill>
                        <a:srgbClr val="C5C5C5"/>
                      </a:solidFill>
                      <a:prstDash val="solid"/>
                      <a:round/>
                      <a:headEnd type="none" w="med" len="med"/>
                      <a:tailEnd type="none" w="med" len="med"/>
                    </a:lnL>
                    <a:lnR w="12700" cap="flat" cmpd="sng" algn="ctr">
                      <a:solidFill>
                        <a:srgbClr val="C5C5C5"/>
                      </a:solidFill>
                      <a:prstDash val="solid"/>
                      <a:round/>
                      <a:headEnd type="none" w="med" len="med"/>
                      <a:tailEnd type="none" w="med" len="med"/>
                    </a:lnR>
                    <a:lnT w="12700" cap="flat" cmpd="sng" algn="ctr">
                      <a:solidFill>
                        <a:srgbClr val="C5C5C5"/>
                      </a:solidFill>
                      <a:prstDash val="solid"/>
                      <a:round/>
                      <a:headEnd type="none" w="med" len="med"/>
                      <a:tailEnd type="none" w="med" len="med"/>
                    </a:lnT>
                    <a:lnB w="12700" cap="flat" cmpd="sng" algn="ctr">
                      <a:solidFill>
                        <a:srgbClr val="C5C5C5"/>
                      </a:solidFill>
                      <a:prstDash val="solid"/>
                      <a:round/>
                      <a:headEnd type="none" w="med" len="med"/>
                      <a:tailEnd type="none" w="med" len="med"/>
                    </a:lnB>
                    <a:solidFill>
                      <a:srgbClr val="FBFAF7"/>
                    </a:solidFill>
                  </a:tcPr>
                </a:tc>
                <a:tc>
                  <a:txBody>
                    <a:bodyPr/>
                    <a:lstStyle/>
                    <a:p>
                      <a:pPr indent="0" marL="0">
                        <a:lnSpc>
                          <a:spcPts val="1820"/>
                        </a:lnSpc>
                        <a:buNone/>
                      </a:pPr>
                      <a:r>
                        <a:rPr lang="en-US" sz="1300" dirty="0">
                          <a:solidFill>
                            <a:srgbClr val="1E2430"/>
                          </a:solidFill>
                          <a:latin typeface="Arial" pitchFamily="34" charset="0"/>
                          <a:ea typeface="Arial" pitchFamily="34" charset="-122"/>
                          <a:cs typeface="Arial" pitchFamily="34" charset="-120"/>
                        </a:rPr>
                        <a:t>Posts, photos, comments, reviews, DMs</a:t>
                      </a:r>
                      <a:endParaRPr lang="en-US" sz="1300" dirty="0">
                        <a:latin typeface="Arial" charset="0"/>
                        <a:ea typeface="Arial" charset="0"/>
                        <a:cs typeface="Arial" charset="0"/>
                      </a:endParaRPr>
                    </a:p>
                  </a:txBody>
                  <a:tcPr marL="114300" marR="114300" marT="76200" marB="76200" anchor="t">
                    <a:lnL w="12700" cap="flat" cmpd="sng" algn="ctr">
                      <a:solidFill>
                        <a:srgbClr val="C5C5C5"/>
                      </a:solidFill>
                      <a:prstDash val="solid"/>
                      <a:round/>
                      <a:headEnd type="none" w="med" len="med"/>
                      <a:tailEnd type="none" w="med" len="med"/>
                    </a:lnL>
                    <a:lnR w="12700" cap="flat" cmpd="sng" algn="ctr">
                      <a:solidFill>
                        <a:srgbClr val="C5C5C5"/>
                      </a:solidFill>
                      <a:prstDash val="solid"/>
                      <a:round/>
                      <a:headEnd type="none" w="med" len="med"/>
                      <a:tailEnd type="none" w="med" len="med"/>
                    </a:lnR>
                    <a:lnT w="12700" cap="flat" cmpd="sng" algn="ctr">
                      <a:solidFill>
                        <a:srgbClr val="C5C5C5"/>
                      </a:solidFill>
                      <a:prstDash val="solid"/>
                      <a:round/>
                      <a:headEnd type="none" w="med" len="med"/>
                      <a:tailEnd type="none" w="med" len="med"/>
                    </a:lnT>
                    <a:lnB w="12700" cap="flat" cmpd="sng" algn="ctr">
                      <a:solidFill>
                        <a:srgbClr val="C5C5C5"/>
                      </a:solidFill>
                      <a:prstDash val="solid"/>
                      <a:round/>
                      <a:headEnd type="none" w="med" len="med"/>
                      <a:tailEnd type="none" w="med" len="med"/>
                    </a:lnB>
                    <a:solidFill>
                      <a:srgbClr val="FBFAF7"/>
                    </a:solidFill>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3EF"/>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F6E6E"/>
                </a:solidFill>
                <a:latin typeface="Arial" pitchFamily="34" charset="0"/>
                <a:ea typeface="Arial" pitchFamily="34" charset="-122"/>
                <a:cs typeface="Arial" pitchFamily="34" charset="-120"/>
              </a:rPr>
              <a:t>ONE LAW EACH, OR ONE LAW FOR EVERYTHING</a:t>
            </a:r>
            <a:endParaRPr lang="en-US" sz="1200" dirty="0"/>
          </a:p>
        </p:txBody>
      </p:sp>
      <p:sp>
        <p:nvSpPr>
          <p:cNvPr id="3" name="Text 1"/>
          <p:cNvSpPr/>
          <p:nvPr/>
        </p:nvSpPr>
        <p:spPr>
          <a:xfrm>
            <a:off x="812800" y="1000720"/>
            <a:ext cx="10883392" cy="500360"/>
          </a:xfrm>
          <a:prstGeom prst="rect">
            <a:avLst/>
          </a:prstGeom>
          <a:noFill/>
          <a:ln/>
        </p:spPr>
        <p:txBody>
          <a:bodyPr wrap="square" lIns="0" tIns="0" rIns="0" bIns="0" rtlCol="0" anchor="t">
            <a:normAutofit/>
          </a:bodyPr>
          <a:lstStyle/>
          <a:p>
            <a:pPr algn="l" indent="0" marL="0">
              <a:lnSpc>
                <a:spcPts val="3740"/>
              </a:lnSpc>
              <a:buNone/>
            </a:pPr>
            <a:r>
              <a:rPr lang="en-US" sz="3400" b="1" dirty="0">
                <a:solidFill>
                  <a:srgbClr val="1E2430"/>
                </a:solidFill>
                <a:latin typeface="Arial" pitchFamily="34" charset="0"/>
                <a:ea typeface="Arial" pitchFamily="34" charset="-122"/>
                <a:cs typeface="Arial" pitchFamily="34" charset="-120"/>
              </a:rPr>
              <a:t>Privacy law depends on where you are</a:t>
            </a:r>
            <a:endParaRPr lang="en-US" sz="3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12800" y="1704280"/>
          <a:ext cx="10566400" cy="2842171"/>
        </p:xfrm>
        <a:graphic>
          <a:graphicData uri="http://schemas.openxmlformats.org/drawingml/2006/table">
            <a:tbl>
              <a:tblPr/>
              <a:tblGrid>
                <a:gridCol w="2535936"/>
                <a:gridCol w="8030464"/>
              </a:tblGrid>
              <a:tr h="383530">
                <a:tc>
                  <a:txBody>
                    <a:bodyPr/>
                    <a:lstStyle/>
                    <a:p>
                      <a:pPr indent="0" marL="0">
                        <a:lnSpc>
                          <a:spcPts val="1820"/>
                        </a:lnSpc>
                        <a:buNone/>
                      </a:pPr>
                      <a:r>
                        <a:rPr lang="en-US" sz="1300" b="1" dirty="0">
                          <a:solidFill>
                            <a:srgbClr val="1E2430"/>
                          </a:solidFill>
                          <a:latin typeface="Arial" pitchFamily="34" charset="0"/>
                          <a:ea typeface="Arial" pitchFamily="34" charset="-122"/>
                          <a:cs typeface="Arial" pitchFamily="34" charset="-120"/>
                        </a:rPr>
                        <a:t>Where</a:t>
                      </a:r>
                      <a:endParaRPr lang="en-US" sz="1300" dirty="0">
                        <a:latin typeface="Arial" charset="0"/>
                        <a:ea typeface="Arial" charset="0"/>
                        <a:cs typeface="Arial" charset="0"/>
                      </a:endParaRPr>
                    </a:p>
                  </a:txBody>
                  <a:tcPr marL="101600" marR="101600" marT="69850" marB="69850" anchor="t">
                    <a:lnL w="12700" cap="flat" cmpd="sng" algn="ctr">
                      <a:solidFill>
                        <a:srgbClr val="C5C5C5"/>
                      </a:solidFill>
                      <a:prstDash val="solid"/>
                      <a:round/>
                      <a:headEnd type="none" w="med" len="med"/>
                      <a:tailEnd type="none" w="med" len="med"/>
                    </a:lnL>
                    <a:lnR w="12700" cap="flat" cmpd="sng" algn="ctr">
                      <a:solidFill>
                        <a:srgbClr val="C5C5C5"/>
                      </a:solidFill>
                      <a:prstDash val="solid"/>
                      <a:round/>
                      <a:headEnd type="none" w="med" len="med"/>
                      <a:tailEnd type="none" w="med" len="med"/>
                    </a:lnR>
                    <a:lnT w="12700" cap="flat" cmpd="sng" algn="ctr">
                      <a:solidFill>
                        <a:srgbClr val="C5C5C5"/>
                      </a:solidFill>
                      <a:prstDash val="solid"/>
                      <a:round/>
                      <a:headEnd type="none" w="med" len="med"/>
                      <a:tailEnd type="none" w="med" len="med"/>
                    </a:lnT>
                    <a:lnB w="12700" cap="flat" cmpd="sng" algn="ctr">
                      <a:solidFill>
                        <a:srgbClr val="C5C5C5"/>
                      </a:solidFill>
                      <a:prstDash val="solid"/>
                      <a:round/>
                      <a:headEnd type="none" w="med" len="med"/>
                      <a:tailEnd type="none" w="med" len="med"/>
                    </a:lnB>
                    <a:solidFill>
                      <a:srgbClr val="E7E4DC"/>
                    </a:solidFill>
                  </a:tcPr>
                </a:tc>
                <a:tc>
                  <a:txBody>
                    <a:bodyPr/>
                    <a:lstStyle/>
                    <a:p>
                      <a:pPr indent="0" marL="0">
                        <a:lnSpc>
                          <a:spcPts val="1820"/>
                        </a:lnSpc>
                        <a:buNone/>
                      </a:pPr>
                      <a:r>
                        <a:rPr lang="en-US" sz="1300" b="1" dirty="0">
                          <a:solidFill>
                            <a:srgbClr val="1E2430"/>
                          </a:solidFill>
                          <a:latin typeface="Arial" pitchFamily="34" charset="0"/>
                          <a:ea typeface="Arial" pitchFamily="34" charset="-122"/>
                          <a:cs typeface="Arial" pitchFamily="34" charset="-120"/>
                        </a:rPr>
                        <a:t>How it works</a:t>
                      </a:r>
                      <a:endParaRPr lang="en-US" sz="1300" dirty="0">
                        <a:latin typeface="Arial" charset="0"/>
                        <a:ea typeface="Arial" charset="0"/>
                        <a:cs typeface="Arial" charset="0"/>
                      </a:endParaRPr>
                    </a:p>
                  </a:txBody>
                  <a:tcPr marL="101600" marR="101600" marT="69850" marB="69850" anchor="t">
                    <a:lnL w="12700" cap="flat" cmpd="sng" algn="ctr">
                      <a:solidFill>
                        <a:srgbClr val="C5C5C5"/>
                      </a:solidFill>
                      <a:prstDash val="solid"/>
                      <a:round/>
                      <a:headEnd type="none" w="med" len="med"/>
                      <a:tailEnd type="none" w="med" len="med"/>
                    </a:lnL>
                    <a:lnR w="12700" cap="flat" cmpd="sng" algn="ctr">
                      <a:solidFill>
                        <a:srgbClr val="C5C5C5"/>
                      </a:solidFill>
                      <a:prstDash val="solid"/>
                      <a:round/>
                      <a:headEnd type="none" w="med" len="med"/>
                      <a:tailEnd type="none" w="med" len="med"/>
                    </a:lnR>
                    <a:lnT w="12700" cap="flat" cmpd="sng" algn="ctr">
                      <a:solidFill>
                        <a:srgbClr val="C5C5C5"/>
                      </a:solidFill>
                      <a:prstDash val="solid"/>
                      <a:round/>
                      <a:headEnd type="none" w="med" len="med"/>
                      <a:tailEnd type="none" w="med" len="med"/>
                    </a:lnT>
                    <a:lnB w="12700" cap="flat" cmpd="sng" algn="ctr">
                      <a:solidFill>
                        <a:srgbClr val="C5C5C5"/>
                      </a:solidFill>
                      <a:prstDash val="solid"/>
                      <a:round/>
                      <a:headEnd type="none" w="med" len="med"/>
                      <a:tailEnd type="none" w="med" len="med"/>
                    </a:lnB>
                    <a:solidFill>
                      <a:srgbClr val="E7E4DC"/>
                    </a:solidFill>
                  </a:tcPr>
                </a:tc>
              </a:tr>
              <a:tr h="845790">
                <a:tc>
                  <a:txBody>
                    <a:bodyPr/>
                    <a:lstStyle/>
                    <a:p>
                      <a:pPr indent="0" marL="0">
                        <a:lnSpc>
                          <a:spcPts val="1820"/>
                        </a:lnSpc>
                        <a:buNone/>
                      </a:pPr>
                      <a:r>
                        <a:rPr lang="en-US" sz="1300" dirty="0">
                          <a:solidFill>
                            <a:srgbClr val="1E2430"/>
                          </a:solidFill>
                          <a:latin typeface="Arial" pitchFamily="34" charset="0"/>
                          <a:ea typeface="Arial" pitchFamily="34" charset="-122"/>
                          <a:cs typeface="Arial" pitchFamily="34" charset="-120"/>
                        </a:rPr>
                        <a:t>United States</a:t>
                      </a:r>
                      <a:endParaRPr lang="en-US" sz="1300" dirty="0">
                        <a:latin typeface="Arial" charset="0"/>
                        <a:ea typeface="Arial" charset="0"/>
                        <a:cs typeface="Arial" charset="0"/>
                      </a:endParaRPr>
                    </a:p>
                  </a:txBody>
                  <a:tcPr marL="101600" marR="101600" marT="69850" marB="69850" anchor="t">
                    <a:lnL w="12700" cap="flat" cmpd="sng" algn="ctr">
                      <a:solidFill>
                        <a:srgbClr val="C5C5C5"/>
                      </a:solidFill>
                      <a:prstDash val="solid"/>
                      <a:round/>
                      <a:headEnd type="none" w="med" len="med"/>
                      <a:tailEnd type="none" w="med" len="med"/>
                    </a:lnL>
                    <a:lnR w="12700" cap="flat" cmpd="sng" algn="ctr">
                      <a:solidFill>
                        <a:srgbClr val="C5C5C5"/>
                      </a:solidFill>
                      <a:prstDash val="solid"/>
                      <a:round/>
                      <a:headEnd type="none" w="med" len="med"/>
                      <a:tailEnd type="none" w="med" len="med"/>
                    </a:lnR>
                    <a:lnT w="12700" cap="flat" cmpd="sng" algn="ctr">
                      <a:solidFill>
                        <a:srgbClr val="C5C5C5"/>
                      </a:solidFill>
                      <a:prstDash val="solid"/>
                      <a:round/>
                      <a:headEnd type="none" w="med" len="med"/>
                      <a:tailEnd type="none" w="med" len="med"/>
                    </a:lnT>
                    <a:lnB w="12700" cap="flat" cmpd="sng" algn="ctr">
                      <a:solidFill>
                        <a:srgbClr val="C5C5C5"/>
                      </a:solidFill>
                      <a:prstDash val="solid"/>
                      <a:round/>
                      <a:headEnd type="none" w="med" len="med"/>
                      <a:tailEnd type="none" w="med" len="med"/>
                    </a:lnB>
                    <a:solidFill>
                      <a:srgbClr val="FBFAF7"/>
                    </a:solidFill>
                  </a:tcPr>
                </a:tc>
                <a:tc>
                  <a:txBody>
                    <a:bodyPr/>
                    <a:lstStyle/>
                    <a:p>
                      <a:pPr indent="0" marL="0">
                        <a:lnSpc>
                          <a:spcPts val="1820"/>
                        </a:lnSpc>
                        <a:buNone/>
                      </a:pPr>
                      <a:r>
                        <a:rPr lang="en-US" sz="1300" dirty="0">
                          <a:solidFill>
                            <a:srgbClr val="1E2430"/>
                          </a:solidFill>
                          <a:latin typeface="Arial" pitchFamily="34" charset="0"/>
                          <a:ea typeface="Arial" pitchFamily="34" charset="-122"/>
                          <a:cs typeface="Arial" pitchFamily="34" charset="-120"/>
                        </a:rPr>
                        <a:t>No single privacy law. Protection arrives one sector at a time: HIPAA for health records held by providers, insurers, and their partners · FERPA for your education records · COPPA for children under 13 · Gramm-Leach-Bliley for financial data · the Red Flags Rule for identity theft. The FTC enforces most of the rest</a:t>
                      </a:r>
                      <a:endParaRPr lang="en-US" sz="1300" dirty="0">
                        <a:latin typeface="Arial" charset="0"/>
                        <a:ea typeface="Arial" charset="0"/>
                        <a:cs typeface="Arial" charset="0"/>
                      </a:endParaRPr>
                    </a:p>
                  </a:txBody>
                  <a:tcPr marL="101600" marR="101600" marT="69850" marB="69850" anchor="t">
                    <a:lnL w="12700" cap="flat" cmpd="sng" algn="ctr">
                      <a:solidFill>
                        <a:srgbClr val="C5C5C5"/>
                      </a:solidFill>
                      <a:prstDash val="solid"/>
                      <a:round/>
                      <a:headEnd type="none" w="med" len="med"/>
                      <a:tailEnd type="none" w="med" len="med"/>
                    </a:lnL>
                    <a:lnR w="12700" cap="flat" cmpd="sng" algn="ctr">
                      <a:solidFill>
                        <a:srgbClr val="C5C5C5"/>
                      </a:solidFill>
                      <a:prstDash val="solid"/>
                      <a:round/>
                      <a:headEnd type="none" w="med" len="med"/>
                      <a:tailEnd type="none" w="med" len="med"/>
                    </a:lnR>
                    <a:lnT w="12700" cap="flat" cmpd="sng" algn="ctr">
                      <a:solidFill>
                        <a:srgbClr val="C5C5C5"/>
                      </a:solidFill>
                      <a:prstDash val="solid"/>
                      <a:round/>
                      <a:headEnd type="none" w="med" len="med"/>
                      <a:tailEnd type="none" w="med" len="med"/>
                    </a:lnT>
                    <a:lnB w="12700" cap="flat" cmpd="sng" algn="ctr">
                      <a:solidFill>
                        <a:srgbClr val="C5C5C5"/>
                      </a:solidFill>
                      <a:prstDash val="solid"/>
                      <a:round/>
                      <a:headEnd type="none" w="med" len="med"/>
                      <a:tailEnd type="none" w="med" len="med"/>
                    </a:lnB>
                    <a:solidFill>
                      <a:srgbClr val="FBFAF7"/>
                    </a:solidFill>
                  </a:tcPr>
                </a:tc>
              </a:tr>
              <a:tr h="845790">
                <a:tc>
                  <a:txBody>
                    <a:bodyPr/>
                    <a:lstStyle/>
                    <a:p>
                      <a:pPr indent="0" marL="0">
                        <a:lnSpc>
                          <a:spcPts val="1820"/>
                        </a:lnSpc>
                        <a:buNone/>
                      </a:pPr>
                      <a:r>
                        <a:rPr lang="en-US" sz="1300" dirty="0">
                          <a:solidFill>
                            <a:srgbClr val="1E2430"/>
                          </a:solidFill>
                          <a:latin typeface="Arial" pitchFamily="34" charset="0"/>
                          <a:ea typeface="Arial" pitchFamily="34" charset="-122"/>
                          <a:cs typeface="Arial" pitchFamily="34" charset="-120"/>
                        </a:rPr>
                        <a:t>European Union</a:t>
                      </a:r>
                      <a:endParaRPr lang="en-US" sz="1300" dirty="0">
                        <a:latin typeface="Arial" charset="0"/>
                        <a:ea typeface="Arial" charset="0"/>
                        <a:cs typeface="Arial" charset="0"/>
                      </a:endParaRPr>
                    </a:p>
                  </a:txBody>
                  <a:tcPr marL="101600" marR="101600" marT="69850" marB="69850" anchor="t">
                    <a:lnL w="12700" cap="flat" cmpd="sng" algn="ctr">
                      <a:solidFill>
                        <a:srgbClr val="C5C5C5"/>
                      </a:solidFill>
                      <a:prstDash val="solid"/>
                      <a:round/>
                      <a:headEnd type="none" w="med" len="med"/>
                      <a:tailEnd type="none" w="med" len="med"/>
                    </a:lnL>
                    <a:lnR w="12700" cap="flat" cmpd="sng" algn="ctr">
                      <a:solidFill>
                        <a:srgbClr val="C5C5C5"/>
                      </a:solidFill>
                      <a:prstDash val="solid"/>
                      <a:round/>
                      <a:headEnd type="none" w="med" len="med"/>
                      <a:tailEnd type="none" w="med" len="med"/>
                    </a:lnR>
                    <a:lnT w="12700" cap="flat" cmpd="sng" algn="ctr">
                      <a:solidFill>
                        <a:srgbClr val="C5C5C5"/>
                      </a:solidFill>
                      <a:prstDash val="solid"/>
                      <a:round/>
                      <a:headEnd type="none" w="med" len="med"/>
                      <a:tailEnd type="none" w="med" len="med"/>
                    </a:lnT>
                    <a:lnB w="12700" cap="flat" cmpd="sng" algn="ctr">
                      <a:solidFill>
                        <a:srgbClr val="C5C5C5"/>
                      </a:solidFill>
                      <a:prstDash val="solid"/>
                      <a:round/>
                      <a:headEnd type="none" w="med" len="med"/>
                      <a:tailEnd type="none" w="med" len="med"/>
                    </a:lnB>
                    <a:solidFill>
                      <a:srgbClr val="F4F3EF"/>
                    </a:solidFill>
                  </a:tcPr>
                </a:tc>
                <a:tc>
                  <a:txBody>
                    <a:bodyPr/>
                    <a:lstStyle/>
                    <a:p>
                      <a:pPr indent="0" marL="0">
                        <a:lnSpc>
                          <a:spcPts val="1820"/>
                        </a:lnSpc>
                        <a:buNone/>
                      </a:pPr>
                      <a:r>
                        <a:rPr lang="en-US" sz="1300" dirty="0">
                          <a:solidFill>
                            <a:srgbClr val="1E2430"/>
                          </a:solidFill>
                          <a:latin typeface="Arial" pitchFamily="34" charset="0"/>
                          <a:ea typeface="Arial" pitchFamily="34" charset="-122"/>
                          <a:cs typeface="Arial" pitchFamily="34" charset="-120"/>
                        </a:rPr>
                        <a:t>GDPR starts from the individual: consent before collection, the right to see what is held, the right to have it deleted. It covers any organization handling EU residents' data, wherever that organization is, and fines reach 4% of worldwide revenue</a:t>
                      </a:r>
                      <a:endParaRPr lang="en-US" sz="1300" dirty="0">
                        <a:latin typeface="Arial" charset="0"/>
                        <a:ea typeface="Arial" charset="0"/>
                        <a:cs typeface="Arial" charset="0"/>
                      </a:endParaRPr>
                    </a:p>
                  </a:txBody>
                  <a:tcPr marL="101600" marR="101600" marT="69850" marB="69850" anchor="t">
                    <a:lnL w="12700" cap="flat" cmpd="sng" algn="ctr">
                      <a:solidFill>
                        <a:srgbClr val="C5C5C5"/>
                      </a:solidFill>
                      <a:prstDash val="solid"/>
                      <a:round/>
                      <a:headEnd type="none" w="med" len="med"/>
                      <a:tailEnd type="none" w="med" len="med"/>
                    </a:lnL>
                    <a:lnR w="12700" cap="flat" cmpd="sng" algn="ctr">
                      <a:solidFill>
                        <a:srgbClr val="C5C5C5"/>
                      </a:solidFill>
                      <a:prstDash val="solid"/>
                      <a:round/>
                      <a:headEnd type="none" w="med" len="med"/>
                      <a:tailEnd type="none" w="med" len="med"/>
                    </a:lnR>
                    <a:lnT w="12700" cap="flat" cmpd="sng" algn="ctr">
                      <a:solidFill>
                        <a:srgbClr val="C5C5C5"/>
                      </a:solidFill>
                      <a:prstDash val="solid"/>
                      <a:round/>
                      <a:headEnd type="none" w="med" len="med"/>
                      <a:tailEnd type="none" w="med" len="med"/>
                    </a:lnT>
                    <a:lnB w="12700" cap="flat" cmpd="sng" algn="ctr">
                      <a:solidFill>
                        <a:srgbClr val="C5C5C5"/>
                      </a:solidFill>
                      <a:prstDash val="solid"/>
                      <a:round/>
                      <a:headEnd type="none" w="med" len="med"/>
                      <a:tailEnd type="none" w="med" len="med"/>
                    </a:lnB>
                    <a:solidFill>
                      <a:srgbClr val="F4F3EF"/>
                    </a:solidFill>
                  </a:tcPr>
                </a:tc>
              </a:tr>
              <a:tr h="383530">
                <a:tc>
                  <a:txBody>
                    <a:bodyPr/>
                    <a:lstStyle/>
                    <a:p>
                      <a:pPr indent="0" marL="0">
                        <a:lnSpc>
                          <a:spcPts val="1820"/>
                        </a:lnSpc>
                        <a:buNone/>
                      </a:pPr>
                      <a:r>
                        <a:rPr lang="en-US" sz="1300" dirty="0">
                          <a:solidFill>
                            <a:srgbClr val="1E2430"/>
                          </a:solidFill>
                          <a:latin typeface="Arial" pitchFamily="34" charset="0"/>
                          <a:ea typeface="Arial" pitchFamily="34" charset="-122"/>
                          <a:cs typeface="Arial" pitchFamily="34" charset="-120"/>
                        </a:rPr>
                        <a:t>Canada</a:t>
                      </a:r>
                      <a:endParaRPr lang="en-US" sz="1300" dirty="0">
                        <a:latin typeface="Arial" charset="0"/>
                        <a:ea typeface="Arial" charset="0"/>
                        <a:cs typeface="Arial" charset="0"/>
                      </a:endParaRPr>
                    </a:p>
                  </a:txBody>
                  <a:tcPr marL="101600" marR="101600" marT="69850" marB="69850" anchor="t">
                    <a:lnL w="12700" cap="flat" cmpd="sng" algn="ctr">
                      <a:solidFill>
                        <a:srgbClr val="C5C5C5"/>
                      </a:solidFill>
                      <a:prstDash val="solid"/>
                      <a:round/>
                      <a:headEnd type="none" w="med" len="med"/>
                      <a:tailEnd type="none" w="med" len="med"/>
                    </a:lnL>
                    <a:lnR w="12700" cap="flat" cmpd="sng" algn="ctr">
                      <a:solidFill>
                        <a:srgbClr val="C5C5C5"/>
                      </a:solidFill>
                      <a:prstDash val="solid"/>
                      <a:round/>
                      <a:headEnd type="none" w="med" len="med"/>
                      <a:tailEnd type="none" w="med" len="med"/>
                    </a:lnR>
                    <a:lnT w="12700" cap="flat" cmpd="sng" algn="ctr">
                      <a:solidFill>
                        <a:srgbClr val="C5C5C5"/>
                      </a:solidFill>
                      <a:prstDash val="solid"/>
                      <a:round/>
                      <a:headEnd type="none" w="med" len="med"/>
                      <a:tailEnd type="none" w="med" len="med"/>
                    </a:lnT>
                    <a:lnB w="12700" cap="flat" cmpd="sng" algn="ctr">
                      <a:solidFill>
                        <a:srgbClr val="C5C5C5"/>
                      </a:solidFill>
                      <a:prstDash val="solid"/>
                      <a:round/>
                      <a:headEnd type="none" w="med" len="med"/>
                      <a:tailEnd type="none" w="med" len="med"/>
                    </a:lnB>
                    <a:solidFill>
                      <a:srgbClr val="FBFAF7"/>
                    </a:solidFill>
                  </a:tcPr>
                </a:tc>
                <a:tc>
                  <a:txBody>
                    <a:bodyPr/>
                    <a:lstStyle/>
                    <a:p>
                      <a:pPr indent="0" marL="0">
                        <a:lnSpc>
                          <a:spcPts val="1820"/>
                        </a:lnSpc>
                        <a:buNone/>
                      </a:pPr>
                      <a:r>
                        <a:rPr lang="en-US" sz="1300" dirty="0">
                          <a:solidFill>
                            <a:srgbClr val="1E2430"/>
                          </a:solidFill>
                          <a:latin typeface="Arial" pitchFamily="34" charset="0"/>
                          <a:ea typeface="Arial" pitchFamily="34" charset="-122"/>
                          <a:cs typeface="Arial" pitchFamily="34" charset="-120"/>
                        </a:rPr>
                        <a:t>PIPEDA governs how organizations collect, store, and use data from online activity</a:t>
                      </a:r>
                      <a:endParaRPr lang="en-US" sz="1300" dirty="0">
                        <a:latin typeface="Arial" charset="0"/>
                        <a:ea typeface="Arial" charset="0"/>
                        <a:cs typeface="Arial" charset="0"/>
                      </a:endParaRPr>
                    </a:p>
                  </a:txBody>
                  <a:tcPr marL="101600" marR="101600" marT="69850" marB="69850" anchor="t">
                    <a:lnL w="12700" cap="flat" cmpd="sng" algn="ctr">
                      <a:solidFill>
                        <a:srgbClr val="C5C5C5"/>
                      </a:solidFill>
                      <a:prstDash val="solid"/>
                      <a:round/>
                      <a:headEnd type="none" w="med" len="med"/>
                      <a:tailEnd type="none" w="med" len="med"/>
                    </a:lnL>
                    <a:lnR w="12700" cap="flat" cmpd="sng" algn="ctr">
                      <a:solidFill>
                        <a:srgbClr val="C5C5C5"/>
                      </a:solidFill>
                      <a:prstDash val="solid"/>
                      <a:round/>
                      <a:headEnd type="none" w="med" len="med"/>
                      <a:tailEnd type="none" w="med" len="med"/>
                    </a:lnR>
                    <a:lnT w="12700" cap="flat" cmpd="sng" algn="ctr">
                      <a:solidFill>
                        <a:srgbClr val="C5C5C5"/>
                      </a:solidFill>
                      <a:prstDash val="solid"/>
                      <a:round/>
                      <a:headEnd type="none" w="med" len="med"/>
                      <a:tailEnd type="none" w="med" len="med"/>
                    </a:lnT>
                    <a:lnB w="12700" cap="flat" cmpd="sng" algn="ctr">
                      <a:solidFill>
                        <a:srgbClr val="C5C5C5"/>
                      </a:solidFill>
                      <a:prstDash val="solid"/>
                      <a:round/>
                      <a:headEnd type="none" w="med" len="med"/>
                      <a:tailEnd type="none" w="med" len="med"/>
                    </a:lnB>
                    <a:solidFill>
                      <a:srgbClr val="FBFAF7"/>
                    </a:solidFill>
                  </a:tcPr>
                </a:tc>
              </a:tr>
              <a:tr h="383530">
                <a:tc>
                  <a:txBody>
                    <a:bodyPr/>
                    <a:lstStyle/>
                    <a:p>
                      <a:pPr indent="0" marL="0">
                        <a:lnSpc>
                          <a:spcPts val="1820"/>
                        </a:lnSpc>
                        <a:buNone/>
                      </a:pPr>
                      <a:r>
                        <a:rPr lang="en-US" sz="1300" dirty="0">
                          <a:solidFill>
                            <a:srgbClr val="1E2430"/>
                          </a:solidFill>
                          <a:latin typeface="Arial" pitchFamily="34" charset="0"/>
                          <a:ea typeface="Arial" pitchFamily="34" charset="-122"/>
                          <a:cs typeface="Arial" pitchFamily="34" charset="-120"/>
                        </a:rPr>
                        <a:t>Mexico</a:t>
                      </a:r>
                      <a:endParaRPr lang="en-US" sz="1300" dirty="0">
                        <a:latin typeface="Arial" charset="0"/>
                        <a:ea typeface="Arial" charset="0"/>
                        <a:cs typeface="Arial" charset="0"/>
                      </a:endParaRPr>
                    </a:p>
                  </a:txBody>
                  <a:tcPr marL="101600" marR="101600" marT="69850" marB="69850" anchor="t">
                    <a:lnL w="12700" cap="flat" cmpd="sng" algn="ctr">
                      <a:solidFill>
                        <a:srgbClr val="C5C5C5"/>
                      </a:solidFill>
                      <a:prstDash val="solid"/>
                      <a:round/>
                      <a:headEnd type="none" w="med" len="med"/>
                      <a:tailEnd type="none" w="med" len="med"/>
                    </a:lnL>
                    <a:lnR w="12700" cap="flat" cmpd="sng" algn="ctr">
                      <a:solidFill>
                        <a:srgbClr val="C5C5C5"/>
                      </a:solidFill>
                      <a:prstDash val="solid"/>
                      <a:round/>
                      <a:headEnd type="none" w="med" len="med"/>
                      <a:tailEnd type="none" w="med" len="med"/>
                    </a:lnR>
                    <a:lnT w="12700" cap="flat" cmpd="sng" algn="ctr">
                      <a:solidFill>
                        <a:srgbClr val="C5C5C5"/>
                      </a:solidFill>
                      <a:prstDash val="solid"/>
                      <a:round/>
                      <a:headEnd type="none" w="med" len="med"/>
                      <a:tailEnd type="none" w="med" len="med"/>
                    </a:lnT>
                    <a:lnB w="12700" cap="flat" cmpd="sng" algn="ctr">
                      <a:solidFill>
                        <a:srgbClr val="C5C5C5"/>
                      </a:solidFill>
                      <a:prstDash val="solid"/>
                      <a:round/>
                      <a:headEnd type="none" w="med" len="med"/>
                      <a:tailEnd type="none" w="med" len="med"/>
                    </a:lnB>
                    <a:solidFill>
                      <a:srgbClr val="F4F3EF"/>
                    </a:solidFill>
                  </a:tcPr>
                </a:tc>
                <a:tc>
                  <a:txBody>
                    <a:bodyPr/>
                    <a:lstStyle/>
                    <a:p>
                      <a:pPr indent="0" marL="0">
                        <a:lnSpc>
                          <a:spcPts val="1820"/>
                        </a:lnSpc>
                        <a:buNone/>
                      </a:pPr>
                      <a:r>
                        <a:rPr lang="en-US" sz="1300" dirty="0">
                          <a:solidFill>
                            <a:srgbClr val="1E2430"/>
                          </a:solidFill>
                          <a:latin typeface="Arial" pitchFamily="34" charset="0"/>
                          <a:ea typeface="Arial" pitchFamily="34" charset="-122"/>
                          <a:cs typeface="Arial" pitchFamily="34" charset="-120"/>
                        </a:rPr>
                        <a:t>Data may only be collected for the reasons stated in the privacy policy, and consent is required</a:t>
                      </a:r>
                      <a:endParaRPr lang="en-US" sz="1300" dirty="0">
                        <a:latin typeface="Arial" charset="0"/>
                        <a:ea typeface="Arial" charset="0"/>
                        <a:cs typeface="Arial" charset="0"/>
                      </a:endParaRPr>
                    </a:p>
                  </a:txBody>
                  <a:tcPr marL="101600" marR="101600" marT="69850" marB="69850" anchor="t">
                    <a:lnL w="12700" cap="flat" cmpd="sng" algn="ctr">
                      <a:solidFill>
                        <a:srgbClr val="C5C5C5"/>
                      </a:solidFill>
                      <a:prstDash val="solid"/>
                      <a:round/>
                      <a:headEnd type="none" w="med" len="med"/>
                      <a:tailEnd type="none" w="med" len="med"/>
                    </a:lnL>
                    <a:lnR w="12700" cap="flat" cmpd="sng" algn="ctr">
                      <a:solidFill>
                        <a:srgbClr val="C5C5C5"/>
                      </a:solidFill>
                      <a:prstDash val="solid"/>
                      <a:round/>
                      <a:headEnd type="none" w="med" len="med"/>
                      <a:tailEnd type="none" w="med" len="med"/>
                    </a:lnR>
                    <a:lnT w="12700" cap="flat" cmpd="sng" algn="ctr">
                      <a:solidFill>
                        <a:srgbClr val="C5C5C5"/>
                      </a:solidFill>
                      <a:prstDash val="solid"/>
                      <a:round/>
                      <a:headEnd type="none" w="med" len="med"/>
                      <a:tailEnd type="none" w="med" len="med"/>
                    </a:lnT>
                    <a:lnB w="12700" cap="flat" cmpd="sng" algn="ctr">
                      <a:solidFill>
                        <a:srgbClr val="C5C5C5"/>
                      </a:solidFill>
                      <a:prstDash val="solid"/>
                      <a:round/>
                      <a:headEnd type="none" w="med" len="med"/>
                      <a:tailEnd type="none" w="med" len="med"/>
                    </a:lnB>
                    <a:solidFill>
                      <a:srgbClr val="F4F3EF"/>
                    </a:solidFill>
                  </a:tcPr>
                </a:tc>
              </a:tr>
            </a:tbl>
          </a:graphicData>
        </a:graphic>
      </p:graphicFrame>
      <p:sp>
        <p:nvSpPr>
          <p:cNvPr id="5" name="Shape 2"/>
          <p:cNvSpPr/>
          <p:nvPr/>
        </p:nvSpPr>
        <p:spPr>
          <a:xfrm>
            <a:off x="815975" y="4790926"/>
            <a:ext cx="5200650" cy="1031180"/>
          </a:xfrm>
          <a:prstGeom prst="roundRect">
            <a:avLst>
              <a:gd name="adj" fmla="val 8313"/>
            </a:avLst>
          </a:prstGeom>
          <a:solidFill>
            <a:srgbClr val="E3ECEA"/>
          </a:solidFill>
          <a:ln w="6350">
            <a:solidFill>
              <a:srgbClr val="DCD8CF"/>
            </a:solidFill>
            <a:prstDash val="solid"/>
          </a:ln>
        </p:spPr>
      </p:sp>
      <p:sp>
        <p:nvSpPr>
          <p:cNvPr id="6" name="Text 3"/>
          <p:cNvSpPr/>
          <p:nvPr/>
        </p:nvSpPr>
        <p:spPr>
          <a:xfrm>
            <a:off x="1009650" y="4946501"/>
            <a:ext cx="4957699" cy="745430"/>
          </a:xfrm>
          <a:prstGeom prst="rect">
            <a:avLst/>
          </a:prstGeom>
          <a:noFill/>
          <a:ln/>
        </p:spPr>
        <p:txBody>
          <a:bodyPr wrap="square" lIns="0" tIns="0" rIns="0" bIns="0" rtlCol="0" anchor="t">
            <a:normAutofit/>
          </a:bodyPr>
          <a:lstStyle/>
          <a:p>
            <a:pPr algn="l" indent="0" marL="0">
              <a:lnSpc>
                <a:spcPts val="1890"/>
              </a:lnSpc>
              <a:buNone/>
            </a:pPr>
            <a:r>
              <a:rPr lang="en-US" sz="1350" b="1" dirty="0">
                <a:solidFill>
                  <a:srgbClr val="1E2430"/>
                </a:solidFill>
                <a:latin typeface="Arial" pitchFamily="34" charset="0"/>
                <a:ea typeface="Arial" pitchFamily="34" charset="-122"/>
                <a:cs typeface="Arial" pitchFamily="34" charset="-120"/>
              </a:rPr>
              <a:t>HIPAA covers who holds the data, not the data itself.</a:t>
            </a:r>
            <a:r>
              <a:rPr lang="en-US" sz="1350" dirty="0">
                <a:solidFill>
                  <a:srgbClr val="1E2430"/>
                </a:solidFill>
                <a:latin typeface="Arial" pitchFamily="34" charset="0"/>
                <a:ea typeface="Arial" pitchFamily="34" charset="-122"/>
                <a:cs typeface="Arial" pitchFamily="34" charset="-120"/>
              </a:rPr>
              <a:t> Your doctor is covered. A DNA testing company, a fitness tracker, or a symptom app usually is not.</a:t>
            </a:r>
            <a:endParaRPr lang="en-US" sz="1350" dirty="0"/>
          </a:p>
        </p:txBody>
      </p:sp>
      <p:sp>
        <p:nvSpPr>
          <p:cNvPr id="7" name="Shape 4"/>
          <p:cNvSpPr/>
          <p:nvPr/>
        </p:nvSpPr>
        <p:spPr>
          <a:xfrm>
            <a:off x="6175375" y="4790926"/>
            <a:ext cx="5200650" cy="1031180"/>
          </a:xfrm>
          <a:prstGeom prst="roundRect">
            <a:avLst>
              <a:gd name="adj" fmla="val 8313"/>
            </a:avLst>
          </a:prstGeom>
          <a:solidFill>
            <a:srgbClr val="FBFAF7"/>
          </a:solidFill>
          <a:ln w="6350">
            <a:solidFill>
              <a:srgbClr val="DCD8CF"/>
            </a:solidFill>
            <a:prstDash val="solid"/>
          </a:ln>
        </p:spPr>
      </p:sp>
      <p:sp>
        <p:nvSpPr>
          <p:cNvPr id="8" name="Text 5"/>
          <p:cNvSpPr/>
          <p:nvPr/>
        </p:nvSpPr>
        <p:spPr>
          <a:xfrm>
            <a:off x="6369050" y="4946501"/>
            <a:ext cx="4957699" cy="505420"/>
          </a:xfrm>
          <a:prstGeom prst="rect">
            <a:avLst/>
          </a:prstGeom>
          <a:noFill/>
          <a:ln/>
        </p:spPr>
        <p:txBody>
          <a:bodyPr wrap="square" lIns="0" tIns="0" rIns="0" bIns="0" rtlCol="0" anchor="t">
            <a:normAutofit/>
          </a:bodyPr>
          <a:lstStyle/>
          <a:p>
            <a:pPr algn="l" indent="0" marL="0">
              <a:lnSpc>
                <a:spcPts val="1890"/>
              </a:lnSpc>
              <a:buNone/>
            </a:pPr>
            <a:r>
              <a:rPr lang="en-US" sz="1350" b="1" dirty="0">
                <a:solidFill>
                  <a:srgbClr val="1E2430"/>
                </a:solidFill>
                <a:latin typeface="Arial" pitchFamily="34" charset="0"/>
                <a:ea typeface="Arial" pitchFamily="34" charset="-122"/>
                <a:cs typeface="Arial" pitchFamily="34" charset="-120"/>
              </a:rPr>
              <a:t>Why you see cookie banners.</a:t>
            </a:r>
            <a:r>
              <a:rPr lang="en-US" sz="1350" dirty="0">
                <a:solidFill>
                  <a:srgbClr val="1E2430"/>
                </a:solidFill>
                <a:latin typeface="Arial" pitchFamily="34" charset="0"/>
                <a:ea typeface="Arial" pitchFamily="34" charset="-122"/>
                <a:cs typeface="Arial" pitchFamily="34" charset="-120"/>
              </a:rPr>
              <a:t> One EU law changed the defaults for companies worldwide, including American ones.</a:t>
            </a:r>
            <a:endParaRPr lang="en-US" sz="13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3EF"/>
        </a:solidFill>
      </p:bgPr>
    </p:bg>
    <p:spTree>
      <p:nvGrpSpPr>
        <p:cNvPr id="1" name=""/>
        <p:cNvGrpSpPr/>
        <p:nvPr/>
      </p:nvGrpSpPr>
      <p:grpSpPr>
        <a:xfrm>
          <a:off x="0" y="0"/>
          <a:ext cx="0" cy="0"/>
          <a:chOff x="0" y="0"/>
          <a:chExt cx="0" cy="0"/>
        </a:xfrm>
      </p:grpSpPr>
      <p:sp>
        <p:nvSpPr>
          <p:cNvPr id="2" name="Text 0"/>
          <p:cNvSpPr/>
          <p:nvPr/>
        </p:nvSpPr>
        <p:spPr>
          <a:xfrm>
            <a:off x="812800" y="711200"/>
            <a:ext cx="10883392" cy="500360"/>
          </a:xfrm>
          <a:prstGeom prst="rect">
            <a:avLst/>
          </a:prstGeom>
          <a:noFill/>
          <a:ln/>
        </p:spPr>
        <p:txBody>
          <a:bodyPr wrap="square" lIns="0" tIns="0" rIns="0" bIns="0" rtlCol="0" anchor="t">
            <a:normAutofit/>
          </a:bodyPr>
          <a:lstStyle/>
          <a:p>
            <a:pPr algn="l" indent="0" marL="0">
              <a:lnSpc>
                <a:spcPts val="3740"/>
              </a:lnSpc>
              <a:buNone/>
            </a:pPr>
            <a:r>
              <a:rPr lang="en-US" sz="3400" b="1" dirty="0">
                <a:solidFill>
                  <a:srgbClr val="1E2430"/>
                </a:solidFill>
                <a:latin typeface="Arial" pitchFamily="34" charset="0"/>
                <a:ea typeface="Arial" pitchFamily="34" charset="-122"/>
                <a:cs typeface="Arial" pitchFamily="34" charset="-120"/>
              </a:rPr>
              <a:t>Copyright, in the terms you actually need</a:t>
            </a:r>
            <a:endParaRPr lang="en-US" sz="3400" dirty="0"/>
          </a:p>
        </p:txBody>
      </p:sp>
      <p:sp>
        <p:nvSpPr>
          <p:cNvPr id="3" name="Shape 1"/>
          <p:cNvSpPr/>
          <p:nvPr/>
        </p:nvSpPr>
        <p:spPr>
          <a:xfrm>
            <a:off x="815975" y="1443335"/>
            <a:ext cx="5124450" cy="1809601"/>
          </a:xfrm>
          <a:prstGeom prst="roundRect">
            <a:avLst>
              <a:gd name="adj" fmla="val 4737"/>
            </a:avLst>
          </a:prstGeom>
          <a:solidFill>
            <a:srgbClr val="FBFAF7"/>
          </a:solidFill>
          <a:ln w="6350">
            <a:solidFill>
              <a:srgbClr val="DCD8CF"/>
            </a:solidFill>
            <a:prstDash val="solid"/>
          </a:ln>
        </p:spPr>
      </p:sp>
      <p:sp>
        <p:nvSpPr>
          <p:cNvPr id="4" name="Text 2"/>
          <p:cNvSpPr/>
          <p:nvPr/>
        </p:nvSpPr>
        <p:spPr>
          <a:xfrm>
            <a:off x="1022350" y="1624310"/>
            <a:ext cx="4853051"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E2430"/>
                </a:solidFill>
                <a:latin typeface="Arial" pitchFamily="34" charset="0"/>
                <a:ea typeface="Arial" pitchFamily="34" charset="-122"/>
                <a:cs typeface="Arial" pitchFamily="34" charset="-120"/>
              </a:rPr>
              <a:t>What it covers</a:t>
            </a:r>
            <a:endParaRPr lang="en-US" sz="1800" dirty="0"/>
          </a:p>
        </p:txBody>
      </p:sp>
      <p:sp>
        <p:nvSpPr>
          <p:cNvPr id="5" name="Text 3"/>
          <p:cNvSpPr/>
          <p:nvPr/>
        </p:nvSpPr>
        <p:spPr>
          <a:xfrm>
            <a:off x="1022350" y="1987500"/>
            <a:ext cx="4853051"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E2430"/>
                </a:solidFill>
                <a:latin typeface="Arial" pitchFamily="34" charset="0"/>
                <a:ea typeface="Arial" pitchFamily="34" charset="-122"/>
                <a:cs typeface="Arial" pitchFamily="34" charset="-120"/>
              </a:rPr>
              <a:t>The </a:t>
            </a:r>
            <a:r>
              <a:rPr lang="en-US" sz="1400" b="1" dirty="0">
                <a:solidFill>
                  <a:srgbClr val="1E2430"/>
                </a:solidFill>
                <a:latin typeface="Arial" pitchFamily="34" charset="0"/>
                <a:ea typeface="Arial" pitchFamily="34" charset="-122"/>
                <a:cs typeface="Arial" pitchFamily="34" charset="-120"/>
              </a:rPr>
              <a:t>expression</a:t>
            </a:r>
            <a:r>
              <a:rPr lang="en-US" sz="1400" dirty="0">
                <a:solidFill>
                  <a:srgbClr val="1E2430"/>
                </a:solidFill>
                <a:latin typeface="Arial" pitchFamily="34" charset="0"/>
                <a:ea typeface="Arial" pitchFamily="34" charset="-122"/>
                <a:cs typeface="Arial" pitchFamily="34" charset="-120"/>
              </a:rPr>
              <a:t> of an idea, not the idea itself. Your photo of a sunset is protected; sunsets are not.</a:t>
            </a:r>
            <a:endParaRPr lang="en-US" sz="1400" dirty="0"/>
          </a:p>
        </p:txBody>
      </p:sp>
      <p:sp>
        <p:nvSpPr>
          <p:cNvPr id="6" name="Text 4"/>
          <p:cNvSpPr/>
          <p:nvPr/>
        </p:nvSpPr>
        <p:spPr>
          <a:xfrm>
            <a:off x="1022350" y="2574181"/>
            <a:ext cx="4853051"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E2430"/>
                </a:solidFill>
                <a:latin typeface="Arial" pitchFamily="34" charset="0"/>
                <a:ea typeface="Arial" pitchFamily="34" charset="-122"/>
                <a:cs typeface="Arial" pitchFamily="34" charset="-120"/>
              </a:rPr>
              <a:t>Protection is automatic the moment you create something. No notice or registration needed.</a:t>
            </a:r>
            <a:endParaRPr lang="en-US" sz="1400" dirty="0"/>
          </a:p>
        </p:txBody>
      </p:sp>
      <p:sp>
        <p:nvSpPr>
          <p:cNvPr id="7" name="Shape 5"/>
          <p:cNvSpPr/>
          <p:nvPr/>
        </p:nvSpPr>
        <p:spPr>
          <a:xfrm>
            <a:off x="815975" y="3386286"/>
            <a:ext cx="5124450" cy="1471811"/>
          </a:xfrm>
          <a:prstGeom prst="roundRect">
            <a:avLst>
              <a:gd name="adj" fmla="val 5824"/>
            </a:avLst>
          </a:prstGeom>
          <a:solidFill>
            <a:srgbClr val="FBFAF7"/>
          </a:solidFill>
          <a:ln w="6350">
            <a:solidFill>
              <a:srgbClr val="DCD8CF"/>
            </a:solidFill>
            <a:prstDash val="solid"/>
          </a:ln>
        </p:spPr>
      </p:sp>
      <p:sp>
        <p:nvSpPr>
          <p:cNvPr id="8" name="Text 6"/>
          <p:cNvSpPr/>
          <p:nvPr/>
        </p:nvSpPr>
        <p:spPr>
          <a:xfrm>
            <a:off x="1022350" y="3567261"/>
            <a:ext cx="4853051"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E2430"/>
                </a:solidFill>
                <a:latin typeface="Arial" pitchFamily="34" charset="0"/>
                <a:ea typeface="Arial" pitchFamily="34" charset="-122"/>
                <a:cs typeface="Arial" pitchFamily="34" charset="-120"/>
              </a:rPr>
              <a:t>For how long</a:t>
            </a:r>
            <a:endParaRPr lang="en-US" sz="1800" dirty="0"/>
          </a:p>
        </p:txBody>
      </p:sp>
      <p:sp>
        <p:nvSpPr>
          <p:cNvPr id="9" name="Text 7"/>
          <p:cNvSpPr/>
          <p:nvPr/>
        </p:nvSpPr>
        <p:spPr>
          <a:xfrm>
            <a:off x="1022350" y="3930452"/>
            <a:ext cx="4853051" cy="77207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E2430"/>
                </a:solidFill>
                <a:latin typeface="Arial" pitchFamily="34" charset="0"/>
                <a:ea typeface="Arial" pitchFamily="34" charset="-122"/>
                <a:cs typeface="Arial" pitchFamily="34" charset="-120"/>
              </a:rPr>
              <a:t>Created in 1978 or later: the author's life plus </a:t>
            </a:r>
            <a:r>
              <a:rPr lang="en-US" sz="1400" b="1" dirty="0">
                <a:solidFill>
                  <a:srgbClr val="1E2430"/>
                </a:solidFill>
                <a:latin typeface="Arial" pitchFamily="34" charset="0"/>
                <a:ea typeface="Arial" pitchFamily="34" charset="-122"/>
                <a:cs typeface="Arial" pitchFamily="34" charset="-120"/>
              </a:rPr>
              <a:t>70 years</a:t>
            </a:r>
            <a:r>
              <a:rPr lang="en-US" sz="1400" dirty="0">
                <a:solidFill>
                  <a:srgbClr val="1E2430"/>
                </a:solidFill>
                <a:latin typeface="Arial" pitchFamily="34" charset="0"/>
                <a:ea typeface="Arial" pitchFamily="34" charset="-122"/>
                <a:cs typeface="Arial" pitchFamily="34" charset="-120"/>
              </a:rPr>
              <a:t>. Works made for hire: 95 years from publication or 120 from creation, whichever is shorter.</a:t>
            </a:r>
            <a:endParaRPr lang="en-US" sz="1400" dirty="0"/>
          </a:p>
        </p:txBody>
      </p:sp>
      <p:sp>
        <p:nvSpPr>
          <p:cNvPr id="10" name="Shape 8"/>
          <p:cNvSpPr/>
          <p:nvPr/>
        </p:nvSpPr>
        <p:spPr>
          <a:xfrm>
            <a:off x="6251575" y="1443335"/>
            <a:ext cx="5124450" cy="1471811"/>
          </a:xfrm>
          <a:prstGeom prst="roundRect">
            <a:avLst>
              <a:gd name="adj" fmla="val 5824"/>
            </a:avLst>
          </a:prstGeom>
          <a:solidFill>
            <a:srgbClr val="FBFAF7"/>
          </a:solidFill>
          <a:ln w="6350">
            <a:solidFill>
              <a:srgbClr val="DCD8CF"/>
            </a:solidFill>
            <a:prstDash val="solid"/>
          </a:ln>
        </p:spPr>
      </p:sp>
      <p:sp>
        <p:nvSpPr>
          <p:cNvPr id="11" name="Text 9"/>
          <p:cNvSpPr/>
          <p:nvPr/>
        </p:nvSpPr>
        <p:spPr>
          <a:xfrm>
            <a:off x="6457950" y="1624310"/>
            <a:ext cx="4853051"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E2430"/>
                </a:solidFill>
                <a:latin typeface="Arial" pitchFamily="34" charset="0"/>
                <a:ea typeface="Arial" pitchFamily="34" charset="-122"/>
                <a:cs typeface="Arial" pitchFamily="34" charset="-120"/>
              </a:rPr>
              <a:t>DMCA</a:t>
            </a:r>
            <a:endParaRPr lang="en-US" sz="1800" dirty="0"/>
          </a:p>
        </p:txBody>
      </p:sp>
      <p:sp>
        <p:nvSpPr>
          <p:cNvPr id="12" name="Text 10"/>
          <p:cNvSpPr/>
          <p:nvPr/>
        </p:nvSpPr>
        <p:spPr>
          <a:xfrm>
            <a:off x="6457950" y="1987500"/>
            <a:ext cx="4853051" cy="77207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E2430"/>
                </a:solidFill>
                <a:latin typeface="Arial" pitchFamily="34" charset="0"/>
                <a:ea typeface="Arial" pitchFamily="34" charset="-122"/>
                <a:cs typeface="Arial" pitchFamily="34" charset="-120"/>
              </a:rPr>
              <a:t>Protects platforms from being sued over what users upload, as long as they take content down when notified. That is why a video disappears with a copyright notice.</a:t>
            </a:r>
            <a:endParaRPr lang="en-US" sz="1400" dirty="0"/>
          </a:p>
        </p:txBody>
      </p:sp>
      <p:sp>
        <p:nvSpPr>
          <p:cNvPr id="13" name="Shape 11"/>
          <p:cNvSpPr/>
          <p:nvPr/>
        </p:nvSpPr>
        <p:spPr>
          <a:xfrm>
            <a:off x="6251575" y="3048496"/>
            <a:ext cx="5124450" cy="1222921"/>
          </a:xfrm>
          <a:prstGeom prst="roundRect">
            <a:avLst>
              <a:gd name="adj" fmla="val 7010"/>
            </a:avLst>
          </a:prstGeom>
          <a:solidFill>
            <a:srgbClr val="FBFAF7"/>
          </a:solidFill>
          <a:ln w="6350">
            <a:solidFill>
              <a:srgbClr val="DCD8CF"/>
            </a:solidFill>
            <a:prstDash val="solid"/>
          </a:ln>
        </p:spPr>
      </p:sp>
      <p:sp>
        <p:nvSpPr>
          <p:cNvPr id="14" name="Text 12"/>
          <p:cNvSpPr/>
          <p:nvPr/>
        </p:nvSpPr>
        <p:spPr>
          <a:xfrm>
            <a:off x="6457950" y="3229471"/>
            <a:ext cx="4853051"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E2430"/>
                </a:solidFill>
                <a:latin typeface="Arial" pitchFamily="34" charset="0"/>
                <a:ea typeface="Arial" pitchFamily="34" charset="-122"/>
                <a:cs typeface="Arial" pitchFamily="34" charset="-120"/>
              </a:rPr>
              <a:t>Use it in your project</a:t>
            </a:r>
            <a:endParaRPr lang="en-US" sz="1800" dirty="0"/>
          </a:p>
        </p:txBody>
      </p:sp>
      <p:sp>
        <p:nvSpPr>
          <p:cNvPr id="15" name="Text 13"/>
          <p:cNvSpPr/>
          <p:nvPr/>
        </p:nvSpPr>
        <p:spPr>
          <a:xfrm>
            <a:off x="6457950" y="3592661"/>
            <a:ext cx="4853051" cy="52318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E2430"/>
                </a:solidFill>
                <a:latin typeface="Arial" pitchFamily="34" charset="0"/>
                <a:ea typeface="Arial" pitchFamily="34" charset="-122"/>
                <a:cs typeface="Arial" pitchFamily="34" charset="-120"/>
              </a:rPr>
              <a:t>Creative Commons</a:t>
            </a:r>
            <a:r>
              <a:rPr lang="en-US" sz="1400" dirty="0">
                <a:solidFill>
                  <a:srgbClr val="1E2430"/>
                </a:solidFill>
                <a:latin typeface="Arial" pitchFamily="34" charset="0"/>
                <a:ea typeface="Arial" pitchFamily="34" charset="-122"/>
                <a:cs typeface="Arial" pitchFamily="34" charset="-120"/>
              </a:rPr>
              <a:t> and </a:t>
            </a:r>
            <a:r>
              <a:rPr lang="en-US" sz="1400" b="1" dirty="0">
                <a:solidFill>
                  <a:srgbClr val="1E2430"/>
                </a:solidFill>
                <a:latin typeface="Arial" pitchFamily="34" charset="0"/>
                <a:ea typeface="Arial" pitchFamily="34" charset="-122"/>
                <a:cs typeface="Arial" pitchFamily="34" charset="-120"/>
              </a:rPr>
              <a:t>OER</a:t>
            </a:r>
            <a:r>
              <a:rPr lang="en-US" sz="1400" dirty="0">
                <a:solidFill>
                  <a:srgbClr val="1E2430"/>
                </a:solidFill>
                <a:latin typeface="Arial" pitchFamily="34" charset="0"/>
                <a:ea typeface="Arial" pitchFamily="34" charset="-122"/>
                <a:cs typeface="Arial" pitchFamily="34" charset="-120"/>
              </a:rPr>
              <a:t> materials are licensed for reuse. Check the license, then credit the creator anyway.</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3EF"/>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5453A"/>
                </a:solidFill>
                <a:latin typeface="Arial" pitchFamily="34" charset="0"/>
                <a:ea typeface="Arial" pitchFamily="34" charset="-122"/>
                <a:cs typeface="Arial" pitchFamily="34" charset="-120"/>
              </a:rPr>
              <a:t>WHERE MALWARE COMES FROM</a:t>
            </a:r>
            <a:endParaRPr lang="en-US" sz="1200" dirty="0"/>
          </a:p>
        </p:txBody>
      </p:sp>
      <p:sp>
        <p:nvSpPr>
          <p:cNvPr id="3" name="Text 1"/>
          <p:cNvSpPr/>
          <p:nvPr/>
        </p:nvSpPr>
        <p:spPr>
          <a:xfrm>
            <a:off x="812800" y="1000720"/>
            <a:ext cx="10883392" cy="500360"/>
          </a:xfrm>
          <a:prstGeom prst="rect">
            <a:avLst/>
          </a:prstGeom>
          <a:noFill/>
          <a:ln/>
        </p:spPr>
        <p:txBody>
          <a:bodyPr wrap="square" lIns="0" tIns="0" rIns="0" bIns="0" rtlCol="0" anchor="t">
            <a:normAutofit/>
          </a:bodyPr>
          <a:lstStyle/>
          <a:p>
            <a:pPr algn="l" indent="0" marL="0">
              <a:lnSpc>
                <a:spcPts val="3740"/>
              </a:lnSpc>
              <a:buNone/>
            </a:pPr>
            <a:r>
              <a:rPr lang="en-US" sz="3400" b="1" dirty="0">
                <a:solidFill>
                  <a:srgbClr val="1E2430"/>
                </a:solidFill>
                <a:latin typeface="Arial" pitchFamily="34" charset="0"/>
                <a:ea typeface="Arial" pitchFamily="34" charset="-122"/>
                <a:cs typeface="Arial" pitchFamily="34" charset="-120"/>
              </a:rPr>
              <a:t>Free software is rarely free</a:t>
            </a:r>
            <a:endParaRPr lang="en-US" sz="3400" dirty="0"/>
          </a:p>
        </p:txBody>
      </p:sp>
      <p:sp>
        <p:nvSpPr>
          <p:cNvPr id="4" name="Shape 2"/>
          <p:cNvSpPr/>
          <p:nvPr/>
        </p:nvSpPr>
        <p:spPr>
          <a:xfrm>
            <a:off x="815975" y="1732855"/>
            <a:ext cx="5124450" cy="2396282"/>
          </a:xfrm>
          <a:prstGeom prst="roundRect">
            <a:avLst>
              <a:gd name="adj" fmla="val 3577"/>
            </a:avLst>
          </a:prstGeom>
          <a:solidFill>
            <a:srgbClr val="FBFAF7"/>
          </a:solidFill>
          <a:ln w="6350">
            <a:solidFill>
              <a:srgbClr val="DCD8CF"/>
            </a:solidFill>
            <a:prstDash val="solid"/>
          </a:ln>
        </p:spPr>
      </p:sp>
      <p:sp>
        <p:nvSpPr>
          <p:cNvPr id="5" name="Text 3"/>
          <p:cNvSpPr/>
          <p:nvPr/>
        </p:nvSpPr>
        <p:spPr>
          <a:xfrm>
            <a:off x="1022350" y="1913830"/>
            <a:ext cx="4853051"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F6E6E"/>
                </a:solidFill>
                <a:latin typeface="Arial" pitchFamily="34" charset="0"/>
                <a:ea typeface="Arial" pitchFamily="34" charset="-122"/>
                <a:cs typeface="Arial" pitchFamily="34" charset="-120"/>
              </a:rPr>
              <a:t>Before you download</a:t>
            </a:r>
            <a:endParaRPr lang="en-US" sz="1800" dirty="0"/>
          </a:p>
        </p:txBody>
      </p:sp>
      <p:sp>
        <p:nvSpPr>
          <p:cNvPr id="6" name="Text 4"/>
          <p:cNvSpPr/>
          <p:nvPr/>
        </p:nvSpPr>
        <p:spPr>
          <a:xfrm>
            <a:off x="1022350" y="2277021"/>
            <a:ext cx="4853051"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E2430"/>
                </a:solidFill>
                <a:latin typeface="Arial" pitchFamily="34" charset="0"/>
                <a:ea typeface="Arial" pitchFamily="34" charset="-122"/>
                <a:cs typeface="Arial" pitchFamily="34" charset="-120"/>
              </a:rPr>
              <a:t>Get it from the </a:t>
            </a:r>
            <a:r>
              <a:rPr lang="en-US" sz="1400" b="1" dirty="0">
                <a:solidFill>
                  <a:srgbClr val="1E2430"/>
                </a:solidFill>
                <a:latin typeface="Arial" pitchFamily="34" charset="0"/>
                <a:ea typeface="Arial" pitchFamily="34" charset="-122"/>
                <a:cs typeface="Arial" pitchFamily="34" charset="-120"/>
              </a:rPr>
              <a:t>publisher's own site</a:t>
            </a:r>
            <a:r>
              <a:rPr lang="en-US" sz="1400" dirty="0">
                <a:solidFill>
                  <a:srgbClr val="1E2430"/>
                </a:solidFill>
                <a:latin typeface="Arial" pitchFamily="34" charset="0"/>
                <a:ea typeface="Arial" pitchFamily="34" charset="-122"/>
                <a:cs typeface="Arial" pitchFamily="34" charset="-120"/>
              </a:rPr>
              <a:t> or an official store, not a search ad or a "free download" mirror.</a:t>
            </a:r>
            <a:endParaRPr lang="en-US" sz="1400" dirty="0"/>
          </a:p>
        </p:txBody>
      </p:sp>
      <p:sp>
        <p:nvSpPr>
          <p:cNvPr id="7" name="Text 5"/>
          <p:cNvSpPr/>
          <p:nvPr/>
        </p:nvSpPr>
        <p:spPr>
          <a:xfrm>
            <a:off x="1022350" y="2863701"/>
            <a:ext cx="4853051"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E2430"/>
                </a:solidFill>
                <a:latin typeface="Arial" pitchFamily="34" charset="0"/>
                <a:ea typeface="Arial" pitchFamily="34" charset="-122"/>
                <a:cs typeface="Arial" pitchFamily="34" charset="-120"/>
              </a:rPr>
              <a:t>Check the site is </a:t>
            </a:r>
            <a:r>
              <a:rPr lang="en-US" sz="1400" b="1" dirty="0">
                <a:solidFill>
                  <a:srgbClr val="1E2430"/>
                </a:solidFill>
                <a:latin typeface="Arial" pitchFamily="34" charset="0"/>
                <a:ea typeface="Arial" pitchFamily="34" charset="-122"/>
                <a:cs typeface="Arial" pitchFamily="34" charset="-120"/>
              </a:rPr>
              <a:t>https</a:t>
            </a:r>
            <a:r>
              <a:rPr lang="en-US" sz="1400" dirty="0">
                <a:solidFill>
                  <a:srgbClr val="1E2430"/>
                </a:solidFill>
                <a:latin typeface="Arial" pitchFamily="34" charset="0"/>
                <a:ea typeface="Arial" pitchFamily="34" charset="-122"/>
                <a:cs typeface="Arial" pitchFamily="34" charset="-120"/>
              </a:rPr>
              <a:t>, read recent reviews, and keep antivirus on.</a:t>
            </a:r>
            <a:endParaRPr lang="en-US" sz="1400" dirty="0"/>
          </a:p>
        </p:txBody>
      </p:sp>
      <p:sp>
        <p:nvSpPr>
          <p:cNvPr id="8" name="Text 6"/>
          <p:cNvSpPr/>
          <p:nvPr/>
        </p:nvSpPr>
        <p:spPr>
          <a:xfrm>
            <a:off x="1022350" y="3450382"/>
            <a:ext cx="4853051"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E2430"/>
                </a:solidFill>
                <a:latin typeface="Arial" pitchFamily="34" charset="0"/>
                <a:ea typeface="Arial" pitchFamily="34" charset="-122"/>
                <a:cs typeface="Arial" pitchFamily="34" charset="-120"/>
              </a:rPr>
              <a:t>Watch the installer for pre-checked extras, the </a:t>
            </a:r>
            <a:r>
              <a:rPr lang="en-US" sz="1400" b="1" dirty="0">
                <a:solidFill>
                  <a:srgbClr val="1E2430"/>
                </a:solidFill>
                <a:latin typeface="Arial" pitchFamily="34" charset="0"/>
                <a:ea typeface="Arial" pitchFamily="34" charset="-122"/>
                <a:cs typeface="Arial" pitchFamily="34" charset="-120"/>
              </a:rPr>
              <a:t>PUPs</a:t>
            </a:r>
            <a:r>
              <a:rPr lang="en-US" sz="1400" dirty="0">
                <a:solidFill>
                  <a:srgbClr val="1E2430"/>
                </a:solidFill>
                <a:latin typeface="Arial" pitchFamily="34" charset="0"/>
                <a:ea typeface="Arial" pitchFamily="34" charset="-122"/>
                <a:cs typeface="Arial" pitchFamily="34" charset="-120"/>
              </a:rPr>
              <a:t>: toolbars, "cleaners", browser changes.</a:t>
            </a:r>
            <a:endParaRPr lang="en-US" sz="1400" dirty="0"/>
          </a:p>
        </p:txBody>
      </p:sp>
      <p:sp>
        <p:nvSpPr>
          <p:cNvPr id="9" name="Shape 7"/>
          <p:cNvSpPr/>
          <p:nvPr/>
        </p:nvSpPr>
        <p:spPr>
          <a:xfrm>
            <a:off x="6251575" y="1732855"/>
            <a:ext cx="5124450" cy="2396282"/>
          </a:xfrm>
          <a:prstGeom prst="roundRect">
            <a:avLst>
              <a:gd name="adj" fmla="val 3577"/>
            </a:avLst>
          </a:prstGeom>
          <a:solidFill>
            <a:srgbClr val="FBFAF7"/>
          </a:solidFill>
          <a:ln w="6350">
            <a:solidFill>
              <a:srgbClr val="DCD8CF"/>
            </a:solidFill>
            <a:prstDash val="solid"/>
          </a:ln>
        </p:spPr>
      </p:sp>
      <p:sp>
        <p:nvSpPr>
          <p:cNvPr id="10" name="Text 8"/>
          <p:cNvSpPr/>
          <p:nvPr/>
        </p:nvSpPr>
        <p:spPr>
          <a:xfrm>
            <a:off x="6457950" y="1913830"/>
            <a:ext cx="4853051"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B5453A"/>
                </a:solidFill>
                <a:latin typeface="Arial" pitchFamily="34" charset="0"/>
                <a:ea typeface="Arial" pitchFamily="34" charset="-122"/>
                <a:cs typeface="Arial" pitchFamily="34" charset="-120"/>
              </a:rPr>
              <a:t>Piracy</a:t>
            </a:r>
            <a:endParaRPr lang="en-US" sz="1800" dirty="0"/>
          </a:p>
        </p:txBody>
      </p:sp>
      <p:sp>
        <p:nvSpPr>
          <p:cNvPr id="11" name="Text 9"/>
          <p:cNvSpPr/>
          <p:nvPr/>
        </p:nvSpPr>
        <p:spPr>
          <a:xfrm>
            <a:off x="6457950" y="2277021"/>
            <a:ext cx="4853051"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E2430"/>
                </a:solidFill>
                <a:latin typeface="Arial" pitchFamily="34" charset="0"/>
                <a:ea typeface="Arial" pitchFamily="34" charset="-122"/>
                <a:cs typeface="Arial" pitchFamily="34" charset="-120"/>
              </a:rPr>
              <a:t>Torrent sites split files across other users' computers, so you are downloading from strangers and uploading to them.</a:t>
            </a:r>
            <a:endParaRPr lang="en-US" sz="1400" dirty="0"/>
          </a:p>
        </p:txBody>
      </p:sp>
      <p:sp>
        <p:nvSpPr>
          <p:cNvPr id="12" name="Text 10"/>
          <p:cNvSpPr/>
          <p:nvPr/>
        </p:nvSpPr>
        <p:spPr>
          <a:xfrm>
            <a:off x="6457950" y="2863701"/>
            <a:ext cx="4853051"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E2430"/>
                </a:solidFill>
                <a:latin typeface="Arial" pitchFamily="34" charset="0"/>
                <a:ea typeface="Arial" pitchFamily="34" charset="-122"/>
                <a:cs typeface="Arial" pitchFamily="34" charset="-120"/>
              </a:rPr>
              <a:t>Pirated Office, Windows, and Photoshop are the most common carriers of malware.</a:t>
            </a:r>
            <a:endParaRPr lang="en-US" sz="1400" dirty="0"/>
          </a:p>
        </p:txBody>
      </p:sp>
      <p:sp>
        <p:nvSpPr>
          <p:cNvPr id="13" name="Text 11"/>
          <p:cNvSpPr/>
          <p:nvPr/>
        </p:nvSpPr>
        <p:spPr>
          <a:xfrm>
            <a:off x="6457950" y="3450382"/>
            <a:ext cx="4853051"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E2430"/>
                </a:solidFill>
                <a:latin typeface="Arial" pitchFamily="34" charset="0"/>
                <a:ea typeface="Arial" pitchFamily="34" charset="-122"/>
                <a:cs typeface="Arial" pitchFamily="34" charset="-120"/>
              </a:rPr>
              <a:t>Downloading pirated software is copyright infringement. Around a third of software in use worldwide is unlicensed.</a:t>
            </a:r>
            <a:endParaRPr lang="en-US" sz="1400" dirty="0"/>
          </a:p>
        </p:txBody>
      </p:sp>
      <p:sp>
        <p:nvSpPr>
          <p:cNvPr id="14" name="Shape 12"/>
          <p:cNvSpPr/>
          <p:nvPr/>
        </p:nvSpPr>
        <p:spPr>
          <a:xfrm>
            <a:off x="815975" y="4389487"/>
            <a:ext cx="10560050" cy="628650"/>
          </a:xfrm>
          <a:prstGeom prst="roundRect">
            <a:avLst>
              <a:gd name="adj" fmla="val 13636"/>
            </a:avLst>
          </a:prstGeom>
          <a:solidFill>
            <a:srgbClr val="E3ECEA"/>
          </a:solidFill>
          <a:ln w="6350">
            <a:solidFill>
              <a:srgbClr val="DCD8CF"/>
            </a:solidFill>
            <a:prstDash val="solid"/>
          </a:ln>
        </p:spPr>
      </p:sp>
      <p:sp>
        <p:nvSpPr>
          <p:cNvPr id="15" name="Text 13"/>
          <p:cNvSpPr/>
          <p:nvPr/>
        </p:nvSpPr>
        <p:spPr>
          <a:xfrm>
            <a:off x="1022350" y="4570462"/>
            <a:ext cx="10451719"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E2430"/>
                </a:solidFill>
                <a:latin typeface="Arial" pitchFamily="34" charset="0"/>
                <a:ea typeface="Arial" pitchFamily="34" charset="-122"/>
                <a:cs typeface="Arial" pitchFamily="34" charset="-120"/>
              </a:rPr>
              <a:t>MDC gives you Office and other licensed software for free while you are enrolled. There is no reason to pirate it.</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3EF"/>
        </a:solidFill>
      </p:bgPr>
    </p:bg>
    <p:spTree>
      <p:nvGrpSpPr>
        <p:cNvPr id="1" name=""/>
        <p:cNvGrpSpPr/>
        <p:nvPr/>
      </p:nvGrpSpPr>
      <p:grpSpPr>
        <a:xfrm>
          <a:off x="0" y="0"/>
          <a:ext cx="0" cy="0"/>
          <a:chOff x="0" y="0"/>
          <a:chExt cx="0" cy="0"/>
        </a:xfrm>
      </p:grpSpPr>
      <p:sp>
        <p:nvSpPr>
          <p:cNvPr id="2" name="Text 0"/>
          <p:cNvSpPr/>
          <p:nvPr/>
        </p:nvSpPr>
        <p:spPr>
          <a:xfrm>
            <a:off x="812800" y="711200"/>
            <a:ext cx="10883392" cy="500360"/>
          </a:xfrm>
          <a:prstGeom prst="rect">
            <a:avLst/>
          </a:prstGeom>
          <a:noFill/>
          <a:ln/>
        </p:spPr>
        <p:txBody>
          <a:bodyPr wrap="square" lIns="0" tIns="0" rIns="0" bIns="0" rtlCol="0" anchor="t">
            <a:normAutofit/>
          </a:bodyPr>
          <a:lstStyle/>
          <a:p>
            <a:pPr algn="l" indent="0" marL="0">
              <a:lnSpc>
                <a:spcPts val="3740"/>
              </a:lnSpc>
              <a:buNone/>
            </a:pPr>
            <a:r>
              <a:rPr lang="en-US" sz="3400" b="1" dirty="0">
                <a:solidFill>
                  <a:srgbClr val="1E2430"/>
                </a:solidFill>
                <a:latin typeface="Arial" pitchFamily="34" charset="0"/>
                <a:ea typeface="Arial" pitchFamily="34" charset="-122"/>
                <a:cs typeface="Arial" pitchFamily="34" charset="-120"/>
              </a:rPr>
              <a:t>What a quiz app can take</a:t>
            </a:r>
            <a:endParaRPr lang="en-US" sz="3400" dirty="0"/>
          </a:p>
        </p:txBody>
      </p:sp>
      <p:sp>
        <p:nvSpPr>
          <p:cNvPr id="3" name="Shape 1"/>
          <p:cNvSpPr/>
          <p:nvPr/>
        </p:nvSpPr>
        <p:spPr>
          <a:xfrm>
            <a:off x="815975" y="1443335"/>
            <a:ext cx="5482382" cy="2396282"/>
          </a:xfrm>
          <a:prstGeom prst="roundRect">
            <a:avLst>
              <a:gd name="adj" fmla="val 3577"/>
            </a:avLst>
          </a:prstGeom>
          <a:solidFill>
            <a:srgbClr val="FBFAF7"/>
          </a:solidFill>
          <a:ln w="6350">
            <a:solidFill>
              <a:srgbClr val="DCD8CF"/>
            </a:solidFill>
            <a:prstDash val="solid"/>
          </a:ln>
        </p:spPr>
      </p:sp>
      <p:sp>
        <p:nvSpPr>
          <p:cNvPr id="4" name="Text 2"/>
          <p:cNvSpPr/>
          <p:nvPr/>
        </p:nvSpPr>
        <p:spPr>
          <a:xfrm>
            <a:off x="1022350" y="1624310"/>
            <a:ext cx="5221721"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E2430"/>
                </a:solidFill>
                <a:latin typeface="Arial" pitchFamily="34" charset="0"/>
                <a:ea typeface="Arial" pitchFamily="34" charset="-122"/>
                <a:cs typeface="Arial" pitchFamily="34" charset="-120"/>
              </a:rPr>
              <a:t>The Cambridge Analytica case</a:t>
            </a:r>
            <a:endParaRPr lang="en-US" sz="1800" dirty="0"/>
          </a:p>
        </p:txBody>
      </p:sp>
      <p:sp>
        <p:nvSpPr>
          <p:cNvPr id="5" name="Text 3"/>
          <p:cNvSpPr/>
          <p:nvPr/>
        </p:nvSpPr>
        <p:spPr>
          <a:xfrm>
            <a:off x="1022350" y="1987500"/>
            <a:ext cx="5221721" cy="77207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E2430"/>
                </a:solidFill>
                <a:latin typeface="Arial" pitchFamily="34" charset="0"/>
                <a:ea typeface="Arial" pitchFamily="34" charset="-122"/>
                <a:cs typeface="Arial" pitchFamily="34" charset="-120"/>
              </a:rPr>
              <a:t>A personality quiz on Facebook collected answers from a few hundred thousand people, and also scooped up data from everyone on their friends lists.</a:t>
            </a:r>
            <a:endParaRPr lang="en-US" sz="1400" dirty="0"/>
          </a:p>
        </p:txBody>
      </p:sp>
      <p:sp>
        <p:nvSpPr>
          <p:cNvPr id="6" name="Text 4"/>
          <p:cNvSpPr/>
          <p:nvPr/>
        </p:nvSpPr>
        <p:spPr>
          <a:xfrm>
            <a:off x="1022350" y="2823071"/>
            <a:ext cx="5221721"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E2430"/>
                </a:solidFill>
                <a:latin typeface="Arial" pitchFamily="34" charset="0"/>
                <a:ea typeface="Arial" pitchFamily="34" charset="-122"/>
                <a:cs typeface="Arial" pitchFamily="34" charset="-120"/>
              </a:rPr>
              <a:t>That reached roughly </a:t>
            </a:r>
            <a:r>
              <a:rPr lang="en-US" sz="1400" b="1" dirty="0">
                <a:solidFill>
                  <a:srgbClr val="1E2430"/>
                </a:solidFill>
                <a:latin typeface="Arial" pitchFamily="34" charset="0"/>
                <a:ea typeface="Arial" pitchFamily="34" charset="-122"/>
                <a:cs typeface="Arial" pitchFamily="34" charset="-120"/>
              </a:rPr>
              <a:t>87 million</a:t>
            </a:r>
            <a:r>
              <a:rPr lang="en-US" sz="1400" dirty="0">
                <a:solidFill>
                  <a:srgbClr val="1E2430"/>
                </a:solidFill>
                <a:latin typeface="Arial" pitchFamily="34" charset="0"/>
                <a:ea typeface="Arial" pitchFamily="34" charset="-122"/>
                <a:cs typeface="Arial" pitchFamily="34" charset="-120"/>
              </a:rPr>
              <a:t> people and was sold for political ad targeting.</a:t>
            </a:r>
            <a:endParaRPr lang="en-US" sz="1400" dirty="0"/>
          </a:p>
        </p:txBody>
      </p:sp>
      <p:sp>
        <p:nvSpPr>
          <p:cNvPr id="7" name="Text 5"/>
          <p:cNvSpPr/>
          <p:nvPr/>
        </p:nvSpPr>
        <p:spPr>
          <a:xfrm>
            <a:off x="1022350" y="3409752"/>
            <a:ext cx="5221721"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A6472"/>
                </a:solidFill>
                <a:latin typeface="Arial" pitchFamily="34" charset="0"/>
                <a:ea typeface="Arial" pitchFamily="34" charset="-122"/>
                <a:cs typeface="Arial" pitchFamily="34" charset="-120"/>
              </a:rPr>
              <a:t>Most of those people never took the quiz.</a:t>
            </a:r>
            <a:endParaRPr lang="en-US" sz="1400" dirty="0"/>
          </a:p>
        </p:txBody>
      </p:sp>
      <p:sp>
        <p:nvSpPr>
          <p:cNvPr id="8" name="Shape 6"/>
          <p:cNvSpPr/>
          <p:nvPr/>
        </p:nvSpPr>
        <p:spPr>
          <a:xfrm>
            <a:off x="6609507" y="1443335"/>
            <a:ext cx="4766469" cy="1108621"/>
          </a:xfrm>
          <a:prstGeom prst="roundRect">
            <a:avLst>
              <a:gd name="adj" fmla="val 7733"/>
            </a:avLst>
          </a:prstGeom>
          <a:solidFill>
            <a:srgbClr val="FBFAF7"/>
          </a:solidFill>
          <a:ln w="6350">
            <a:solidFill>
              <a:srgbClr val="DCD8CF"/>
            </a:solidFill>
            <a:prstDash val="solid"/>
          </a:ln>
        </p:spPr>
      </p:sp>
      <p:sp>
        <p:nvSpPr>
          <p:cNvPr id="9" name="Text 7"/>
          <p:cNvSpPr/>
          <p:nvPr/>
        </p:nvSpPr>
        <p:spPr>
          <a:xfrm>
            <a:off x="6815882" y="1624310"/>
            <a:ext cx="4484330" cy="77207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E2430"/>
                </a:solidFill>
                <a:latin typeface="Arial" pitchFamily="34" charset="0"/>
                <a:ea typeface="Arial" pitchFamily="34" charset="-122"/>
                <a:cs typeface="Arial" pitchFamily="34" charset="-120"/>
              </a:rPr>
              <a:t>Check your connected apps.</a:t>
            </a:r>
            <a:r>
              <a:rPr lang="en-US" sz="1400" dirty="0">
                <a:solidFill>
                  <a:srgbClr val="1E2430"/>
                </a:solidFill>
                <a:latin typeface="Arial" pitchFamily="34" charset="0"/>
                <a:ea typeface="Arial" pitchFamily="34" charset="-122"/>
                <a:cs typeface="Arial" pitchFamily="34" charset="-120"/>
              </a:rPr>
              <a:t> Every platform has a list of third-party apps you signed into with it. Remove the ones you don't recognize.</a:t>
            </a:r>
            <a:endParaRPr lang="en-US" sz="1400" dirty="0"/>
          </a:p>
        </p:txBody>
      </p:sp>
      <p:sp>
        <p:nvSpPr>
          <p:cNvPr id="10" name="Shape 8"/>
          <p:cNvSpPr/>
          <p:nvPr/>
        </p:nvSpPr>
        <p:spPr>
          <a:xfrm>
            <a:off x="6609507" y="2672606"/>
            <a:ext cx="4766469" cy="859730"/>
          </a:xfrm>
          <a:prstGeom prst="roundRect">
            <a:avLst>
              <a:gd name="adj" fmla="val 9971"/>
            </a:avLst>
          </a:prstGeom>
          <a:solidFill>
            <a:srgbClr val="FBFAF7"/>
          </a:solidFill>
          <a:ln w="6350">
            <a:solidFill>
              <a:srgbClr val="DCD8CF"/>
            </a:solidFill>
            <a:prstDash val="solid"/>
          </a:ln>
        </p:spPr>
      </p:sp>
      <p:sp>
        <p:nvSpPr>
          <p:cNvPr id="11" name="Text 9"/>
          <p:cNvSpPr/>
          <p:nvPr/>
        </p:nvSpPr>
        <p:spPr>
          <a:xfrm>
            <a:off x="6815882" y="2853581"/>
            <a:ext cx="4484330" cy="52318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E2430"/>
                </a:solidFill>
                <a:latin typeface="Arial" pitchFamily="34" charset="0"/>
                <a:ea typeface="Arial" pitchFamily="34" charset="-122"/>
                <a:cs typeface="Arial" pitchFamily="34" charset="-120"/>
              </a:rPr>
              <a:t>Turn off location on photos.</a:t>
            </a:r>
            <a:r>
              <a:rPr lang="en-US" sz="1400" dirty="0">
                <a:solidFill>
                  <a:srgbClr val="1E2430"/>
                </a:solidFill>
                <a:latin typeface="Arial" pitchFamily="34" charset="0"/>
                <a:ea typeface="Arial" pitchFamily="34" charset="-122"/>
                <a:cs typeface="Arial" pitchFamily="34" charset="-120"/>
              </a:rPr>
              <a:t> Instagram and your camera app can attach where a picture was taken.</a:t>
            </a:r>
            <a:endParaRPr lang="en-US" sz="1400" dirty="0"/>
          </a:p>
        </p:txBody>
      </p:sp>
      <p:sp>
        <p:nvSpPr>
          <p:cNvPr id="12" name="Shape 10"/>
          <p:cNvSpPr/>
          <p:nvPr/>
        </p:nvSpPr>
        <p:spPr>
          <a:xfrm>
            <a:off x="6609507" y="3652986"/>
            <a:ext cx="4766469" cy="859730"/>
          </a:xfrm>
          <a:prstGeom prst="roundRect">
            <a:avLst>
              <a:gd name="adj" fmla="val 9971"/>
            </a:avLst>
          </a:prstGeom>
          <a:solidFill>
            <a:srgbClr val="FBFAF7"/>
          </a:solidFill>
          <a:ln w="6350">
            <a:solidFill>
              <a:srgbClr val="DCD8CF"/>
            </a:solidFill>
            <a:prstDash val="solid"/>
          </a:ln>
        </p:spPr>
      </p:sp>
      <p:sp>
        <p:nvSpPr>
          <p:cNvPr id="13" name="Text 11"/>
          <p:cNvSpPr/>
          <p:nvPr/>
        </p:nvSpPr>
        <p:spPr>
          <a:xfrm>
            <a:off x="6815882" y="3833961"/>
            <a:ext cx="4484330" cy="52318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E2430"/>
                </a:solidFill>
                <a:latin typeface="Arial" pitchFamily="34" charset="0"/>
                <a:ea typeface="Arial" pitchFamily="34" charset="-122"/>
                <a:cs typeface="Arial" pitchFamily="34" charset="-120"/>
              </a:rPr>
              <a:t>Snaps and stories are not temporary.</a:t>
            </a:r>
            <a:r>
              <a:rPr lang="en-US" sz="1400" dirty="0">
                <a:solidFill>
                  <a:srgbClr val="1E2430"/>
                </a:solidFill>
                <a:latin typeface="Arial" pitchFamily="34" charset="0"/>
                <a:ea typeface="Arial" pitchFamily="34" charset="-122"/>
                <a:cs typeface="Arial" pitchFamily="34" charset="-120"/>
              </a:rPr>
              <a:t> Anything shown on a screen can be captured.</a:t>
            </a:r>
            <a:endParaRPr lang="en-US" sz="1400" dirty="0"/>
          </a:p>
        </p:txBody>
      </p:sp>
      <p:sp>
        <p:nvSpPr>
          <p:cNvPr id="14" name="Shape 12"/>
          <p:cNvSpPr/>
          <p:nvPr/>
        </p:nvSpPr>
        <p:spPr>
          <a:xfrm>
            <a:off x="6609507" y="4633367"/>
            <a:ext cx="4766469" cy="859730"/>
          </a:xfrm>
          <a:prstGeom prst="roundRect">
            <a:avLst>
              <a:gd name="adj" fmla="val 9971"/>
            </a:avLst>
          </a:prstGeom>
          <a:solidFill>
            <a:srgbClr val="F6E7D8"/>
          </a:solidFill>
          <a:ln w="6350">
            <a:solidFill>
              <a:srgbClr val="DCD8CF"/>
            </a:solidFill>
            <a:prstDash val="solid"/>
          </a:ln>
        </p:spPr>
      </p:sp>
      <p:sp>
        <p:nvSpPr>
          <p:cNvPr id="15" name="Text 13"/>
          <p:cNvSpPr/>
          <p:nvPr/>
        </p:nvSpPr>
        <p:spPr>
          <a:xfrm>
            <a:off x="6815882" y="4814342"/>
            <a:ext cx="4484330" cy="52318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E2430"/>
                </a:solidFill>
                <a:latin typeface="Arial" pitchFamily="34" charset="0"/>
                <a:ea typeface="Arial" pitchFamily="34" charset="-122"/>
                <a:cs typeface="Arial" pitchFamily="34" charset="-120"/>
              </a:rPr>
              <a:t>No privacy setting is absolute.</a:t>
            </a:r>
            <a:r>
              <a:rPr lang="en-US" sz="1400" dirty="0">
                <a:solidFill>
                  <a:srgbClr val="1E2430"/>
                </a:solidFill>
                <a:latin typeface="Arial" pitchFamily="34" charset="0"/>
                <a:ea typeface="Arial" pitchFamily="34" charset="-122"/>
                <a:cs typeface="Arial" pitchFamily="34" charset="-120"/>
              </a:rPr>
              <a:t> Private means "harder to reach", not "unreachable".</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3EF"/>
        </a:solidFill>
      </p:bgPr>
    </p:bg>
    <p:spTree>
      <p:nvGrpSpPr>
        <p:cNvPr id="1" name=""/>
        <p:cNvGrpSpPr/>
        <p:nvPr/>
      </p:nvGrpSpPr>
      <p:grpSpPr>
        <a:xfrm>
          <a:off x="0" y="0"/>
          <a:ext cx="0" cy="0"/>
          <a:chOff x="0" y="0"/>
          <a:chExt cx="0" cy="0"/>
        </a:xfrm>
      </p:grpSpPr>
      <p:sp>
        <p:nvSpPr>
          <p:cNvPr id="2" name="Text 0"/>
          <p:cNvSpPr/>
          <p:nvPr/>
        </p:nvSpPr>
        <p:spPr>
          <a:xfrm>
            <a:off x="812800" y="711200"/>
            <a:ext cx="10883392" cy="500360"/>
          </a:xfrm>
          <a:prstGeom prst="rect">
            <a:avLst/>
          </a:prstGeom>
          <a:noFill/>
          <a:ln/>
        </p:spPr>
        <p:txBody>
          <a:bodyPr wrap="square" lIns="0" tIns="0" rIns="0" bIns="0" rtlCol="0" anchor="t">
            <a:normAutofit/>
          </a:bodyPr>
          <a:lstStyle/>
          <a:p>
            <a:pPr algn="l" indent="0" marL="0">
              <a:lnSpc>
                <a:spcPts val="3740"/>
              </a:lnSpc>
              <a:buNone/>
            </a:pPr>
            <a:r>
              <a:rPr lang="en-US" sz="3400" b="1" dirty="0">
                <a:solidFill>
                  <a:srgbClr val="1E2430"/>
                </a:solidFill>
                <a:latin typeface="Arial" pitchFamily="34" charset="0"/>
                <a:ea typeface="Arial" pitchFamily="34" charset="-122"/>
                <a:cs typeface="Arial" pitchFamily="34" charset="-120"/>
              </a:rPr>
              <a:t>Your feed is edited, and some of it is invented</a:t>
            </a:r>
            <a:endParaRPr lang="en-US" sz="3400" dirty="0"/>
          </a:p>
        </p:txBody>
      </p:sp>
      <p:sp>
        <p:nvSpPr>
          <p:cNvPr id="3" name="Shape 1"/>
          <p:cNvSpPr/>
          <p:nvPr/>
        </p:nvSpPr>
        <p:spPr>
          <a:xfrm>
            <a:off x="815975" y="1443335"/>
            <a:ext cx="5124450" cy="2307382"/>
          </a:xfrm>
          <a:prstGeom prst="roundRect">
            <a:avLst>
              <a:gd name="adj" fmla="val 3715"/>
            </a:avLst>
          </a:prstGeom>
          <a:solidFill>
            <a:srgbClr val="FBFAF7"/>
          </a:solidFill>
          <a:ln w="6350">
            <a:solidFill>
              <a:srgbClr val="DCD8CF"/>
            </a:solidFill>
            <a:prstDash val="solid"/>
          </a:ln>
        </p:spPr>
      </p:sp>
      <p:sp>
        <p:nvSpPr>
          <p:cNvPr id="4" name="Text 2"/>
          <p:cNvSpPr/>
          <p:nvPr/>
        </p:nvSpPr>
        <p:spPr>
          <a:xfrm>
            <a:off x="1022350" y="1624310"/>
            <a:ext cx="4853051"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E2430"/>
                </a:solidFill>
                <a:latin typeface="Arial" pitchFamily="34" charset="0"/>
                <a:ea typeface="Arial" pitchFamily="34" charset="-122"/>
                <a:cs typeface="Arial" pitchFamily="34" charset="-120"/>
              </a:rPr>
              <a:t>Deepfakes</a:t>
            </a:r>
            <a:endParaRPr lang="en-US" sz="1800" dirty="0"/>
          </a:p>
        </p:txBody>
      </p:sp>
      <p:sp>
        <p:nvSpPr>
          <p:cNvPr id="5" name="Text 3"/>
          <p:cNvSpPr/>
          <p:nvPr/>
        </p:nvSpPr>
        <p:spPr>
          <a:xfrm>
            <a:off x="1022350" y="1987500"/>
            <a:ext cx="4853051" cy="77207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E2430"/>
                </a:solidFill>
                <a:latin typeface="Arial" pitchFamily="34" charset="0"/>
                <a:ea typeface="Arial" pitchFamily="34" charset="-122"/>
                <a:cs typeface="Arial" pitchFamily="34" charset="-120"/>
              </a:rPr>
              <a:t>AI systems train two networks against each other until the fake face, voice, or scene fools the detector. Cheap apps now do it in minutes.</a:t>
            </a:r>
            <a:endParaRPr lang="en-US" sz="1400" dirty="0"/>
          </a:p>
        </p:txBody>
      </p:sp>
      <p:sp>
        <p:nvSpPr>
          <p:cNvPr id="6" name="Text 4"/>
          <p:cNvSpPr/>
          <p:nvPr/>
        </p:nvSpPr>
        <p:spPr>
          <a:xfrm>
            <a:off x="1022350" y="2823071"/>
            <a:ext cx="4853051" cy="77207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E2430"/>
                </a:solidFill>
                <a:latin typeface="Arial" pitchFamily="34" charset="0"/>
                <a:ea typeface="Arial" pitchFamily="34" charset="-122"/>
                <a:cs typeface="Arial" pitchFamily="34" charset="-120"/>
              </a:rPr>
              <a:t>Watch for:</a:t>
            </a:r>
            <a:r>
              <a:rPr lang="en-US" sz="1400" dirty="0">
                <a:solidFill>
                  <a:srgbClr val="1E2430"/>
                </a:solidFill>
                <a:latin typeface="Arial" pitchFamily="34" charset="0"/>
                <a:ea typeface="Arial" pitchFamily="34" charset="-122"/>
                <a:cs typeface="Arial" pitchFamily="34" charset="-120"/>
              </a:rPr>
              <a:t> odd blinking or facial movement, skin and hair that look too smooth, lips slightly out of sync, and a claim no reliable outlet is reporting.</a:t>
            </a:r>
            <a:endParaRPr lang="en-US" sz="1400" dirty="0"/>
          </a:p>
        </p:txBody>
      </p:sp>
      <p:sp>
        <p:nvSpPr>
          <p:cNvPr id="7" name="Shape 5"/>
          <p:cNvSpPr/>
          <p:nvPr/>
        </p:nvSpPr>
        <p:spPr>
          <a:xfrm>
            <a:off x="6251575" y="1443335"/>
            <a:ext cx="5124450" cy="1809601"/>
          </a:xfrm>
          <a:prstGeom prst="roundRect">
            <a:avLst>
              <a:gd name="adj" fmla="val 4737"/>
            </a:avLst>
          </a:prstGeom>
          <a:solidFill>
            <a:srgbClr val="FBFAF7"/>
          </a:solidFill>
          <a:ln w="6350">
            <a:solidFill>
              <a:srgbClr val="DCD8CF"/>
            </a:solidFill>
            <a:prstDash val="solid"/>
          </a:ln>
        </p:spPr>
      </p:sp>
      <p:sp>
        <p:nvSpPr>
          <p:cNvPr id="8" name="Text 6"/>
          <p:cNvSpPr/>
          <p:nvPr/>
        </p:nvSpPr>
        <p:spPr>
          <a:xfrm>
            <a:off x="6457950" y="1624310"/>
            <a:ext cx="4853051"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E2430"/>
                </a:solidFill>
                <a:latin typeface="Arial" pitchFamily="34" charset="0"/>
                <a:ea typeface="Arial" pitchFamily="34" charset="-122"/>
                <a:cs typeface="Arial" pitchFamily="34" charset="-120"/>
              </a:rPr>
              <a:t>Informed consumption</a:t>
            </a:r>
            <a:endParaRPr lang="en-US" sz="1800" dirty="0"/>
          </a:p>
        </p:txBody>
      </p:sp>
      <p:sp>
        <p:nvSpPr>
          <p:cNvPr id="9" name="Text 7"/>
          <p:cNvSpPr/>
          <p:nvPr/>
        </p:nvSpPr>
        <p:spPr>
          <a:xfrm>
            <a:off x="6457950" y="1987500"/>
            <a:ext cx="4853051"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E2430"/>
                </a:solidFill>
                <a:latin typeface="Arial" pitchFamily="34" charset="0"/>
                <a:ea typeface="Arial" pitchFamily="34" charset="-122"/>
                <a:cs typeface="Arial" pitchFamily="34" charset="-120"/>
              </a:rPr>
              <a:t>Feeds are ranked by an algorithm tuned to keep you watching, not to give you a balanced picture.</a:t>
            </a:r>
            <a:endParaRPr lang="en-US" sz="1400" dirty="0"/>
          </a:p>
        </p:txBody>
      </p:sp>
      <p:sp>
        <p:nvSpPr>
          <p:cNvPr id="10" name="Text 8"/>
          <p:cNvSpPr/>
          <p:nvPr/>
        </p:nvSpPr>
        <p:spPr>
          <a:xfrm>
            <a:off x="6457950" y="2574181"/>
            <a:ext cx="4853051"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E2430"/>
                </a:solidFill>
                <a:latin typeface="Arial" pitchFamily="34" charset="0"/>
                <a:ea typeface="Arial" pitchFamily="34" charset="-122"/>
                <a:cs typeface="Arial" pitchFamily="34" charset="-120"/>
              </a:rPr>
              <a:t>Emotionally charged posts travel furthest, so the angriest version of a story is the one you see.</a:t>
            </a:r>
            <a:endParaRPr lang="en-US" sz="1400" dirty="0"/>
          </a:p>
        </p:txBody>
      </p:sp>
      <p:sp>
        <p:nvSpPr>
          <p:cNvPr id="11" name="Shape 9"/>
          <p:cNvSpPr/>
          <p:nvPr/>
        </p:nvSpPr>
        <p:spPr>
          <a:xfrm>
            <a:off x="6251575" y="3386286"/>
            <a:ext cx="5124450" cy="895350"/>
          </a:xfrm>
          <a:prstGeom prst="roundRect">
            <a:avLst>
              <a:gd name="adj" fmla="val 9574"/>
            </a:avLst>
          </a:prstGeom>
          <a:solidFill>
            <a:srgbClr val="F6E7D8"/>
          </a:solidFill>
          <a:ln w="6350">
            <a:solidFill>
              <a:srgbClr val="DCD8CF"/>
            </a:solidFill>
            <a:prstDash val="solid"/>
          </a:ln>
        </p:spPr>
      </p:sp>
      <p:sp>
        <p:nvSpPr>
          <p:cNvPr id="12" name="Text 10"/>
          <p:cNvSpPr/>
          <p:nvPr/>
        </p:nvSpPr>
        <p:spPr>
          <a:xfrm>
            <a:off x="6457950" y="3567261"/>
            <a:ext cx="4853051" cy="5588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E2430"/>
                </a:solidFill>
                <a:latin typeface="Arial" pitchFamily="34" charset="0"/>
                <a:ea typeface="Arial" pitchFamily="34" charset="-122"/>
                <a:cs typeface="Arial" pitchFamily="34" charset="-120"/>
              </a:rPr>
              <a:t>Before you share:</a:t>
            </a:r>
            <a:r>
              <a:rPr lang="en-US" sz="1500" dirty="0">
                <a:solidFill>
                  <a:srgbClr val="1E2430"/>
                </a:solidFill>
                <a:latin typeface="Arial" pitchFamily="34" charset="0"/>
                <a:ea typeface="Arial" pitchFamily="34" charset="-122"/>
                <a:cs typeface="Arial" pitchFamily="34" charset="-120"/>
              </a:rPr>
              <a:t> who posted this, what is the source, and is anyone else reporting it?</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F3EF"/>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5453A"/>
                </a:solidFill>
                <a:latin typeface="Arial" pitchFamily="34" charset="0"/>
                <a:ea typeface="Arial" pitchFamily="34" charset="-122"/>
                <a:cs typeface="Arial" pitchFamily="34" charset="-120"/>
              </a:rPr>
              <a:t>THINGS YOU CANNOT UNDO</a:t>
            </a:r>
            <a:endParaRPr lang="en-US" sz="1200" dirty="0"/>
          </a:p>
        </p:txBody>
      </p:sp>
      <p:sp>
        <p:nvSpPr>
          <p:cNvPr id="3" name="Text 1"/>
          <p:cNvSpPr/>
          <p:nvPr/>
        </p:nvSpPr>
        <p:spPr>
          <a:xfrm>
            <a:off x="812800" y="1000720"/>
            <a:ext cx="10883392" cy="500360"/>
          </a:xfrm>
          <a:prstGeom prst="rect">
            <a:avLst/>
          </a:prstGeom>
          <a:noFill/>
          <a:ln/>
        </p:spPr>
        <p:txBody>
          <a:bodyPr wrap="square" lIns="0" tIns="0" rIns="0" bIns="0" rtlCol="0" anchor="t">
            <a:normAutofit/>
          </a:bodyPr>
          <a:lstStyle/>
          <a:p>
            <a:pPr algn="l" indent="0" marL="0">
              <a:lnSpc>
                <a:spcPts val="3740"/>
              </a:lnSpc>
              <a:buNone/>
            </a:pPr>
            <a:r>
              <a:rPr lang="en-US" sz="3400" b="1" dirty="0">
                <a:solidFill>
                  <a:srgbClr val="1E2430"/>
                </a:solidFill>
                <a:latin typeface="Arial" pitchFamily="34" charset="0"/>
                <a:ea typeface="Arial" pitchFamily="34" charset="-122"/>
                <a:cs typeface="Arial" pitchFamily="34" charset="-120"/>
              </a:rPr>
              <a:t>One-way doors</a:t>
            </a:r>
            <a:endParaRPr lang="en-US" sz="3400" dirty="0"/>
          </a:p>
        </p:txBody>
      </p:sp>
      <p:sp>
        <p:nvSpPr>
          <p:cNvPr id="4" name="Shape 2"/>
          <p:cNvSpPr/>
          <p:nvPr/>
        </p:nvSpPr>
        <p:spPr>
          <a:xfrm>
            <a:off x="815975" y="1732855"/>
            <a:ext cx="3414167" cy="2805162"/>
          </a:xfrm>
          <a:prstGeom prst="roundRect">
            <a:avLst>
              <a:gd name="adj" fmla="val 3056"/>
            </a:avLst>
          </a:prstGeom>
          <a:solidFill>
            <a:srgbClr val="FBFAF7"/>
          </a:solidFill>
          <a:ln w="6350">
            <a:solidFill>
              <a:srgbClr val="DCD8CF"/>
            </a:solidFill>
            <a:prstDash val="solid"/>
          </a:ln>
        </p:spPr>
      </p:sp>
      <p:sp>
        <p:nvSpPr>
          <p:cNvPr id="5" name="Text 3"/>
          <p:cNvSpPr/>
          <p:nvPr/>
        </p:nvSpPr>
        <p:spPr>
          <a:xfrm>
            <a:off x="1022350" y="1913830"/>
            <a:ext cx="3091459"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B5453A"/>
                </a:solidFill>
                <a:latin typeface="Arial" pitchFamily="34" charset="0"/>
                <a:ea typeface="Arial" pitchFamily="34" charset="-122"/>
                <a:cs typeface="Arial" pitchFamily="34" charset="-120"/>
              </a:rPr>
              <a:t>DNA testing</a:t>
            </a:r>
            <a:endParaRPr lang="en-US" sz="1800" dirty="0"/>
          </a:p>
        </p:txBody>
      </p:sp>
      <p:sp>
        <p:nvSpPr>
          <p:cNvPr id="6" name="Text 4"/>
          <p:cNvSpPr/>
          <p:nvPr/>
        </p:nvSpPr>
        <p:spPr>
          <a:xfrm>
            <a:off x="1022350" y="2277021"/>
            <a:ext cx="3091459"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E2430"/>
                </a:solidFill>
                <a:latin typeface="Arial" pitchFamily="34" charset="0"/>
                <a:ea typeface="Arial" pitchFamily="34" charset="-122"/>
                <a:cs typeface="Arial" pitchFamily="34" charset="-120"/>
              </a:rPr>
              <a:t>Genealogy tests are not covered by HIPAA the way a doctor's records are.</a:t>
            </a:r>
            <a:endParaRPr lang="en-US" sz="1400" dirty="0"/>
          </a:p>
        </p:txBody>
      </p:sp>
      <p:sp>
        <p:nvSpPr>
          <p:cNvPr id="7" name="Text 5"/>
          <p:cNvSpPr/>
          <p:nvPr/>
        </p:nvSpPr>
        <p:spPr>
          <a:xfrm>
            <a:off x="1022350" y="2863701"/>
            <a:ext cx="3091459" cy="126985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E2430"/>
                </a:solidFill>
                <a:latin typeface="Arial" pitchFamily="34" charset="0"/>
                <a:ea typeface="Arial" pitchFamily="34" charset="-122"/>
                <a:cs typeface="Arial" pitchFamily="34" charset="-120"/>
              </a:rPr>
              <a:t>Results get uploaded to third-party databases, shared with research partners, and searched by law enforcement. Once shared, it is effectively impossible to withdraw.</a:t>
            </a:r>
            <a:endParaRPr lang="en-US" sz="1400" dirty="0"/>
          </a:p>
        </p:txBody>
      </p:sp>
      <p:sp>
        <p:nvSpPr>
          <p:cNvPr id="8" name="Shape 6"/>
          <p:cNvSpPr/>
          <p:nvPr/>
        </p:nvSpPr>
        <p:spPr>
          <a:xfrm>
            <a:off x="4388892" y="1732855"/>
            <a:ext cx="3414167" cy="2805162"/>
          </a:xfrm>
          <a:prstGeom prst="roundRect">
            <a:avLst>
              <a:gd name="adj" fmla="val 3056"/>
            </a:avLst>
          </a:prstGeom>
          <a:solidFill>
            <a:srgbClr val="FBFAF7"/>
          </a:solidFill>
          <a:ln w="6350">
            <a:solidFill>
              <a:srgbClr val="DCD8CF"/>
            </a:solidFill>
            <a:prstDash val="solid"/>
          </a:ln>
        </p:spPr>
      </p:sp>
      <p:sp>
        <p:nvSpPr>
          <p:cNvPr id="9" name="Text 7"/>
          <p:cNvSpPr/>
          <p:nvPr/>
        </p:nvSpPr>
        <p:spPr>
          <a:xfrm>
            <a:off x="4595267" y="1913830"/>
            <a:ext cx="3091459"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B5453A"/>
                </a:solidFill>
                <a:latin typeface="Arial" pitchFamily="34" charset="0"/>
                <a:ea typeface="Arial" pitchFamily="34" charset="-122"/>
                <a:cs typeface="Arial" pitchFamily="34" charset="-120"/>
              </a:rPr>
              <a:t>Peer-to-peer payments</a:t>
            </a:r>
            <a:endParaRPr lang="en-US" sz="1800" dirty="0"/>
          </a:p>
        </p:txBody>
      </p:sp>
      <p:sp>
        <p:nvSpPr>
          <p:cNvPr id="10" name="Text 8"/>
          <p:cNvSpPr/>
          <p:nvPr/>
        </p:nvSpPr>
        <p:spPr>
          <a:xfrm>
            <a:off x="4595267" y="2277021"/>
            <a:ext cx="3091459" cy="126985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E2430"/>
                </a:solidFill>
                <a:latin typeface="Arial" pitchFamily="34" charset="0"/>
                <a:ea typeface="Arial" pitchFamily="34" charset="-122"/>
                <a:cs typeface="Arial" pitchFamily="34" charset="-120"/>
              </a:rPr>
              <a:t>Venmo, Zelle, and Cash App move money instantly, and a payment to the wrong person is usually gone. Balances in these apps are not insured the way a bank deposit is.</a:t>
            </a:r>
            <a:endParaRPr lang="en-US" sz="1400" dirty="0"/>
          </a:p>
        </p:txBody>
      </p:sp>
      <p:sp>
        <p:nvSpPr>
          <p:cNvPr id="11" name="Text 9"/>
          <p:cNvSpPr/>
          <p:nvPr/>
        </p:nvSpPr>
        <p:spPr>
          <a:xfrm>
            <a:off x="4595267" y="3610372"/>
            <a:ext cx="3091459"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E2430"/>
                </a:solidFill>
                <a:latin typeface="Arial" pitchFamily="34" charset="0"/>
                <a:ea typeface="Arial" pitchFamily="34" charset="-122"/>
                <a:cs typeface="Arial" pitchFamily="34" charset="-120"/>
              </a:rPr>
              <a:t>Send money only to people you know. Scammers rely on the speed.</a:t>
            </a:r>
            <a:endParaRPr lang="en-US" sz="1400" dirty="0"/>
          </a:p>
        </p:txBody>
      </p:sp>
      <p:sp>
        <p:nvSpPr>
          <p:cNvPr id="12" name="Shape 10"/>
          <p:cNvSpPr/>
          <p:nvPr/>
        </p:nvSpPr>
        <p:spPr>
          <a:xfrm>
            <a:off x="7961809" y="1732855"/>
            <a:ext cx="3414216" cy="2805162"/>
          </a:xfrm>
          <a:prstGeom prst="roundRect">
            <a:avLst>
              <a:gd name="adj" fmla="val 3056"/>
            </a:avLst>
          </a:prstGeom>
          <a:solidFill>
            <a:srgbClr val="FBFAF7"/>
          </a:solidFill>
          <a:ln w="6350">
            <a:solidFill>
              <a:srgbClr val="DCD8CF"/>
            </a:solidFill>
            <a:prstDash val="solid"/>
          </a:ln>
        </p:spPr>
      </p:sp>
      <p:sp>
        <p:nvSpPr>
          <p:cNvPr id="13" name="Text 11"/>
          <p:cNvSpPr/>
          <p:nvPr/>
        </p:nvSpPr>
        <p:spPr>
          <a:xfrm>
            <a:off x="8168184" y="1913830"/>
            <a:ext cx="3091510"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E2430"/>
                </a:solidFill>
                <a:latin typeface="Arial" pitchFamily="34" charset="0"/>
                <a:ea typeface="Arial" pitchFamily="34" charset="-122"/>
                <a:cs typeface="Arial" pitchFamily="34" charset="-120"/>
              </a:rPr>
              <a:t>A VPN helps with one thing</a:t>
            </a:r>
            <a:endParaRPr lang="en-US" sz="1800" dirty="0"/>
          </a:p>
        </p:txBody>
      </p:sp>
      <p:sp>
        <p:nvSpPr>
          <p:cNvPr id="14" name="Text 12"/>
          <p:cNvSpPr/>
          <p:nvPr/>
        </p:nvSpPr>
        <p:spPr>
          <a:xfrm>
            <a:off x="8168184" y="2277021"/>
            <a:ext cx="3091510" cy="102096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E2430"/>
                </a:solidFill>
                <a:latin typeface="Arial" pitchFamily="34" charset="0"/>
                <a:ea typeface="Arial" pitchFamily="34" charset="-122"/>
                <a:cs typeface="Arial" pitchFamily="34" charset="-120"/>
              </a:rPr>
              <a:t>It encrypts the traffic between your device and the VPN, and hides your real address from the sites you visit. Useful on public Wi-Fi.</a:t>
            </a:r>
            <a:endParaRPr lang="en-US" sz="1400" dirty="0"/>
          </a:p>
        </p:txBody>
      </p:sp>
      <p:sp>
        <p:nvSpPr>
          <p:cNvPr id="15" name="Text 13"/>
          <p:cNvSpPr/>
          <p:nvPr/>
        </p:nvSpPr>
        <p:spPr>
          <a:xfrm>
            <a:off x="8168184" y="3361482"/>
            <a:ext cx="3091510" cy="102096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E2430"/>
                </a:solidFill>
                <a:latin typeface="Arial" pitchFamily="34" charset="0"/>
                <a:ea typeface="Arial" pitchFamily="34" charset="-122"/>
                <a:cs typeface="Arial" pitchFamily="34" charset="-120"/>
              </a:rPr>
              <a:t>It does not make you anonymous. You are still signed in to your accounts, and the VPN company can see your traffic.</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4F3EF"/>
        </a:solidFill>
      </p:bgPr>
    </p:bg>
    <p:spTree>
      <p:nvGrpSpPr>
        <p:cNvPr id="1" name=""/>
        <p:cNvGrpSpPr/>
        <p:nvPr/>
      </p:nvGrpSpPr>
      <p:grpSpPr>
        <a:xfrm>
          <a:off x="0" y="0"/>
          <a:ext cx="0" cy="0"/>
          <a:chOff x="0" y="0"/>
          <a:chExt cx="0" cy="0"/>
        </a:xfrm>
      </p:grpSpPr>
      <p:sp>
        <p:nvSpPr>
          <p:cNvPr id="2" name="Text 0"/>
          <p:cNvSpPr/>
          <p:nvPr/>
        </p:nvSpPr>
        <p:spPr>
          <a:xfrm>
            <a:off x="812800" y="711200"/>
            <a:ext cx="10883392" cy="500360"/>
          </a:xfrm>
          <a:prstGeom prst="rect">
            <a:avLst/>
          </a:prstGeom>
          <a:noFill/>
          <a:ln/>
        </p:spPr>
        <p:txBody>
          <a:bodyPr wrap="square" lIns="0" tIns="0" rIns="0" bIns="0" rtlCol="0" anchor="t">
            <a:normAutofit/>
          </a:bodyPr>
          <a:lstStyle/>
          <a:p>
            <a:pPr algn="l" indent="0" marL="0">
              <a:lnSpc>
                <a:spcPts val="3740"/>
              </a:lnSpc>
              <a:buNone/>
            </a:pPr>
            <a:r>
              <a:rPr lang="en-US" sz="3400" b="1" dirty="0">
                <a:solidFill>
                  <a:srgbClr val="1E2430"/>
                </a:solidFill>
                <a:latin typeface="Arial" pitchFamily="34" charset="0"/>
                <a:ea typeface="Arial" pitchFamily="34" charset="-122"/>
                <a:cs typeface="Arial" pitchFamily="34" charset="-120"/>
              </a:rPr>
              <a:t>Paying online: use the card with better rules</a:t>
            </a:r>
            <a:endParaRPr lang="en-US" sz="3400" dirty="0"/>
          </a:p>
        </p:txBody>
      </p:sp>
      <p:sp>
        <p:nvSpPr>
          <p:cNvPr id="3" name="Shape 1"/>
          <p:cNvSpPr/>
          <p:nvPr/>
        </p:nvSpPr>
        <p:spPr>
          <a:xfrm>
            <a:off x="815975" y="1443335"/>
            <a:ext cx="2540000" cy="2741662"/>
          </a:xfrm>
          <a:prstGeom prst="roundRect">
            <a:avLst>
              <a:gd name="adj" fmla="val 3375"/>
            </a:avLst>
          </a:prstGeom>
          <a:solidFill>
            <a:srgbClr val="FBFAF7"/>
          </a:solidFill>
          <a:ln w="6350">
            <a:solidFill>
              <a:srgbClr val="DCD8CF"/>
            </a:solidFill>
            <a:prstDash val="solid"/>
          </a:ln>
        </p:spPr>
      </p:sp>
      <p:sp>
        <p:nvSpPr>
          <p:cNvPr id="4" name="Text 2"/>
          <p:cNvSpPr/>
          <p:nvPr/>
        </p:nvSpPr>
        <p:spPr>
          <a:xfrm>
            <a:off x="1022350" y="1624310"/>
            <a:ext cx="2191068"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B5453A"/>
                </a:solidFill>
                <a:latin typeface="Arial" pitchFamily="34" charset="0"/>
                <a:ea typeface="Arial" pitchFamily="34" charset="-122"/>
                <a:cs typeface="Arial" pitchFamily="34" charset="-120"/>
              </a:rPr>
              <a:t>Debit</a:t>
            </a:r>
            <a:endParaRPr lang="en-US" sz="1800" dirty="0"/>
          </a:p>
        </p:txBody>
      </p:sp>
      <p:sp>
        <p:nvSpPr>
          <p:cNvPr id="5" name="Text 3"/>
          <p:cNvSpPr/>
          <p:nvPr/>
        </p:nvSpPr>
        <p:spPr>
          <a:xfrm>
            <a:off x="1022350" y="1987500"/>
            <a:ext cx="2191068" cy="176763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E2430"/>
                </a:solidFill>
                <a:latin typeface="Arial" pitchFamily="34" charset="0"/>
                <a:ea typeface="Arial" pitchFamily="34" charset="-122"/>
                <a:cs typeface="Arial" pitchFamily="34" charset="-120"/>
              </a:rPr>
              <a:t>Fraud takes money out of your account immediately. You may be without it for up to 10 days, and your liability can run from $50 to $500 depending on how fast you report it.</a:t>
            </a:r>
            <a:endParaRPr lang="en-US" sz="1400" dirty="0"/>
          </a:p>
        </p:txBody>
      </p:sp>
      <p:sp>
        <p:nvSpPr>
          <p:cNvPr id="6" name="Shape 4"/>
          <p:cNvSpPr/>
          <p:nvPr/>
        </p:nvSpPr>
        <p:spPr>
          <a:xfrm>
            <a:off x="3489325" y="1443335"/>
            <a:ext cx="2540000" cy="2741662"/>
          </a:xfrm>
          <a:prstGeom prst="roundRect">
            <a:avLst>
              <a:gd name="adj" fmla="val 3375"/>
            </a:avLst>
          </a:prstGeom>
          <a:solidFill>
            <a:srgbClr val="FBFAF7"/>
          </a:solidFill>
          <a:ln w="6350">
            <a:solidFill>
              <a:srgbClr val="DCD8CF"/>
            </a:solidFill>
            <a:prstDash val="solid"/>
          </a:ln>
        </p:spPr>
      </p:sp>
      <p:sp>
        <p:nvSpPr>
          <p:cNvPr id="7" name="Text 5"/>
          <p:cNvSpPr/>
          <p:nvPr/>
        </p:nvSpPr>
        <p:spPr>
          <a:xfrm>
            <a:off x="3695700" y="1624310"/>
            <a:ext cx="2191068"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E2430"/>
                </a:solidFill>
                <a:latin typeface="Arial" pitchFamily="34" charset="0"/>
                <a:ea typeface="Arial" pitchFamily="34" charset="-122"/>
                <a:cs typeface="Arial" pitchFamily="34" charset="-120"/>
              </a:rPr>
              <a:t>Credit</a:t>
            </a:r>
            <a:endParaRPr lang="en-US" sz="1800" dirty="0"/>
          </a:p>
        </p:txBody>
      </p:sp>
      <p:sp>
        <p:nvSpPr>
          <p:cNvPr id="8" name="Text 6"/>
          <p:cNvSpPr/>
          <p:nvPr/>
        </p:nvSpPr>
        <p:spPr>
          <a:xfrm>
            <a:off x="3695700" y="1987500"/>
            <a:ext cx="2191068" cy="126985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E2430"/>
                </a:solidFill>
                <a:latin typeface="Arial" pitchFamily="34" charset="0"/>
                <a:ea typeface="Arial" pitchFamily="34" charset="-122"/>
                <a:cs typeface="Arial" pitchFamily="34" charset="-120"/>
              </a:rPr>
              <a:t>Fraud is a charge you dispute before you pay it. Protections are stronger, which is why it is the safer card for online purchases.</a:t>
            </a:r>
            <a:endParaRPr lang="en-US" sz="1400" dirty="0"/>
          </a:p>
        </p:txBody>
      </p:sp>
      <p:sp>
        <p:nvSpPr>
          <p:cNvPr id="9" name="Shape 7"/>
          <p:cNvSpPr/>
          <p:nvPr/>
        </p:nvSpPr>
        <p:spPr>
          <a:xfrm>
            <a:off x="6162675" y="1443335"/>
            <a:ext cx="2540000" cy="2741662"/>
          </a:xfrm>
          <a:prstGeom prst="roundRect">
            <a:avLst>
              <a:gd name="adj" fmla="val 3375"/>
            </a:avLst>
          </a:prstGeom>
          <a:solidFill>
            <a:srgbClr val="FBFAF7"/>
          </a:solidFill>
          <a:ln w="6350">
            <a:solidFill>
              <a:srgbClr val="DCD8CF"/>
            </a:solidFill>
            <a:prstDash val="solid"/>
          </a:ln>
        </p:spPr>
      </p:sp>
      <p:sp>
        <p:nvSpPr>
          <p:cNvPr id="10" name="Text 8"/>
          <p:cNvSpPr/>
          <p:nvPr/>
        </p:nvSpPr>
        <p:spPr>
          <a:xfrm>
            <a:off x="6369050" y="1624310"/>
            <a:ext cx="2191068"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E2430"/>
                </a:solidFill>
                <a:latin typeface="Arial" pitchFamily="34" charset="0"/>
                <a:ea typeface="Arial" pitchFamily="34" charset="-122"/>
                <a:cs typeface="Arial" pitchFamily="34" charset="-120"/>
              </a:rPr>
              <a:t>PayPal and wallets</a:t>
            </a:r>
            <a:endParaRPr lang="en-US" sz="1800" dirty="0"/>
          </a:p>
        </p:txBody>
      </p:sp>
      <p:sp>
        <p:nvSpPr>
          <p:cNvPr id="11" name="Text 9"/>
          <p:cNvSpPr/>
          <p:nvPr/>
        </p:nvSpPr>
        <p:spPr>
          <a:xfrm>
            <a:off x="6369050" y="1987500"/>
            <a:ext cx="2191068" cy="15187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E2430"/>
                </a:solidFill>
                <a:latin typeface="Arial" pitchFamily="34" charset="0"/>
                <a:ea typeface="Arial" pitchFamily="34" charset="-122"/>
                <a:cs typeface="Arial" pitchFamily="34" charset="-120"/>
              </a:rPr>
              <a:t>An intermediary: the seller never sees your card number, and buyer protection covers eligible purchases that never arrive or arrive broken.</a:t>
            </a:r>
            <a:endParaRPr lang="en-US" sz="1400" dirty="0"/>
          </a:p>
        </p:txBody>
      </p:sp>
      <p:sp>
        <p:nvSpPr>
          <p:cNvPr id="12" name="Shape 10"/>
          <p:cNvSpPr/>
          <p:nvPr/>
        </p:nvSpPr>
        <p:spPr>
          <a:xfrm>
            <a:off x="8836025" y="1443335"/>
            <a:ext cx="2540000" cy="2741662"/>
          </a:xfrm>
          <a:prstGeom prst="roundRect">
            <a:avLst>
              <a:gd name="adj" fmla="val 3375"/>
            </a:avLst>
          </a:prstGeom>
          <a:solidFill>
            <a:srgbClr val="FBFAF7"/>
          </a:solidFill>
          <a:ln w="6350">
            <a:solidFill>
              <a:srgbClr val="DCD8CF"/>
            </a:solidFill>
            <a:prstDash val="solid"/>
          </a:ln>
        </p:spPr>
      </p:sp>
      <p:sp>
        <p:nvSpPr>
          <p:cNvPr id="13" name="Text 11"/>
          <p:cNvSpPr/>
          <p:nvPr/>
        </p:nvSpPr>
        <p:spPr>
          <a:xfrm>
            <a:off x="9042400" y="1624310"/>
            <a:ext cx="2191068" cy="57398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B5453A"/>
                </a:solidFill>
                <a:latin typeface="Arial" pitchFamily="34" charset="0"/>
                <a:ea typeface="Arial" pitchFamily="34" charset="-122"/>
                <a:cs typeface="Arial" pitchFamily="34" charset="-120"/>
              </a:rPr>
              <a:t>Venmo, Zelle, Cash App</a:t>
            </a:r>
            <a:endParaRPr lang="en-US" sz="1800" dirty="0"/>
          </a:p>
        </p:txBody>
      </p:sp>
      <p:sp>
        <p:nvSpPr>
          <p:cNvPr id="14" name="Text 12"/>
          <p:cNvSpPr/>
          <p:nvPr/>
        </p:nvSpPr>
        <p:spPr>
          <a:xfrm>
            <a:off x="9042400" y="2261791"/>
            <a:ext cx="2191068" cy="176763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E2430"/>
                </a:solidFill>
                <a:latin typeface="Arial" pitchFamily="34" charset="0"/>
                <a:ea typeface="Arial" pitchFamily="34" charset="-122"/>
                <a:cs typeface="Arial" pitchFamily="34" charset="-120"/>
              </a:rPr>
              <a:t>Instant and final. A payment sent to the wrong person is usually gone, and app balances are not insured like a bank deposit. Send only to people you know.</a:t>
            </a:r>
            <a:endParaRPr lang="en-US" sz="1400" dirty="0"/>
          </a:p>
        </p:txBody>
      </p:sp>
      <p:sp>
        <p:nvSpPr>
          <p:cNvPr id="15" name="Shape 13"/>
          <p:cNvSpPr/>
          <p:nvPr/>
        </p:nvSpPr>
        <p:spPr>
          <a:xfrm>
            <a:off x="815975" y="4445347"/>
            <a:ext cx="10560050" cy="1108621"/>
          </a:xfrm>
          <a:prstGeom prst="roundRect">
            <a:avLst>
              <a:gd name="adj" fmla="val 7733"/>
            </a:avLst>
          </a:prstGeom>
          <a:solidFill>
            <a:srgbClr val="E3ECEA"/>
          </a:solidFill>
          <a:ln w="6350">
            <a:solidFill>
              <a:srgbClr val="DCD8CF"/>
            </a:solidFill>
            <a:prstDash val="solid"/>
          </a:ln>
        </p:spPr>
      </p:sp>
      <p:sp>
        <p:nvSpPr>
          <p:cNvPr id="16" name="Text 14"/>
          <p:cNvSpPr/>
          <p:nvPr/>
        </p:nvSpPr>
        <p:spPr>
          <a:xfrm>
            <a:off x="1022350" y="4626322"/>
            <a:ext cx="10451719" cy="77207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E2430"/>
                </a:solidFill>
                <a:latin typeface="Arial" pitchFamily="34" charset="0"/>
                <a:ea typeface="Arial" pitchFamily="34" charset="-122"/>
                <a:cs typeface="Arial" pitchFamily="34" charset="-120"/>
              </a:rPr>
              <a:t>Tap-to-pay and RFID:</a:t>
            </a:r>
            <a:r>
              <a:rPr lang="en-US" sz="1400" dirty="0">
                <a:solidFill>
                  <a:srgbClr val="1E2430"/>
                </a:solidFill>
                <a:latin typeface="Arial" pitchFamily="34" charset="0"/>
                <a:ea typeface="Arial" pitchFamily="34" charset="-122"/>
                <a:cs typeface="Arial" pitchFamily="34" charset="-120"/>
              </a:rPr>
              <a:t> your card, passport, and transit pass answer a reader over a short radio link. The range is inches for payment cards, and modern cards use one-time codes, so skimming is rare. A shielded sleeve or wallet blocks it if you want the certainty.</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4F3EF"/>
        </a:solidFill>
      </p:bgPr>
    </p:bg>
    <p:spTree>
      <p:nvGrpSpPr>
        <p:cNvPr id="1" name=""/>
        <p:cNvGrpSpPr/>
        <p:nvPr/>
      </p:nvGrpSpPr>
      <p:grpSpPr>
        <a:xfrm>
          <a:off x="0" y="0"/>
          <a:ext cx="0" cy="0"/>
          <a:chOff x="0" y="0"/>
          <a:chExt cx="0" cy="0"/>
        </a:xfrm>
      </p:grpSpPr>
      <p:sp>
        <p:nvSpPr>
          <p:cNvPr id="2" name="Text 0"/>
          <p:cNvSpPr/>
          <p:nvPr/>
        </p:nvSpPr>
        <p:spPr>
          <a:xfrm>
            <a:off x="812800" y="711200"/>
            <a:ext cx="10883392" cy="500360"/>
          </a:xfrm>
          <a:prstGeom prst="rect">
            <a:avLst/>
          </a:prstGeom>
          <a:noFill/>
          <a:ln/>
        </p:spPr>
        <p:txBody>
          <a:bodyPr wrap="square" lIns="0" tIns="0" rIns="0" bIns="0" rtlCol="0" anchor="t">
            <a:normAutofit/>
          </a:bodyPr>
          <a:lstStyle/>
          <a:p>
            <a:pPr algn="l" indent="0" marL="0">
              <a:lnSpc>
                <a:spcPts val="3740"/>
              </a:lnSpc>
              <a:buNone/>
            </a:pPr>
            <a:r>
              <a:rPr lang="en-US" sz="3400" b="1" dirty="0">
                <a:solidFill>
                  <a:srgbClr val="1E2430"/>
                </a:solidFill>
                <a:latin typeface="Arial" pitchFamily="34" charset="0"/>
                <a:ea typeface="Arial" pitchFamily="34" charset="-122"/>
                <a:cs typeface="Arial" pitchFamily="34" charset="-120"/>
              </a:rPr>
              <a:t>Netiquette and the version of you people find</a:t>
            </a:r>
            <a:endParaRPr lang="en-US" sz="3400" dirty="0"/>
          </a:p>
        </p:txBody>
      </p:sp>
      <p:sp>
        <p:nvSpPr>
          <p:cNvPr id="3" name="Shape 1"/>
          <p:cNvSpPr/>
          <p:nvPr/>
        </p:nvSpPr>
        <p:spPr>
          <a:xfrm>
            <a:off x="815975" y="1443335"/>
            <a:ext cx="5124450" cy="2022971"/>
          </a:xfrm>
          <a:prstGeom prst="roundRect">
            <a:avLst>
              <a:gd name="adj" fmla="val 4238"/>
            </a:avLst>
          </a:prstGeom>
          <a:solidFill>
            <a:srgbClr val="FBFAF7"/>
          </a:solidFill>
          <a:ln w="6350">
            <a:solidFill>
              <a:srgbClr val="DCD8CF"/>
            </a:solidFill>
            <a:prstDash val="solid"/>
          </a:ln>
        </p:spPr>
      </p:sp>
      <p:sp>
        <p:nvSpPr>
          <p:cNvPr id="4" name="Text 2"/>
          <p:cNvSpPr/>
          <p:nvPr/>
        </p:nvSpPr>
        <p:spPr>
          <a:xfrm>
            <a:off x="1022350" y="1624310"/>
            <a:ext cx="4853051"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E2430"/>
                </a:solidFill>
                <a:latin typeface="Arial" pitchFamily="34" charset="0"/>
                <a:ea typeface="Arial" pitchFamily="34" charset="-122"/>
                <a:cs typeface="Arial" pitchFamily="34" charset="-120"/>
              </a:rPr>
              <a:t>A professional email has five parts</a:t>
            </a:r>
            <a:endParaRPr lang="en-US" sz="1800" dirty="0"/>
          </a:p>
        </p:txBody>
      </p:sp>
      <p:sp>
        <p:nvSpPr>
          <p:cNvPr id="5" name="Text 3"/>
          <p:cNvSpPr/>
          <p:nvPr/>
        </p:nvSpPr>
        <p:spPr>
          <a:xfrm>
            <a:off x="1022350" y="1987500"/>
            <a:ext cx="4853051" cy="77207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E2430"/>
                </a:solidFill>
                <a:latin typeface="Arial" pitchFamily="34" charset="0"/>
                <a:ea typeface="Arial" pitchFamily="34" charset="-122"/>
                <a:cs typeface="Arial" pitchFamily="34" charset="-120"/>
              </a:rPr>
              <a:t>Subject</a:t>
            </a:r>
            <a:r>
              <a:rPr lang="en-US" sz="1400" dirty="0">
                <a:solidFill>
                  <a:srgbClr val="1E2430"/>
                </a:solidFill>
                <a:latin typeface="Arial" pitchFamily="34" charset="0"/>
                <a:ea typeface="Arial" pitchFamily="34" charset="-122"/>
                <a:cs typeface="Arial" pitchFamily="34" charset="-120"/>
              </a:rPr>
              <a:t> that states the point · </a:t>
            </a:r>
            <a:r>
              <a:rPr lang="en-US" sz="1400" b="1" dirty="0">
                <a:solidFill>
                  <a:srgbClr val="1E2430"/>
                </a:solidFill>
                <a:latin typeface="Arial" pitchFamily="34" charset="0"/>
                <a:ea typeface="Arial" pitchFamily="34" charset="-122"/>
                <a:cs typeface="Arial" pitchFamily="34" charset="-120"/>
              </a:rPr>
              <a:t>Salutation</a:t>
            </a:r>
            <a:r>
              <a:rPr lang="en-US" sz="1400" dirty="0">
                <a:solidFill>
                  <a:srgbClr val="1E2430"/>
                </a:solidFill>
                <a:latin typeface="Arial" pitchFamily="34" charset="0"/>
                <a:ea typeface="Arial" pitchFamily="34" charset="-122"/>
                <a:cs typeface="Arial" pitchFamily="34" charset="-120"/>
              </a:rPr>
              <a:t> · </a:t>
            </a:r>
            <a:r>
              <a:rPr lang="en-US" sz="1400" b="1" dirty="0">
                <a:solidFill>
                  <a:srgbClr val="1E2430"/>
                </a:solidFill>
                <a:latin typeface="Arial" pitchFamily="34" charset="0"/>
                <a:ea typeface="Arial" pitchFamily="34" charset="-122"/>
                <a:cs typeface="Arial" pitchFamily="34" charset="-120"/>
              </a:rPr>
              <a:t>Body</a:t>
            </a:r>
            <a:r>
              <a:rPr lang="en-US" sz="1400" dirty="0">
                <a:solidFill>
                  <a:srgbClr val="1E2430"/>
                </a:solidFill>
                <a:latin typeface="Arial" pitchFamily="34" charset="0"/>
                <a:ea typeface="Arial" pitchFamily="34" charset="-122"/>
                <a:cs typeface="Arial" pitchFamily="34" charset="-120"/>
              </a:rPr>
              <a:t>, short and unambiguous · </a:t>
            </a:r>
            <a:r>
              <a:rPr lang="en-US" sz="1400" b="1" dirty="0">
                <a:solidFill>
                  <a:srgbClr val="1E2430"/>
                </a:solidFill>
                <a:latin typeface="Arial" pitchFamily="34" charset="0"/>
                <a:ea typeface="Arial" pitchFamily="34" charset="-122"/>
                <a:cs typeface="Arial" pitchFamily="34" charset="-120"/>
              </a:rPr>
              <a:t>Close</a:t>
            </a:r>
            <a:r>
              <a:rPr lang="en-US" sz="1400" dirty="0">
                <a:solidFill>
                  <a:srgbClr val="1E2430"/>
                </a:solidFill>
                <a:latin typeface="Arial" pitchFamily="34" charset="0"/>
                <a:ea typeface="Arial" pitchFamily="34" charset="-122"/>
                <a:cs typeface="Arial" pitchFamily="34" charset="-120"/>
              </a:rPr>
              <a:t> · </a:t>
            </a:r>
            <a:r>
              <a:rPr lang="en-US" sz="1400" b="1" dirty="0">
                <a:solidFill>
                  <a:srgbClr val="1E2430"/>
                </a:solidFill>
                <a:latin typeface="Arial" pitchFamily="34" charset="0"/>
                <a:ea typeface="Arial" pitchFamily="34" charset="-122"/>
                <a:cs typeface="Arial" pitchFamily="34" charset="-120"/>
              </a:rPr>
              <a:t>Signature</a:t>
            </a:r>
            <a:r>
              <a:rPr lang="en-US" sz="1400" dirty="0">
                <a:solidFill>
                  <a:srgbClr val="1E2430"/>
                </a:solidFill>
                <a:latin typeface="Arial" pitchFamily="34" charset="0"/>
                <a:ea typeface="Arial" pitchFamily="34" charset="-122"/>
                <a:cs typeface="Arial" pitchFamily="34" charset="-120"/>
              </a:rPr>
              <a:t> with your full name and, for school, your course and section.</a:t>
            </a:r>
            <a:endParaRPr lang="en-US" sz="1400" dirty="0"/>
          </a:p>
        </p:txBody>
      </p:sp>
      <p:sp>
        <p:nvSpPr>
          <p:cNvPr id="6" name="Text 4"/>
          <p:cNvSpPr/>
          <p:nvPr/>
        </p:nvSpPr>
        <p:spPr>
          <a:xfrm>
            <a:off x="1022350" y="2823071"/>
            <a:ext cx="4853051"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A6472"/>
                </a:solidFill>
                <a:latin typeface="Arial" pitchFamily="34" charset="0"/>
                <a:ea typeface="Arial" pitchFamily="34" charset="-122"/>
                <a:cs typeface="Arial" pitchFamily="34" charset="-120"/>
              </a:rPr>
              <a:t>No all caps, no slang acronyms, emoji only if the other person used them first.</a:t>
            </a:r>
            <a:endParaRPr lang="en-US" sz="1300" dirty="0"/>
          </a:p>
        </p:txBody>
      </p:sp>
      <p:sp>
        <p:nvSpPr>
          <p:cNvPr id="7" name="Shape 5"/>
          <p:cNvSpPr/>
          <p:nvPr/>
        </p:nvSpPr>
        <p:spPr>
          <a:xfrm>
            <a:off x="815975" y="3599656"/>
            <a:ext cx="5124450" cy="1108621"/>
          </a:xfrm>
          <a:prstGeom prst="roundRect">
            <a:avLst>
              <a:gd name="adj" fmla="val 7733"/>
            </a:avLst>
          </a:prstGeom>
          <a:solidFill>
            <a:srgbClr val="F6E7D8"/>
          </a:solidFill>
          <a:ln w="6350">
            <a:solidFill>
              <a:srgbClr val="DCD8CF"/>
            </a:solidFill>
            <a:prstDash val="solid"/>
          </a:ln>
        </p:spPr>
      </p:sp>
      <p:sp>
        <p:nvSpPr>
          <p:cNvPr id="8" name="Text 6"/>
          <p:cNvSpPr/>
          <p:nvPr/>
        </p:nvSpPr>
        <p:spPr>
          <a:xfrm>
            <a:off x="1022350" y="3780631"/>
            <a:ext cx="4853051" cy="77207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E2430"/>
                </a:solidFill>
                <a:latin typeface="Arial" pitchFamily="34" charset="0"/>
                <a:ea typeface="Arial" pitchFamily="34" charset="-122"/>
                <a:cs typeface="Arial" pitchFamily="34" charset="-120"/>
              </a:rPr>
              <a:t>If AI drafts it, you still sign it.</a:t>
            </a:r>
            <a:r>
              <a:rPr lang="en-US" sz="1400" dirty="0">
                <a:solidFill>
                  <a:srgbClr val="1E2430"/>
                </a:solidFill>
                <a:latin typeface="Arial" pitchFamily="34" charset="0"/>
                <a:ea typeface="Arial" pitchFamily="34" charset="-122"/>
                <a:cs typeface="Arial" pitchFamily="34" charset="-120"/>
              </a:rPr>
              <a:t> Check the facts, the names, and the tone before sending. A confident, wrong email is worse than a short one.</a:t>
            </a:r>
            <a:endParaRPr lang="en-US" sz="1400" dirty="0"/>
          </a:p>
        </p:txBody>
      </p:sp>
      <p:sp>
        <p:nvSpPr>
          <p:cNvPr id="9" name="Shape 7"/>
          <p:cNvSpPr/>
          <p:nvPr/>
        </p:nvSpPr>
        <p:spPr>
          <a:xfrm>
            <a:off x="815975" y="4841627"/>
            <a:ext cx="5124450" cy="1108621"/>
          </a:xfrm>
          <a:prstGeom prst="roundRect">
            <a:avLst>
              <a:gd name="adj" fmla="val 7733"/>
            </a:avLst>
          </a:prstGeom>
          <a:solidFill>
            <a:srgbClr val="FBFAF7"/>
          </a:solidFill>
          <a:ln w="6350">
            <a:solidFill>
              <a:srgbClr val="DCD8CF"/>
            </a:solidFill>
            <a:prstDash val="solid"/>
          </a:ln>
        </p:spPr>
      </p:sp>
      <p:sp>
        <p:nvSpPr>
          <p:cNvPr id="10" name="Text 8"/>
          <p:cNvSpPr/>
          <p:nvPr/>
        </p:nvSpPr>
        <p:spPr>
          <a:xfrm>
            <a:off x="1022350" y="5022602"/>
            <a:ext cx="4853051" cy="77207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E2430"/>
                </a:solidFill>
                <a:latin typeface="Arial" pitchFamily="34" charset="0"/>
                <a:ea typeface="Arial" pitchFamily="34" charset="-122"/>
                <a:cs typeface="Arial" pitchFamily="34" charset="-120"/>
              </a:rPr>
              <a:t>At work, an </a:t>
            </a:r>
            <a:r>
              <a:rPr lang="en-US" sz="1400" b="1" dirty="0">
                <a:solidFill>
                  <a:srgbClr val="1E2430"/>
                </a:solidFill>
                <a:latin typeface="Arial" pitchFamily="34" charset="0"/>
                <a:ea typeface="Arial" pitchFamily="34" charset="-122"/>
                <a:cs typeface="Arial" pitchFamily="34" charset="-120"/>
              </a:rPr>
              <a:t>Acceptable Use Policy</a:t>
            </a:r>
            <a:r>
              <a:rPr lang="en-US" sz="1400" dirty="0">
                <a:solidFill>
                  <a:srgbClr val="1E2430"/>
                </a:solidFill>
                <a:latin typeface="Arial" pitchFamily="34" charset="0"/>
                <a:ea typeface="Arial" pitchFamily="34" charset="-122"/>
                <a:cs typeface="Arial" pitchFamily="34" charset="-120"/>
              </a:rPr>
              <a:t> says what you may do with company devices, and monitoring software may be tracking it. Assume work accounts are not private.</a:t>
            </a:r>
            <a:endParaRPr lang="en-US" sz="1400" dirty="0"/>
          </a:p>
        </p:txBody>
      </p:sp>
      <p:sp>
        <p:nvSpPr>
          <p:cNvPr id="11" name="Shape 9"/>
          <p:cNvSpPr/>
          <p:nvPr/>
        </p:nvSpPr>
        <p:spPr>
          <a:xfrm>
            <a:off x="6251575" y="1443335"/>
            <a:ext cx="5124450" cy="2396282"/>
          </a:xfrm>
          <a:prstGeom prst="roundRect">
            <a:avLst>
              <a:gd name="adj" fmla="val 3577"/>
            </a:avLst>
          </a:prstGeom>
          <a:solidFill>
            <a:srgbClr val="FBFAF7"/>
          </a:solidFill>
          <a:ln w="6350">
            <a:solidFill>
              <a:srgbClr val="DCD8CF"/>
            </a:solidFill>
            <a:prstDash val="solid"/>
          </a:ln>
        </p:spPr>
      </p:sp>
      <p:sp>
        <p:nvSpPr>
          <p:cNvPr id="12" name="Text 10"/>
          <p:cNvSpPr/>
          <p:nvPr/>
        </p:nvSpPr>
        <p:spPr>
          <a:xfrm>
            <a:off x="6457950" y="1624310"/>
            <a:ext cx="4853051"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E2430"/>
                </a:solidFill>
                <a:latin typeface="Arial" pitchFamily="34" charset="0"/>
                <a:ea typeface="Arial" pitchFamily="34" charset="-122"/>
                <a:cs typeface="Arial" pitchFamily="34" charset="-120"/>
              </a:rPr>
              <a:t>Your personal brand</a:t>
            </a:r>
            <a:endParaRPr lang="en-US" sz="1800" dirty="0"/>
          </a:p>
        </p:txBody>
      </p:sp>
      <p:sp>
        <p:nvSpPr>
          <p:cNvPr id="13" name="Text 11"/>
          <p:cNvSpPr/>
          <p:nvPr/>
        </p:nvSpPr>
        <p:spPr>
          <a:xfrm>
            <a:off x="6457950" y="1987500"/>
            <a:ext cx="4853051"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E2430"/>
                </a:solidFill>
                <a:latin typeface="Arial" pitchFamily="34" charset="0"/>
                <a:ea typeface="Arial" pitchFamily="34" charset="-122"/>
                <a:cs typeface="Arial" pitchFamily="34" charset="-120"/>
              </a:rPr>
              <a:t>Use the </a:t>
            </a:r>
            <a:r>
              <a:rPr lang="en-US" sz="1400" b="1" dirty="0">
                <a:solidFill>
                  <a:srgbClr val="1E2430"/>
                </a:solidFill>
                <a:latin typeface="Arial" pitchFamily="34" charset="0"/>
                <a:ea typeface="Arial" pitchFamily="34" charset="-122"/>
                <a:cs typeface="Arial" pitchFamily="34" charset="-120"/>
              </a:rPr>
              <a:t>same name and photo</a:t>
            </a:r>
            <a:r>
              <a:rPr lang="en-US" sz="1400" dirty="0">
                <a:solidFill>
                  <a:srgbClr val="1E2430"/>
                </a:solidFill>
                <a:latin typeface="Arial" pitchFamily="34" charset="0"/>
                <a:ea typeface="Arial" pitchFamily="34" charset="-122"/>
                <a:cs typeface="Arial" pitchFamily="34" charset="-120"/>
              </a:rPr>
              <a:t> across platforms so people find the right you.</a:t>
            </a:r>
            <a:endParaRPr lang="en-US" sz="1400" dirty="0"/>
          </a:p>
        </p:txBody>
      </p:sp>
      <p:sp>
        <p:nvSpPr>
          <p:cNvPr id="14" name="Text 12"/>
          <p:cNvSpPr/>
          <p:nvPr/>
        </p:nvSpPr>
        <p:spPr>
          <a:xfrm>
            <a:off x="6457950" y="2574181"/>
            <a:ext cx="4853051"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E2430"/>
                </a:solidFill>
                <a:latin typeface="Arial" pitchFamily="34" charset="0"/>
                <a:ea typeface="Arial" pitchFamily="34" charset="-122"/>
                <a:cs typeface="Arial" pitchFamily="34" charset="-120"/>
              </a:rPr>
              <a:t>Keep one account visibly professional. LinkedIn is the low-effort option, and its résumé tool is free.</a:t>
            </a:r>
            <a:endParaRPr lang="en-US" sz="1400" dirty="0"/>
          </a:p>
        </p:txBody>
      </p:sp>
      <p:sp>
        <p:nvSpPr>
          <p:cNvPr id="15" name="Text 13"/>
          <p:cNvSpPr/>
          <p:nvPr/>
        </p:nvSpPr>
        <p:spPr>
          <a:xfrm>
            <a:off x="6457950" y="3160861"/>
            <a:ext cx="4853051"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E2430"/>
                </a:solidFill>
                <a:latin typeface="Arial" pitchFamily="34" charset="0"/>
                <a:ea typeface="Arial" pitchFamily="34" charset="-122"/>
                <a:cs typeface="Arial" pitchFamily="34" charset="-120"/>
              </a:rPr>
              <a:t>Assume a future employer reads your public posts, because many do.</a:t>
            </a:r>
            <a:endParaRPr lang="en-US" sz="1400" dirty="0"/>
          </a:p>
        </p:txBody>
      </p:sp>
      <p:sp>
        <p:nvSpPr>
          <p:cNvPr id="16" name="Shape 14"/>
          <p:cNvSpPr/>
          <p:nvPr/>
        </p:nvSpPr>
        <p:spPr>
          <a:xfrm>
            <a:off x="6251575" y="3972967"/>
            <a:ext cx="5124450" cy="859730"/>
          </a:xfrm>
          <a:prstGeom prst="roundRect">
            <a:avLst>
              <a:gd name="adj" fmla="val 9971"/>
            </a:avLst>
          </a:prstGeom>
          <a:solidFill>
            <a:srgbClr val="E3ECEA"/>
          </a:solidFill>
          <a:ln w="6350">
            <a:solidFill>
              <a:srgbClr val="DCD8CF"/>
            </a:solidFill>
            <a:prstDash val="solid"/>
          </a:ln>
        </p:spPr>
      </p:sp>
      <p:sp>
        <p:nvSpPr>
          <p:cNvPr id="17" name="Text 15"/>
          <p:cNvSpPr/>
          <p:nvPr/>
        </p:nvSpPr>
        <p:spPr>
          <a:xfrm>
            <a:off x="6457950" y="4153942"/>
            <a:ext cx="4853051"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E2430"/>
                </a:solidFill>
                <a:latin typeface="Arial" pitchFamily="34" charset="0"/>
                <a:ea typeface="Arial" pitchFamily="34" charset="-122"/>
                <a:cs typeface="Arial" pitchFamily="34" charset="-120"/>
              </a:rPr>
              <a:t>Search your own name in a private window. Whatever comes up is your brand, whether you built it or not.</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4F3EF"/>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F6E6E"/>
                </a:solidFill>
                <a:latin typeface="Arial" pitchFamily="34" charset="0"/>
                <a:ea typeface="Arial" pitchFamily="34" charset="-122"/>
                <a:cs typeface="Arial" pitchFamily="34" charset="-120"/>
              </a:rPr>
              <a:t>OPTIONAL · FIVE MINUTES</a:t>
            </a:r>
            <a:endParaRPr lang="en-US" sz="1200" dirty="0"/>
          </a:p>
        </p:txBody>
      </p:sp>
      <p:sp>
        <p:nvSpPr>
          <p:cNvPr id="3" name="Text 1"/>
          <p:cNvSpPr/>
          <p:nvPr/>
        </p:nvSpPr>
        <p:spPr>
          <a:xfrm>
            <a:off x="812800" y="1000720"/>
            <a:ext cx="10883392" cy="500360"/>
          </a:xfrm>
          <a:prstGeom prst="rect">
            <a:avLst/>
          </a:prstGeom>
          <a:noFill/>
          <a:ln/>
        </p:spPr>
        <p:txBody>
          <a:bodyPr wrap="square" lIns="0" tIns="0" rIns="0" bIns="0" rtlCol="0" anchor="t">
            <a:normAutofit/>
          </a:bodyPr>
          <a:lstStyle/>
          <a:p>
            <a:pPr algn="l" indent="0" marL="0">
              <a:lnSpc>
                <a:spcPts val="3740"/>
              </a:lnSpc>
              <a:buNone/>
            </a:pPr>
            <a:r>
              <a:rPr lang="en-US" sz="3400" b="1" dirty="0">
                <a:solidFill>
                  <a:srgbClr val="1E2430"/>
                </a:solidFill>
                <a:latin typeface="Arial" pitchFamily="34" charset="0"/>
                <a:ea typeface="Arial" pitchFamily="34" charset="-122"/>
                <a:cs typeface="Arial" pitchFamily="34" charset="-120"/>
              </a:rPr>
              <a:t>Discussion: should there be an age limit?</a:t>
            </a:r>
            <a:endParaRPr lang="en-US" sz="3400" dirty="0"/>
          </a:p>
        </p:txBody>
      </p:sp>
      <p:sp>
        <p:nvSpPr>
          <p:cNvPr id="4" name="Shape 2"/>
          <p:cNvSpPr/>
          <p:nvPr/>
        </p:nvSpPr>
        <p:spPr>
          <a:xfrm>
            <a:off x="815975" y="1732855"/>
            <a:ext cx="5124450" cy="2058491"/>
          </a:xfrm>
          <a:prstGeom prst="roundRect">
            <a:avLst>
              <a:gd name="adj" fmla="val 4164"/>
            </a:avLst>
          </a:prstGeom>
          <a:solidFill>
            <a:srgbClr val="FBFAF7"/>
          </a:solidFill>
          <a:ln w="6350">
            <a:solidFill>
              <a:srgbClr val="DCD8CF"/>
            </a:solidFill>
            <a:prstDash val="solid"/>
          </a:ln>
        </p:spPr>
      </p:sp>
      <p:sp>
        <p:nvSpPr>
          <p:cNvPr id="5" name="Text 3"/>
          <p:cNvSpPr/>
          <p:nvPr/>
        </p:nvSpPr>
        <p:spPr>
          <a:xfrm>
            <a:off x="1022350" y="1913830"/>
            <a:ext cx="4853051"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E2430"/>
                </a:solidFill>
                <a:latin typeface="Arial" pitchFamily="34" charset="0"/>
                <a:ea typeface="Arial" pitchFamily="34" charset="-122"/>
                <a:cs typeface="Arial" pitchFamily="34" charset="-120"/>
              </a:rPr>
              <a:t>The case for limits</a:t>
            </a:r>
            <a:endParaRPr lang="en-US" sz="1800" dirty="0"/>
          </a:p>
        </p:txBody>
      </p:sp>
      <p:sp>
        <p:nvSpPr>
          <p:cNvPr id="6" name="Text 4"/>
          <p:cNvSpPr/>
          <p:nvPr/>
        </p:nvSpPr>
        <p:spPr>
          <a:xfrm>
            <a:off x="1022350" y="2277021"/>
            <a:ext cx="4853051" cy="77207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E2430"/>
                </a:solidFill>
                <a:latin typeface="Arial" pitchFamily="34" charset="0"/>
                <a:ea typeface="Arial" pitchFamily="34" charset="-122"/>
                <a:cs typeface="Arial" pitchFamily="34" charset="-120"/>
              </a:rPr>
              <a:t>Australia and France have moved to restrict social media for minors, citing cyberbullying, grooming, and content that harms mental health.</a:t>
            </a:r>
            <a:endParaRPr lang="en-US" sz="1400" dirty="0"/>
          </a:p>
        </p:txBody>
      </p:sp>
      <p:sp>
        <p:nvSpPr>
          <p:cNvPr id="7" name="Text 5"/>
          <p:cNvSpPr/>
          <p:nvPr/>
        </p:nvSpPr>
        <p:spPr>
          <a:xfrm>
            <a:off x="1022350" y="3112591"/>
            <a:ext cx="4853051"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E2430"/>
                </a:solidFill>
                <a:latin typeface="Arial" pitchFamily="34" charset="0"/>
                <a:ea typeface="Arial" pitchFamily="34" charset="-122"/>
                <a:cs typeface="Arial" pitchFamily="34" charset="-120"/>
              </a:rPr>
              <a:t>COPPA already bars collecting data from children under 13 in the US, which is why platforms claim a minimum age.</a:t>
            </a:r>
            <a:endParaRPr lang="en-US" sz="1400" dirty="0"/>
          </a:p>
        </p:txBody>
      </p:sp>
      <p:sp>
        <p:nvSpPr>
          <p:cNvPr id="8" name="Shape 6"/>
          <p:cNvSpPr/>
          <p:nvPr/>
        </p:nvSpPr>
        <p:spPr>
          <a:xfrm>
            <a:off x="6251575" y="1732855"/>
            <a:ext cx="5124450" cy="2058491"/>
          </a:xfrm>
          <a:prstGeom prst="roundRect">
            <a:avLst>
              <a:gd name="adj" fmla="val 4164"/>
            </a:avLst>
          </a:prstGeom>
          <a:solidFill>
            <a:srgbClr val="FBFAF7"/>
          </a:solidFill>
          <a:ln w="6350">
            <a:solidFill>
              <a:srgbClr val="DCD8CF"/>
            </a:solidFill>
            <a:prstDash val="solid"/>
          </a:ln>
        </p:spPr>
      </p:sp>
      <p:sp>
        <p:nvSpPr>
          <p:cNvPr id="9" name="Text 7"/>
          <p:cNvSpPr/>
          <p:nvPr/>
        </p:nvSpPr>
        <p:spPr>
          <a:xfrm>
            <a:off x="6457950" y="1913830"/>
            <a:ext cx="4853051"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E2430"/>
                </a:solidFill>
                <a:latin typeface="Arial" pitchFamily="34" charset="0"/>
                <a:ea typeface="Arial" pitchFamily="34" charset="-122"/>
                <a:cs typeface="Arial" pitchFamily="34" charset="-120"/>
              </a:rPr>
              <a:t>The case against</a:t>
            </a:r>
            <a:endParaRPr lang="en-US" sz="1800" dirty="0"/>
          </a:p>
        </p:txBody>
      </p:sp>
      <p:sp>
        <p:nvSpPr>
          <p:cNvPr id="10" name="Text 8"/>
          <p:cNvSpPr/>
          <p:nvPr/>
        </p:nvSpPr>
        <p:spPr>
          <a:xfrm>
            <a:off x="6457950" y="2277021"/>
            <a:ext cx="4853051" cy="77207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E2430"/>
                </a:solidFill>
                <a:latin typeface="Arial" pitchFamily="34" charset="0"/>
                <a:ea typeface="Arial" pitchFamily="34" charset="-122"/>
                <a:cs typeface="Arial" pitchFamily="34" charset="-120"/>
              </a:rPr>
              <a:t>Bans restrict expression and are hard to enforce without demanding ID from everyone, which creates its own privacy problem.</a:t>
            </a:r>
            <a:endParaRPr lang="en-US" sz="1400" dirty="0"/>
          </a:p>
        </p:txBody>
      </p:sp>
      <p:sp>
        <p:nvSpPr>
          <p:cNvPr id="11" name="Text 9"/>
          <p:cNvSpPr/>
          <p:nvPr/>
        </p:nvSpPr>
        <p:spPr>
          <a:xfrm>
            <a:off x="6457950" y="3112591"/>
            <a:ext cx="4853051"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E2430"/>
                </a:solidFill>
                <a:latin typeface="Arial" pitchFamily="34" charset="0"/>
                <a:ea typeface="Arial" pitchFamily="34" charset="-122"/>
                <a:cs typeface="Arial" pitchFamily="34" charset="-120"/>
              </a:rPr>
              <a:t>Teens may move to less regulated platforms, where there is no moderation at all.</a:t>
            </a:r>
            <a:endParaRPr lang="en-US" sz="1400" dirty="0"/>
          </a:p>
        </p:txBody>
      </p:sp>
      <p:sp>
        <p:nvSpPr>
          <p:cNvPr id="12" name="Shape 10"/>
          <p:cNvSpPr/>
          <p:nvPr/>
        </p:nvSpPr>
        <p:spPr>
          <a:xfrm>
            <a:off x="815975" y="4051697"/>
            <a:ext cx="10560050" cy="895350"/>
          </a:xfrm>
          <a:prstGeom prst="roundRect">
            <a:avLst>
              <a:gd name="adj" fmla="val 9574"/>
            </a:avLst>
          </a:prstGeom>
          <a:solidFill>
            <a:srgbClr val="E3ECEA"/>
          </a:solidFill>
          <a:ln w="6350">
            <a:solidFill>
              <a:srgbClr val="DCD8CF"/>
            </a:solidFill>
            <a:prstDash val="solid"/>
          </a:ln>
        </p:spPr>
      </p:sp>
      <p:sp>
        <p:nvSpPr>
          <p:cNvPr id="13" name="Text 11"/>
          <p:cNvSpPr/>
          <p:nvPr/>
        </p:nvSpPr>
        <p:spPr>
          <a:xfrm>
            <a:off x="1022350" y="4232672"/>
            <a:ext cx="10451719" cy="5588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E2430"/>
                </a:solidFill>
                <a:latin typeface="Arial" pitchFamily="34" charset="0"/>
                <a:ea typeface="Arial" pitchFamily="34" charset="-122"/>
                <a:cs typeface="Arial" pitchFamily="34" charset="-120"/>
              </a:rPr>
              <a:t>In chat or a poll:</a:t>
            </a:r>
            <a:r>
              <a:rPr lang="en-US" sz="1500" dirty="0">
                <a:solidFill>
                  <a:srgbClr val="1E2430"/>
                </a:solidFill>
                <a:latin typeface="Arial" pitchFamily="34" charset="0"/>
                <a:ea typeface="Arial" pitchFamily="34" charset="-122"/>
                <a:cs typeface="Arial" pitchFamily="34" charset="-120"/>
              </a:rPr>
              <a:t> would an age limit have changed your own experience? Vote first, then two people argue each side for a minute.</a:t>
            </a:r>
            <a:endParaRPr lang="en-US" sz="15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4F3EF"/>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F6E6E"/>
                </a:solidFill>
                <a:latin typeface="Arial" pitchFamily="34" charset="0"/>
                <a:ea typeface="Arial" pitchFamily="34" charset="-122"/>
                <a:cs typeface="Arial" pitchFamily="34" charset="-120"/>
              </a:rPr>
              <a:t>FIVE MINUTES</a:t>
            </a:r>
            <a:endParaRPr lang="en-US" sz="1200" dirty="0"/>
          </a:p>
        </p:txBody>
      </p:sp>
      <p:sp>
        <p:nvSpPr>
          <p:cNvPr id="3" name="Text 1"/>
          <p:cNvSpPr/>
          <p:nvPr/>
        </p:nvSpPr>
        <p:spPr>
          <a:xfrm>
            <a:off x="812800" y="1000720"/>
            <a:ext cx="10883392" cy="500360"/>
          </a:xfrm>
          <a:prstGeom prst="rect">
            <a:avLst/>
          </a:prstGeom>
          <a:noFill/>
          <a:ln/>
        </p:spPr>
        <p:txBody>
          <a:bodyPr wrap="square" lIns="0" tIns="0" rIns="0" bIns="0" rtlCol="0" anchor="t">
            <a:normAutofit/>
          </a:bodyPr>
          <a:lstStyle/>
          <a:p>
            <a:pPr algn="l" indent="0" marL="0">
              <a:lnSpc>
                <a:spcPts val="3740"/>
              </a:lnSpc>
              <a:buNone/>
            </a:pPr>
            <a:r>
              <a:rPr lang="en-US" sz="3400" b="1" dirty="0">
                <a:solidFill>
                  <a:srgbClr val="1E2430"/>
                </a:solidFill>
                <a:latin typeface="Arial" pitchFamily="34" charset="0"/>
                <a:ea typeface="Arial" pitchFamily="34" charset="-122"/>
                <a:cs typeface="Arial" pitchFamily="34" charset="-120"/>
              </a:rPr>
              <a:t>Activity: five-minute footprint audit</a:t>
            </a:r>
            <a:endParaRPr lang="en-US" sz="3400" dirty="0"/>
          </a:p>
        </p:txBody>
      </p:sp>
      <p:sp>
        <p:nvSpPr>
          <p:cNvPr id="4" name="Text 2"/>
          <p:cNvSpPr/>
          <p:nvPr/>
        </p:nvSpPr>
        <p:spPr>
          <a:xfrm>
            <a:off x="812800" y="1729680"/>
            <a:ext cx="342900" cy="32762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0F6E6E"/>
                </a:solidFill>
                <a:latin typeface="Arial" pitchFamily="34" charset="0"/>
                <a:ea typeface="Arial" pitchFamily="34" charset="-122"/>
                <a:cs typeface="Arial" pitchFamily="34" charset="-120"/>
              </a:rPr>
              <a:t>1</a:t>
            </a:r>
            <a:endParaRPr lang="en-US" sz="1700" dirty="0"/>
          </a:p>
        </p:txBody>
      </p:sp>
      <p:sp>
        <p:nvSpPr>
          <p:cNvPr id="5" name="Text 3"/>
          <p:cNvSpPr/>
          <p:nvPr/>
        </p:nvSpPr>
        <p:spPr>
          <a:xfrm>
            <a:off x="1257300" y="1729680"/>
            <a:ext cx="10425557" cy="52318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E2430"/>
                </a:solidFill>
                <a:latin typeface="Arial" pitchFamily="34" charset="0"/>
                <a:ea typeface="Arial" pitchFamily="34" charset="-122"/>
                <a:cs typeface="Arial" pitchFamily="34" charset="-120"/>
              </a:rPr>
              <a:t>Search yourself</a:t>
            </a:r>
            <a:r>
              <a:rPr lang="en-US" sz="1400" dirty="0">
                <a:solidFill>
                  <a:srgbClr val="1E2430"/>
                </a:solidFill>
                <a:latin typeface="Arial" pitchFamily="34" charset="0"/>
                <a:ea typeface="Arial" pitchFamily="34" charset="-122"/>
                <a:cs typeface="Arial" pitchFamily="34" charset="-120"/>
              </a:rPr>
              <a:t> in a private or incognito window: your full name, then your name plus your city. Note what a stranger would learn.</a:t>
            </a:r>
            <a:endParaRPr lang="en-US" sz="1400" dirty="0"/>
          </a:p>
        </p:txBody>
      </p:sp>
      <p:sp>
        <p:nvSpPr>
          <p:cNvPr id="6" name="Text 4"/>
          <p:cNvSpPr/>
          <p:nvPr/>
        </p:nvSpPr>
        <p:spPr>
          <a:xfrm>
            <a:off x="812800" y="2341761"/>
            <a:ext cx="342900" cy="32762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0F6E6E"/>
                </a:solidFill>
                <a:latin typeface="Arial" pitchFamily="34" charset="0"/>
                <a:ea typeface="Arial" pitchFamily="34" charset="-122"/>
                <a:cs typeface="Arial" pitchFamily="34" charset="-120"/>
              </a:rPr>
              <a:t>2</a:t>
            </a:r>
            <a:endParaRPr lang="en-US" sz="1700" dirty="0"/>
          </a:p>
        </p:txBody>
      </p:sp>
      <p:sp>
        <p:nvSpPr>
          <p:cNvPr id="7" name="Text 5"/>
          <p:cNvSpPr/>
          <p:nvPr/>
        </p:nvSpPr>
        <p:spPr>
          <a:xfrm>
            <a:off x="1257300" y="2341761"/>
            <a:ext cx="10425557" cy="52318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E2430"/>
                </a:solidFill>
                <a:latin typeface="Arial" pitchFamily="34" charset="0"/>
                <a:ea typeface="Arial" pitchFamily="34" charset="-122"/>
                <a:cs typeface="Arial" pitchFamily="34" charset="-120"/>
              </a:rPr>
              <a:t>Open the connected apps list</a:t>
            </a:r>
            <a:r>
              <a:rPr lang="en-US" sz="1400" dirty="0">
                <a:solidFill>
                  <a:srgbClr val="1E2430"/>
                </a:solidFill>
                <a:latin typeface="Arial" pitchFamily="34" charset="0"/>
                <a:ea typeface="Arial" pitchFamily="34" charset="-122"/>
                <a:cs typeface="Arial" pitchFamily="34" charset="-120"/>
              </a:rPr>
              <a:t> on one platform you use: Facebook, Instagram, Google, or TikTok. Remove anything you do not recognize.</a:t>
            </a:r>
            <a:endParaRPr lang="en-US" sz="1400" dirty="0"/>
          </a:p>
        </p:txBody>
      </p:sp>
      <p:sp>
        <p:nvSpPr>
          <p:cNvPr id="8" name="Text 6"/>
          <p:cNvSpPr/>
          <p:nvPr/>
        </p:nvSpPr>
        <p:spPr>
          <a:xfrm>
            <a:off x="812800" y="2953841"/>
            <a:ext cx="342900" cy="32762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0F6E6E"/>
                </a:solidFill>
                <a:latin typeface="Arial" pitchFamily="34" charset="0"/>
                <a:ea typeface="Arial" pitchFamily="34" charset="-122"/>
                <a:cs typeface="Arial" pitchFamily="34" charset="-120"/>
              </a:rPr>
              <a:t>3</a:t>
            </a:r>
            <a:endParaRPr lang="en-US" sz="1700" dirty="0"/>
          </a:p>
        </p:txBody>
      </p:sp>
      <p:sp>
        <p:nvSpPr>
          <p:cNvPr id="9" name="Text 7"/>
          <p:cNvSpPr/>
          <p:nvPr/>
        </p:nvSpPr>
        <p:spPr>
          <a:xfrm>
            <a:off x="1257300" y="2953841"/>
            <a:ext cx="6290173"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E2430"/>
                </a:solidFill>
                <a:latin typeface="Arial" pitchFamily="34" charset="0"/>
                <a:ea typeface="Arial" pitchFamily="34" charset="-122"/>
                <a:cs typeface="Arial" pitchFamily="34" charset="-120"/>
              </a:rPr>
              <a:t>Check one setting</a:t>
            </a:r>
            <a:r>
              <a:rPr lang="en-US" sz="1400" dirty="0">
                <a:solidFill>
                  <a:srgbClr val="1E2430"/>
                </a:solidFill>
                <a:latin typeface="Arial" pitchFamily="34" charset="0"/>
                <a:ea typeface="Arial" pitchFamily="34" charset="-122"/>
                <a:cs typeface="Arial" pitchFamily="34" charset="-120"/>
              </a:rPr>
              <a:t> who can see your posts, your friends list, or your location.</a:t>
            </a:r>
            <a:endParaRPr lang="en-US" sz="1400" dirty="0"/>
          </a:p>
        </p:txBody>
      </p:sp>
      <p:sp>
        <p:nvSpPr>
          <p:cNvPr id="10" name="Text 8"/>
          <p:cNvSpPr/>
          <p:nvPr/>
        </p:nvSpPr>
        <p:spPr>
          <a:xfrm>
            <a:off x="812800" y="3370362"/>
            <a:ext cx="342900" cy="32762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0F6E6E"/>
                </a:solidFill>
                <a:latin typeface="Arial" pitchFamily="34" charset="0"/>
                <a:ea typeface="Arial" pitchFamily="34" charset="-122"/>
                <a:cs typeface="Arial" pitchFamily="34" charset="-120"/>
              </a:rPr>
              <a:t>4</a:t>
            </a:r>
            <a:endParaRPr lang="en-US" sz="1700" dirty="0"/>
          </a:p>
        </p:txBody>
      </p:sp>
      <p:sp>
        <p:nvSpPr>
          <p:cNvPr id="11" name="Text 9"/>
          <p:cNvSpPr/>
          <p:nvPr/>
        </p:nvSpPr>
        <p:spPr>
          <a:xfrm>
            <a:off x="1257300" y="3370362"/>
            <a:ext cx="8110527"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E2430"/>
                </a:solidFill>
                <a:latin typeface="Arial" pitchFamily="34" charset="0"/>
                <a:ea typeface="Arial" pitchFamily="34" charset="-122"/>
                <a:cs typeface="Arial" pitchFamily="34" charset="-120"/>
              </a:rPr>
              <a:t>Post in chat</a:t>
            </a:r>
            <a:r>
              <a:rPr lang="en-US" sz="1400" dirty="0">
                <a:solidFill>
                  <a:srgbClr val="1E2430"/>
                </a:solidFill>
                <a:latin typeface="Arial" pitchFamily="34" charset="0"/>
                <a:ea typeface="Arial" pitchFamily="34" charset="-122"/>
                <a:cs typeface="Arial" pitchFamily="34" charset="-120"/>
              </a:rPr>
              <a:t> one thing you found and one thing you changed. No personal details, just the category.</a:t>
            </a:r>
            <a:endParaRPr lang="en-US" sz="1400" dirty="0"/>
          </a:p>
        </p:txBody>
      </p:sp>
      <p:sp>
        <p:nvSpPr>
          <p:cNvPr id="12" name="Shape 10"/>
          <p:cNvSpPr/>
          <p:nvPr/>
        </p:nvSpPr>
        <p:spPr>
          <a:xfrm>
            <a:off x="815975" y="3929757"/>
            <a:ext cx="10560050" cy="610840"/>
          </a:xfrm>
          <a:prstGeom prst="roundRect">
            <a:avLst>
              <a:gd name="adj" fmla="val 14034"/>
            </a:avLst>
          </a:prstGeom>
          <a:solidFill>
            <a:srgbClr val="E3ECEA"/>
          </a:solidFill>
          <a:ln w="6350">
            <a:solidFill>
              <a:srgbClr val="DCD8CF"/>
            </a:solidFill>
            <a:prstDash val="solid"/>
          </a:ln>
        </p:spPr>
      </p:sp>
      <p:sp>
        <p:nvSpPr>
          <p:cNvPr id="13" name="Text 11"/>
          <p:cNvSpPr/>
          <p:nvPr/>
        </p:nvSpPr>
        <p:spPr>
          <a:xfrm>
            <a:off x="1022350" y="4110732"/>
            <a:ext cx="10451719"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E2430"/>
                </a:solidFill>
                <a:latin typeface="Arial" pitchFamily="34" charset="0"/>
                <a:ea typeface="Arial" pitchFamily="34" charset="-122"/>
                <a:cs typeface="Arial" pitchFamily="34" charset="-120"/>
              </a:rPr>
              <a:t>Nobody has to share anything private. "I found an old account I forgot about" and "I removed three apps" are perfect answers.</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4202A"/>
        </a:solidFill>
      </p:bgPr>
    </p:bg>
    <p:spTree>
      <p:nvGrpSpPr>
        <p:cNvPr id="1" name=""/>
        <p:cNvGrpSpPr/>
        <p:nvPr/>
      </p:nvGrpSpPr>
      <p:grpSpPr>
        <a:xfrm>
          <a:off x="0" y="0"/>
          <a:ext cx="0" cy="0"/>
          <a:chOff x="0" y="0"/>
          <a:chExt cx="0" cy="0"/>
        </a:xfrm>
      </p:grpSpPr>
      <p:sp>
        <p:nvSpPr>
          <p:cNvPr id="2" name="Text 0"/>
          <p:cNvSpPr/>
          <p:nvPr/>
        </p:nvSpPr>
        <p:spPr>
          <a:xfrm>
            <a:off x="812800" y="711200"/>
            <a:ext cx="10883392" cy="500360"/>
          </a:xfrm>
          <a:prstGeom prst="rect">
            <a:avLst/>
          </a:prstGeom>
          <a:noFill/>
          <a:ln/>
        </p:spPr>
        <p:txBody>
          <a:bodyPr wrap="square" lIns="0" tIns="0" rIns="0" bIns="0" rtlCol="0" anchor="t">
            <a:normAutofit/>
          </a:bodyPr>
          <a:lstStyle/>
          <a:p>
            <a:pPr algn="l" indent="0" marL="0">
              <a:lnSpc>
                <a:spcPts val="3740"/>
              </a:lnSpc>
              <a:buNone/>
            </a:pPr>
            <a:r>
              <a:rPr lang="en-US" sz="3400" b="1" dirty="0">
                <a:solidFill>
                  <a:srgbClr val="F4F3EF"/>
                </a:solidFill>
                <a:latin typeface="Arial" pitchFamily="34" charset="0"/>
                <a:ea typeface="Arial" pitchFamily="34" charset="-122"/>
                <a:cs typeface="Arial" pitchFamily="34" charset="-120"/>
              </a:rPr>
              <a:t>Five things to take with you</a:t>
            </a:r>
            <a:endParaRPr lang="en-US" sz="3400" dirty="0"/>
          </a:p>
        </p:txBody>
      </p:sp>
      <p:sp>
        <p:nvSpPr>
          <p:cNvPr id="3" name="Shape 1"/>
          <p:cNvSpPr/>
          <p:nvPr/>
        </p:nvSpPr>
        <p:spPr>
          <a:xfrm>
            <a:off x="812800" y="1951930"/>
            <a:ext cx="10566400" cy="0"/>
          </a:xfrm>
          <a:prstGeom prst="line">
            <a:avLst/>
          </a:prstGeom>
          <a:noFill/>
          <a:ln w="12700">
            <a:solidFill>
              <a:srgbClr val="2C3B48"/>
            </a:solidFill>
            <a:prstDash val="solid"/>
          </a:ln>
        </p:spPr>
      </p:sp>
      <p:sp>
        <p:nvSpPr>
          <p:cNvPr id="4" name="Text 2"/>
          <p:cNvSpPr/>
          <p:nvPr/>
        </p:nvSpPr>
        <p:spPr>
          <a:xfrm>
            <a:off x="812800" y="1541760"/>
            <a:ext cx="3401060" cy="32762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C9B08A"/>
                </a:solidFill>
                <a:latin typeface="Arial" pitchFamily="34" charset="0"/>
                <a:ea typeface="Arial" pitchFamily="34" charset="-122"/>
                <a:cs typeface="Arial" pitchFamily="34" charset="-120"/>
              </a:rPr>
              <a:t>Know the path</a:t>
            </a:r>
            <a:endParaRPr lang="en-US" sz="1700" dirty="0"/>
          </a:p>
        </p:txBody>
      </p:sp>
      <p:sp>
        <p:nvSpPr>
          <p:cNvPr id="5" name="Text 3"/>
          <p:cNvSpPr/>
          <p:nvPr/>
        </p:nvSpPr>
        <p:spPr>
          <a:xfrm>
            <a:off x="4343400" y="1541760"/>
            <a:ext cx="2409919" cy="3276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F4F3EF"/>
                </a:solidFill>
                <a:latin typeface="Arial" pitchFamily="34" charset="0"/>
                <a:ea typeface="Arial" pitchFamily="34" charset="-122"/>
                <a:cs typeface="Arial" pitchFamily="34" charset="-120"/>
              </a:rPr>
              <a:t>Where is this file, really?</a:t>
            </a:r>
            <a:endParaRPr lang="en-US" sz="1700" dirty="0"/>
          </a:p>
        </p:txBody>
      </p:sp>
      <p:sp>
        <p:nvSpPr>
          <p:cNvPr id="6" name="Shape 4"/>
          <p:cNvSpPr/>
          <p:nvPr/>
        </p:nvSpPr>
        <p:spPr>
          <a:xfrm>
            <a:off x="812800" y="2470051"/>
            <a:ext cx="10566400" cy="0"/>
          </a:xfrm>
          <a:prstGeom prst="line">
            <a:avLst/>
          </a:prstGeom>
          <a:noFill/>
          <a:ln w="12700">
            <a:solidFill>
              <a:srgbClr val="2C3B48"/>
            </a:solidFill>
            <a:prstDash val="solid"/>
          </a:ln>
        </p:spPr>
      </p:sp>
      <p:sp>
        <p:nvSpPr>
          <p:cNvPr id="7" name="Text 5"/>
          <p:cNvSpPr/>
          <p:nvPr/>
        </p:nvSpPr>
        <p:spPr>
          <a:xfrm>
            <a:off x="812800" y="2059880"/>
            <a:ext cx="3401060" cy="32762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C9B08A"/>
                </a:solidFill>
                <a:latin typeface="Arial" pitchFamily="34" charset="0"/>
                <a:ea typeface="Arial" pitchFamily="34" charset="-122"/>
                <a:cs typeface="Arial" pitchFamily="34" charset="-120"/>
              </a:rPr>
              <a:t>Save As, then work</a:t>
            </a:r>
            <a:endParaRPr lang="en-US" sz="1700" dirty="0"/>
          </a:p>
        </p:txBody>
      </p:sp>
      <p:sp>
        <p:nvSpPr>
          <p:cNvPr id="8" name="Text 6"/>
          <p:cNvSpPr/>
          <p:nvPr/>
        </p:nvSpPr>
        <p:spPr>
          <a:xfrm>
            <a:off x="4343400" y="2059880"/>
            <a:ext cx="2793611" cy="3276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F4F3EF"/>
                </a:solidFill>
                <a:latin typeface="Arial" pitchFamily="34" charset="0"/>
                <a:ea typeface="Arial" pitchFamily="34" charset="-122"/>
                <a:cs typeface="Arial" pitchFamily="34" charset="-120"/>
              </a:rPr>
              <a:t>Never edit out of Downloads</a:t>
            </a:r>
            <a:endParaRPr lang="en-US" sz="1700" dirty="0"/>
          </a:p>
        </p:txBody>
      </p:sp>
      <p:sp>
        <p:nvSpPr>
          <p:cNvPr id="9" name="Shape 7"/>
          <p:cNvSpPr/>
          <p:nvPr/>
        </p:nvSpPr>
        <p:spPr>
          <a:xfrm>
            <a:off x="812800" y="2988171"/>
            <a:ext cx="10566400" cy="0"/>
          </a:xfrm>
          <a:prstGeom prst="line">
            <a:avLst/>
          </a:prstGeom>
          <a:noFill/>
          <a:ln w="12700">
            <a:solidFill>
              <a:srgbClr val="2C3B48"/>
            </a:solidFill>
            <a:prstDash val="solid"/>
          </a:ln>
        </p:spPr>
      </p:sp>
      <p:sp>
        <p:nvSpPr>
          <p:cNvPr id="10" name="Text 8"/>
          <p:cNvSpPr/>
          <p:nvPr/>
        </p:nvSpPr>
        <p:spPr>
          <a:xfrm>
            <a:off x="812800" y="2578001"/>
            <a:ext cx="3401060" cy="32762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C9B08A"/>
                </a:solidFill>
                <a:latin typeface="Arial" pitchFamily="34" charset="0"/>
                <a:ea typeface="Arial" pitchFamily="34" charset="-122"/>
                <a:cs typeface="Arial" pitchFamily="34" charset="-120"/>
              </a:rPr>
              <a:t>Shift+Delete and USBs</a:t>
            </a:r>
            <a:endParaRPr lang="en-US" sz="1700" dirty="0"/>
          </a:p>
        </p:txBody>
      </p:sp>
      <p:sp>
        <p:nvSpPr>
          <p:cNvPr id="11" name="Text 9"/>
          <p:cNvSpPr/>
          <p:nvPr/>
        </p:nvSpPr>
        <p:spPr>
          <a:xfrm>
            <a:off x="4343400" y="2578001"/>
            <a:ext cx="3448836" cy="3276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F4F3EF"/>
                </a:solidFill>
                <a:latin typeface="Arial" pitchFamily="34" charset="0"/>
                <a:ea typeface="Arial" pitchFamily="34" charset="-122"/>
                <a:cs typeface="Arial" pitchFamily="34" charset="-120"/>
              </a:rPr>
              <a:t>No Recycle Bin, no second chance</a:t>
            </a:r>
            <a:endParaRPr lang="en-US" sz="1700" dirty="0"/>
          </a:p>
        </p:txBody>
      </p:sp>
      <p:sp>
        <p:nvSpPr>
          <p:cNvPr id="12" name="Shape 10"/>
          <p:cNvSpPr/>
          <p:nvPr/>
        </p:nvSpPr>
        <p:spPr>
          <a:xfrm>
            <a:off x="812800" y="3506291"/>
            <a:ext cx="10566400" cy="0"/>
          </a:xfrm>
          <a:prstGeom prst="line">
            <a:avLst/>
          </a:prstGeom>
          <a:noFill/>
          <a:ln w="12700">
            <a:solidFill>
              <a:srgbClr val="2C3B48"/>
            </a:solidFill>
            <a:prstDash val="solid"/>
          </a:ln>
        </p:spPr>
      </p:sp>
      <p:sp>
        <p:nvSpPr>
          <p:cNvPr id="13" name="Text 11"/>
          <p:cNvSpPr/>
          <p:nvPr/>
        </p:nvSpPr>
        <p:spPr>
          <a:xfrm>
            <a:off x="812800" y="3096121"/>
            <a:ext cx="3401060" cy="32762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C9B08A"/>
                </a:solidFill>
                <a:latin typeface="Arial" pitchFamily="34" charset="0"/>
                <a:ea typeface="Arial" pitchFamily="34" charset="-122"/>
                <a:cs typeface="Arial" pitchFamily="34" charset="-120"/>
              </a:rPr>
              <a:t>Link or invitation</a:t>
            </a:r>
            <a:endParaRPr lang="en-US" sz="1700" dirty="0"/>
          </a:p>
        </p:txBody>
      </p:sp>
      <p:sp>
        <p:nvSpPr>
          <p:cNvPr id="14" name="Text 12"/>
          <p:cNvSpPr/>
          <p:nvPr/>
        </p:nvSpPr>
        <p:spPr>
          <a:xfrm>
            <a:off x="4343400" y="3096121"/>
            <a:ext cx="3473568" cy="3276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F4F3EF"/>
                </a:solidFill>
                <a:latin typeface="Arial" pitchFamily="34" charset="0"/>
                <a:ea typeface="Arial" pitchFamily="34" charset="-122"/>
                <a:cs typeface="Arial" pitchFamily="34" charset="-120"/>
              </a:rPr>
              <a:t>Decide who can reach a shared file</a:t>
            </a:r>
            <a:endParaRPr lang="en-US" sz="1700" dirty="0"/>
          </a:p>
        </p:txBody>
      </p:sp>
      <p:sp>
        <p:nvSpPr>
          <p:cNvPr id="15" name="Shape 13"/>
          <p:cNvSpPr/>
          <p:nvPr/>
        </p:nvSpPr>
        <p:spPr>
          <a:xfrm>
            <a:off x="812800" y="4024412"/>
            <a:ext cx="10566400" cy="0"/>
          </a:xfrm>
          <a:prstGeom prst="line">
            <a:avLst/>
          </a:prstGeom>
          <a:noFill/>
          <a:ln w="12700">
            <a:solidFill>
              <a:srgbClr val="2C3B48"/>
            </a:solidFill>
            <a:prstDash val="solid"/>
          </a:ln>
        </p:spPr>
      </p:sp>
      <p:sp>
        <p:nvSpPr>
          <p:cNvPr id="16" name="Text 14"/>
          <p:cNvSpPr/>
          <p:nvPr/>
        </p:nvSpPr>
        <p:spPr>
          <a:xfrm>
            <a:off x="812800" y="3614241"/>
            <a:ext cx="3401060" cy="32762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C9B08A"/>
                </a:solidFill>
                <a:latin typeface="Arial" pitchFamily="34" charset="0"/>
                <a:ea typeface="Arial" pitchFamily="34" charset="-122"/>
                <a:cs typeface="Arial" pitchFamily="34" charset="-120"/>
              </a:rPr>
              <a:t>Assume permanent</a:t>
            </a:r>
            <a:endParaRPr lang="en-US" sz="1700" dirty="0"/>
          </a:p>
        </p:txBody>
      </p:sp>
      <p:sp>
        <p:nvSpPr>
          <p:cNvPr id="17" name="Text 15"/>
          <p:cNvSpPr/>
          <p:nvPr/>
        </p:nvSpPr>
        <p:spPr>
          <a:xfrm>
            <a:off x="4343400" y="3614241"/>
            <a:ext cx="3869166" cy="3276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F4F3EF"/>
                </a:solidFill>
                <a:latin typeface="Arial" pitchFamily="34" charset="0"/>
                <a:ea typeface="Arial" pitchFamily="34" charset="-122"/>
                <a:cs typeface="Arial" pitchFamily="34" charset="-120"/>
              </a:rPr>
              <a:t>Posts, photos, and DMs outlive the app</a:t>
            </a: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Files_Footprints_and_You</dc:title>
  <dc:subject>PptxGenJS Presentation</dc:subject>
  <dc:creator>PptxGenJS</dc:creator>
  <cp:lastModifiedBy>PptxGenJS</cp:lastModifiedBy>
  <cp:revision>1</cp:revision>
  <dcterms:created xsi:type="dcterms:W3CDTF">2026-09-23T19:52:19Z</dcterms:created>
  <dcterms:modified xsi:type="dcterms:W3CDTF">2026-09-23T19:52:19Z</dcterms:modified>
</cp:coreProperties>
</file>